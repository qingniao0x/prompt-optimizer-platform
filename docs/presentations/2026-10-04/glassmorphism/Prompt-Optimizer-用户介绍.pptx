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embeddedFontLst>
    <p:embeddedFont>
      <p:font typeface="Noto Sans SC" pitchFamily="34" charset="-122"/>
      <p:regular r:id="rId100"/>
      <p:bold r:id="rId101"/>
    </p:embeddedFont>
    <p:embeddedFont>
      <p:font typeface="Noto Sans SC Medium" pitchFamily="34" charset="-122"/>
      <p:regular r:id="rId102"/>
    </p:embeddedFont>
    <p:embeddedFont>
      <p:font typeface="Noto Serif SC" pitchFamily="34" charset="-122"/>
      <p:bold r:id="rId10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?>
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notesMaster" Target="notesMasters/notesMaster1.xml" /><Relationship Id="rId20" Type="http://schemas.openxmlformats.org/officeDocument/2006/relationships/presProps" Target="presProps.xml" /><Relationship Id="rId21" Type="http://schemas.openxmlformats.org/officeDocument/2006/relationships/viewProps" Target="viewProps.xml" /><Relationship Id="rId22" Type="http://schemas.openxmlformats.org/officeDocument/2006/relationships/theme" Target="theme/theme1.xml" /><Relationship Id="rId23" Type="http://schemas.openxmlformats.org/officeDocument/2006/relationships/tableStyles" Target="tableStyles.xml" /><Relationship Id="rId100" Type="http://schemas.openxmlformats.org/officeDocument/2006/relationships/font" Target="fonts/NotoSansSC-400.fntdata" /><Relationship Id="rId101" Type="http://schemas.openxmlformats.org/officeDocument/2006/relationships/font" Target="fonts/NotoSansSC-700.fntdata" /><Relationship Id="rId102" Type="http://schemas.openxmlformats.org/officeDocument/2006/relationships/font" Target="fonts/NotoSansSC-500.fntdata" /><Relationship Id="rId103" Type="http://schemas.openxmlformats.org/officeDocument/2006/relationships/font" Target="fonts/NotoSerifSC-900.fntdata" 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ns2="http://schemas.microsoft.com/office/powerpoint/2010/main" xmlns:p="http://schemas.openxmlformats.org/presentationml/2006/main" xmlns:po="urn:prompt-optimizer-platform:presentation:design-notes:v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4777FA47-1B4A-47DB-91B9-FED87D1A1DA4}">
      <po:masterNotes>母版设计备注 / MASTER DESIGN NOTES
交付主题：浅蓝 Glassmorphism（整册统一）；16:9，13.333 × 7.5 in。
浅色：背景 #e8f0fb → #f7faff → #eef3fd；蓝 #4d6bfe；紫 #8a5cf6（仅与蓝渐变）；标题 #1c2541；正文 #3a4763 / #5b6b8c；弱化 #6b7a99 / #8a97b5 / #98a4c0；绿 #0e9f6e；橙 #c2690a；信息蓝 #1d5fd6；粉 #c2256f，语义底色为 10% 不透明。
深色备选（本册未使用）：背景 #0b1120；标题 #e9eef8；正文 #a9b6cf；弱化 #8797b5；蓝 #6b85ff；绿 #34d399；橙 #fbbf24；信息蓝 #60a5fa；粉 #f472b6；卡片 rgba(18,24,44,0.5)，白边 14% 不透明。
卡片：白色 38% 透明，白边 1pt / 15% 透明，外圆角约 0.13in；内卡白色 50% 透明、0.09in。阴影 #465aa0 / 16% 不透明，模糊 40pt、偏移 16pt、90°。
色球：#c3d6fb / #dcd0fb / #c9e8f6；45–48% 透明；柔化边缘 65pt；位于内容底层，每页不超过两个。
字体：Noto Serif SC 900（静态 Black 字重）；Noto Sans SC 400/500/700；Consolas 数字参数。标题 44/32pt；正文 14pt，行距 1.8；卡片 12pt，行距 1.7；卡题 15pt；标签 11pt，字距约 2pt；参数 10–12pt。
所有文字和图形原生可编辑；仅第 12 页的真实界面截图使用 PNG。正文不作为整页图像。</po:masterNotes>
    </p:ext>
  </p:extLst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 页｜让想法更清晰，让 AI 更好理解
封面 / 导览 / 结尾
建议时长：45 秒
核心文案
个人开发者项目
MVP 本地联调与内部试用
把需求与材料，整理成可审阅、可复制的优化提示词。
演讲备注
大家好，这是我个人开发的 Prompt Optimizer Platform。很多时候，我们知道自己想做什么，却还没有把目标、背景和限制说完整，就把任务交给了 AI。这个平台把需求整理这一步放在前面，帮助我们形成一份可以检查和修改的优化提示词。今天介绍的是 MVP 本地联调与内部试用版本。我会带大家看清它的价值、实际操作过程，以及目前的能力边界。
演示动作建议
展示封面，直接说明个人开发者身份与当前阶段；不加入公司标识、客户名单、商业认证或上线规模。
视觉与版式
左对齐封面；两行 44pt 衬线渐变标题；右侧叠放可编辑的原始想法与清晰任务玻璃卡片；右上淡蓝色球。
事实依据（核对日期 2026-10-04）
README.md
定位：项目简介、核心能力、Plan Mode 增强方法、项目定位与边界
说明：面向人群、产品路径和 MVP 本地联调与内部试用定位。
AGENTS.md
定位：项目上下文、执行与完成、业务数据删除约束
说明：个人项目的协作边界、只生成提示词及逻辑删除约束。
材料属性：宣传讲解材料；人工案例不是客户成果，不将测试结果表述为商业效果。</a:t>
            </a:r>
            <a:endParaRPr lang="en-US" dirty="0"/>
          </a:p>
          <a:p>
            <a:r>
              <a:rPr lang="zh-CN" sz="1200"/>
              <a:t/>
            </a:r>
          </a:p>
          <a:p>
            <a:r>
              <a:rPr lang="zh-CN" sz="1200"/>
              <a:t>母版设计备注 / MASTER DESIGN NOTES</a:t>
            </a:r>
          </a:p>
          <a:p>
            <a:r>
              <a:rPr lang="zh-CN" sz="1200"/>
              <a:t>交付主题：浅蓝 Glassmorphism（整册统一）；16:9，13.333 × 7.5 in。</a:t>
            </a:r>
          </a:p>
          <a:p>
            <a:r>
              <a:rPr lang="zh-CN" sz="1200"/>
              <a:t>浅色：背景 #e8f0fb → #f7faff → #eef3fd；蓝 #4d6bfe；紫 #8a5cf6（仅与蓝渐变）；标题 #1c2541；正文 #3a4763 / #5b6b8c；弱化 #6b7a99 / #8a97b5 / #98a4c0；绿 #0e9f6e；橙 #c2690a；信息蓝 #1d5fd6；粉 #c2256f，语义底色为 10% 不透明。</a:t>
            </a:r>
          </a:p>
          <a:p>
            <a:r>
              <a:rPr lang="zh-CN" sz="1200"/>
              <a:t>深色备选（本册未使用）：背景 #0b1120；标题 #e9eef8；正文 #a9b6cf；弱化 #8797b5；蓝 #6b85ff；绿 #34d399；橙 #fbbf24；信息蓝 #60a5fa；粉 #f472b6；卡片 rgba(18,24,44,0.5)，白边 14% 不透明。</a:t>
            </a:r>
          </a:p>
          <a:p>
            <a:r>
              <a:rPr lang="zh-CN" sz="1200"/>
              <a:t>卡片：白色 38% 透明，白边 1pt / 15% 透明，外圆角约 0.13in；内卡白色 50% 透明、0.09in。阴影 #465aa0 / 16% 不透明，模糊 40pt、偏移 16pt、90°。</a:t>
            </a:r>
          </a:p>
          <a:p>
            <a:r>
              <a:rPr lang="zh-CN" sz="1200"/>
              <a:t>色球：#c3d6fb / #dcd0fb / #c9e8f6；45–48% 透明；柔化边缘 65pt；位于内容底层，每页不超过两个。</a:t>
            </a:r>
          </a:p>
          <a:p>
            <a:r>
              <a:rPr lang="zh-CN" sz="1200"/>
              <a:t>字体：Noto Serif SC 900（静态 Black 字重）；Noto Sans SC 400/500/700；Consolas 数字参数。标题 44/32pt；正文 14pt，行距 1.8；卡片 12pt，行距 1.7；卡题 15pt；标签 11pt，字距约 2pt；参数 10–12pt。</a:t>
            </a:r>
          </a:p>
          <a:p>
            <a:r>
              <a:rPr lang="zh-CN" sz="1200"/>
              <a:t>所有文字和图形原生可编辑；仅第 12 页的真实界面截图使用 PNG。正文不作为整页图像。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2 页｜从一个想法，走到一份清晰任务
封面 / 导览 / 结尾
建议时长：30 秒
核心文案
项目简介与产品定位
用户痛点与业务价值
目标用户与典型场景
一键增强与结构化输出
Plan Mode：先确认，再生成
项目上下文与多技术栈支持
工作台体验与案例演示
技术架构与关键实现
安全、隐私与能力边界
演讲备注
这次介绍围绕九个章节展开。前面先回答适合谁、解决什么问题，中间重点演示一键增强、Plan 确认和项目上下文，后面用两张图说明这些设计如何帮助用户，最后明确安全和能力边界。所有案例都会标注为示意样例，便于大家理解操作，不作为真实客户成果。
演示动作建议
概览九章；HTML 可点击章节跳转。技术章节明确为一张架构图和一张请求流程图，不增加未来规划章节。
视觉与版式
三列分组目录，每列三章；九章序号使用品牌蓝与等宽字体；玻璃大容器统一留白。
事实依据（核对日期 2026-10-04）
README.md
定位：项目简介、核心能力、Plan Mode 增强方法、项目定位与边界
说明：面向人群、产品路径和 MVP 本地联调与内部试用定位。
C:/Users/Administrator/Desktop/promptoptimizer-ppt-prompt.md
定位：一至八：视觉规范与验收清单
说明：浅蓝 Glassmorphism、字体、色值、卡片、页码和可编辑性。附录产品信息按当前实现修正。
材料属性：宣传讲解材料；人工案例不是客户成果，不将测试结果表述为商业效果。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3 页｜先整理需求，再交给 AI
章节 1：项目简介与产品定位
建议时长：60 秒
核心文案
输入：原始提示词 + 按需提供的材料
增强：补足表达、组织约束、保留待确认信息
交付：用户审阅、编辑、复制优化提示词
后续任务由用户选择的模型或工具执行。
演讲备注
它的定位很直接：你输入一句自然语言，也可以带上项目代码、资料或背景说明。平台围绕这些依据，把要做什么、交付什么和必须遵守什么整理出来。输出是一份优化提示词，你仍然可以审阅和编辑。写文章、分析数据或修改代码，发生在你选择的下游模型或工具中。本平台不会自动执行命令、提交代码、发送邮件或部署系统，这也是整个产品设计的边界。
演示动作建议
用“根据这些材料写活动预告”说明输入，再指向右侧优化提示词。口头强调本次交付物是一份任务说明。
视觉与版式
左侧三条价值说明；右侧 4:3 蓝紫渐变容器内用原生卡片表示想法、材料和优化提示词；底部边界提示。
事实依据（核对日期 2026-10-04）
README.md
定位：项目简介、核心能力、Plan Mode 增强方法、项目定位与边界
说明：面向人群、产品路径和 MVP 本地联调与内部试用定位。
CONTEXT.md
定位：领域术语与权限红线
说明：统一原始提示词、优化提示词、项目上下文、工作区和租户等术语。
apps/web/src/pages/PromptWorkbenchPage.vue
定位：beginEnhancement、runPlannedEnhancement、runDirectEnhancement、generateFinalPrompt、prepareContextTransmission、workbench-grid
说明：直接增强/Plan 分支、上下文发送确认与三栏工作台。
材料属性：宣传讲解材料；人工案例不是客户成果，不将测试结果表述为商业效果。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4 页｜很多返工，始于没有说清楚
章节 2：用户痛点与业务价值
建议时长：65 秒
核心文案
目标模糊 → 明确对象、交付与完成条件
背景缺席 → 用本次材料补充依据
边界遗漏 → 显式保留限制与待确认事项
价值方向：减少重复解释，便于发现偏差和复用任务说明。
演讲备注
一句“帮我做一下”背后，往往藏着受众、范围、依据和交付形式等决定。目标模糊时，模型容易猜错方向；缺少材料时，我们需要反复补背景；限制没有说出时，结果看似完整却不能使用。平台尝试把这些问题提前暴露出来，让任务说明更容易核对和复用。这是产品的价值方向，实际能省多少时间、减少多少返工或 Token，需要真实使用证据，不能拿结构校验或测试样例换算成承诺。
演示动作建议
邀请听众回忆一个反复修改的 AI 任务，指出当时遗漏的是目标、背景还是边界；不展示虚构效率百分比。
视觉与版式
三列痛点玻璃卡片；橙色痛点标签和蓝色改善方向一一对应；下方一条价值说明，不使用虚构数据图表。
事实依据（核对日期 2026-10-04）
README.md
定位：项目简介、核心能力、Plan Mode 增强方法、项目定位与边界
说明：面向人群、产品路径和 MVP 本地联调与内部试用定位。
材料属性：宣传讲解材料；人工案例不是客户成果，不将测试结果表述为商业效果。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5 页｜同一工作台，适配不同任务
章节 3：目标用户与典型场景
建议时长：65 秒
核心文案
开发：功能、排错、重构与测试要求
写作：受众、渠道、语气、篇幅与事实
学习与研究：范围、来源、方法与未决条件
办公：已确认决议、负责人、期限与交付格式
这些场景共享工作台；没有为每个领域提供专用编辑器。
演讲备注
开发者可以用它整理现有项目的功能或排错要求。文案创作者可以明确受众、语气和必须保留的事实。学生、教师和研究人员可以整理学习计划或分析需求，区分研究方案、数据字典和实际数据。办公人员则可以明确纪要或行动清单应包含什么。这里介绍的是同一套工作台可以组织的提示词场景，不代表每个领域都有专用工具，也不代表所有专业任务已经完成质量验收。
演示动作建议
选择最贴近听众的一类任务作为后续主线。四张场景卡上的输入均标注“示意样例”，不暗示真实客户使用。
视觉与版式
四张等宽玻璃卡片，每卡一个原生图标、一个人群场景和一句人工示例；底部共用工作台说明。
事实依据（核对日期 2026-10-04）
README.md
定位：项目简介、核心能力、Plan Mode 增强方法、项目定位与边界
说明：面向人群、产品路径和 MVP 本地联调与内部试用定位。
services/api/src/main/java/com/promptoptimizer/enhancement/service/impl/OptimizationResultAssembler.java
定位：BACKGROUND/TASK/OUTPUT/CONSTRAINTS、ACCEPTANCE、includeExamples、executionPrerequisites
说明：四要素必需；验收标准当前补齐；示例按开关；未决条件进入正文。
材料属性：宣传讲解材料；人工案例不是客户成果，不将测试结果表述为商业效果。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6 页｜一句需求，一键开始增强
章节 4：一键增强与结构化输出
建议时长：65 秒
核心文案
写下原始提示词，按需添加背景说明或材料
点击“直接增强提示词”，等待生成
审阅事实与限制，再编辑、复制或再次增强
再次增强使用当前结果作为新输入。
演讲备注
如果目标已经明确，可以使用默认的直接增强。写下原始提示词，按需添加材料，然后点击按钮。平台仍然会分析上下文、处理安全规则、组织输出并检查结构，不会因为省略问答就跳过这些步骤。生成后不要急着发送，先检查事实、范围和限制。结果可以编辑、复制，也可以再次增强。再次增强会把当前结果作为新输入，并遵循当前 Plan 开关；它不是自动证明上一次结果已经正确。
演示动作建议
关闭 Plan，输入写作示意需求，点击“直接增强提示词”。真实环境生成需提前确认模型可用；现场不稳定时使用截图和预备样例，并说明是示意。
视觉与版式
左侧简明三步；右侧 4:3 渐变容器内展示原始提示词卡片、增强按钮和输出预览；固定“示意样例”标签。
事实依据（核对日期 2026-10-04）
README.md
定位：项目简介、核心能力、Plan Mode 增强方法、项目定位与边界
说明：面向人群、产品路径和 MVP 本地联调与内部试用定位。
apps/web/src/pages/PromptWorkbenchPage.vue
定位：beginEnhancement、runPlannedEnhancement、runDirectEnhancement、generateFinalPrompt、prepareContextTransmission、workbench-grid
说明：直接增强/Plan 分支、上下文发送确认与三栏工作台。
apps/web/src/components/prompt/ResultPanel.vue
定位：结果编辑、复制、再次增强与复制并打开
说明：结果使用方式；打开目标平台后由用户自行粘贴发送。
services/api/src/main/java/com/promptoptimizer/enhancement/service/impl/DefaultEnhancementOrchestrator.java
定位：optimize
说明：模型解析、安全处理、上下文分析、任务策略及结果生成编排。
材料属性：宣传讲解材料；人工案例不是客户成果，不将测试结果表述为商业效果。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7 页｜结构稳定，内容随任务变化
章节 4：一键增强与结构化输出
建议时长：70 秒
核心文案
背景：依据什么材料与已有事实
任务：具体要完成什么
输出：需要怎样的交付形式
约束：必须保留的限制与边界
当前补齐验收标准；示例默认关闭；有未决信息时保留待确认事项。
演讲备注
当前 MVP 的输出以背景、任务、输出、约束这四要素为核心。灵活性主要体现在：后端按需求选择通用、研究分析或软件任务策略，让内容重点随任务改变。验收标准目前会补齐，尚不能承诺按场景完全省略。示例由开关决定，默认关闭；存在未决信息时会保留待确认事项，执行前必须确认的条件也会进入可复制正文。所以我们既不会把它宣传成完全固定的六段模板，也不会把自然文本任意切换等规划写成已经开放。
演示动作建议
指向四要素，逐项核对示意结果。关闭示例开关时不演示“示例必有”；说明“按需”具体适用于哪些部分。
视觉与版式
四列内层卡片置于大玻璃面板；下方三条状态带分别说明验收标准、可选示例、待确认事项。
事实依据（核对日期 2026-10-04）
README.md
定位：项目简介、核心能力、Plan Mode 增强方法、项目定位与边界
说明：面向人群、产品路径和 MVP 本地联调与内部试用定位。
services/api/src/main/java/com/promptoptimizer/enhancement/service/impl/OptimizationResultAssembler.java
定位：BACKGROUND/TASK/OUTPUT/CONSTRAINTS、ACCEPTANCE、includeExamples、executionPrerequisites
说明：四要素必需；验收标准当前补齐；示例按开关；未决条件进入正文。
services/api/src/main/java/com/promptoptimizer/enhancement/service/impl/DefaultEnhancementOrchestrator.java
定位：optimize
说明：模型解析、安全处理、上下文分析、任务策略及结果生成编排。
docs/待办事项.md
定位：发布验收、动态输出、OCR、团队协作、额度计费及插件
说明：已实现记录和未完成事项分开；未开放事项仅在边界页单独标注。
材料属性：宣传讲解材料；人工案例不是客户成果，不将测试结果表述为商业效果。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8 页｜关键决定，先确认再生成
章节 5：Plan Mode：先确认，再生成
建议时长：80 秒
核心文案
开启 Plan：首次展示说明，偏好保存在当前浏览器
阅读已有信息：准备摘要与相关证据
按需提问：最多 8 题，支持单选、多选和自由回答
确认后生成：有效答案提交后，再检索并生成最终提示词
没有需要提问的内容时，直接进入最终生成。
演讲备注
Plan 默认关闭，适合那些关键决定会改变结果的任务。首次开启会有说明，选择保存在当前浏览器。平台先结合原始需求和已有材料，识别还需要你决定什么，最多提出八个问题，支持单选、多选或自由回答。所有题目有有效答案后，你主动点击生成最终提示词。随后平台会把确认答案带回上下文检索，并由服务端核对计划和本次需求的对应关系。如果已经没有需要提问的信息，就直接进入最终生成。
演示动作建议
打开 Plan，展示第一次开启说明，再发起增强。现场强调问题数量和内容随需求变化，不保证每次出现相同问题。
视觉与版式
横向五节点流程：开启、看材料、提问、用户确认、最终生成；下方用信息卡说明无问题分支与二次检索。
事实依据（核对日期 2026-10-04）
apps/web/src/composables/usePlanModePreference.ts
定位：PLAN_MODE_STORAGE_KEY、parsePlanModePreference
说明：Plan 默认关闭、首次介绍和当前浏览器偏好保存。
docs/12-内置Plan-Mode交互与接口.md
定位：工作台交互、问题确认、最终生成和过期处理
说明：Plan 完整流程、最多 8 题及计划与最终生成的契约。
apps/web/src/components/prompt/PlanQuestionDialog.vue
定位：答案校验、自定义回答、题目导航、生成最终提示词
说明：单选、多选、自由回答及逐题确认交互。
apps/web/src/pages/PromptWorkbenchPage.vue
定位：beginEnhancement、runPlannedEnhancement、runDirectEnhancement、generateFinalPrompt、prepareContextTransmission、workbench-grid
说明：直接增强/Plan 分支、上下文发送确认与三栏工作台。
services/api/src/main/java/com/promptoptimizer/enhancement/service/impl/PlanningSessionServiceImpl.java
定位：confirm、计划所属身份与绑定校验
说明：服务端核对计划、确认答案、原始需求及身份范围。
材料属性：宣传讲解材料；人工案例不是客户成果，不将测试结果表述为商业效果。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9 页｜答案由你确认，未知仍然保留
章节 5：Plan Mode：先确认，再生成
建议时长：80 秒
核心文案
可回看并修改答案；允许自定义时，用自定义回答替换已选项
未作选择，不把推荐项当成已确认事实
“暂不确定”和新发现的冲突，仍可保留为待确认条件
计划过期时重新生成问题，并提示复核可恢复草稿。
演讲备注
以工单升级为例，能否越级升级会影响后面的规则。界面可能提供候选项，但推荐项不会自动成为你的选择。你可以逐题回答、返回修改，也可以在允许时填写自定义回答，自定义内容会替换已选项。选择暂不确定，含义仍然是不确定；完成问答也不等于所有冲突都已消失。如果计划过期，会重新生成问题，并让你核对可以恢复的答案草稿后再确认。这些设计让重要决定保持可追溯。当前仍在验证重复追问、推荐范围和确认后的信息合并，使用时需要核对，不能把模型的建议误当成自己的决定。
演示动作建议
用“是否允许越级升级？”示意问题，演示先选择“仅逐级”，再返回修改。候选项和答案都是人工样例，不承诺真实模型逐字生成。
视觉与版式
左侧三条确认规则；右侧玻璃问答卡展示主动选择、返回与生成按钮；突出“示意样例”与“已选”。
事实依据（核对日期 2026-10-04）
apps/web/src/components/prompt/PlanQuestionDialog.vue
定位：答案校验、自定义回答、题目导航、生成最终提示词
说明：单选、多选、自由回答及逐题确认交互。
docs/12-内置Plan-Mode交互与接口.md
定位：工作台交互、问题确认、最终生成和过期处理
说明：Plan 完整流程、最多 8 题及计划与最终生成的契约。
services/api/src/main/java/com/promptoptimizer/enhancement/service/impl/PlanningSessionServiceImpl.java
定位：confirm、计划所属身份与绑定校验
说明：服务端核对计划、确认答案、原始需求及身份范围。
apps/web/src/pages/PromptWorkbenchPage.vue
定位：beginEnhancement、runPlannedEnhancement、runDirectEnhancement、generateFinalPrompt、prepareContextTransmission、workbench-grid
说明：直接增强/Plan 分支、上下文发送确认与三栏工作台。
services/api/src/main/java/com/promptoptimizer/enhancement/service/impl/OptimizationResultAssembler.java
定位：BACKGROUND/TASK/OUTPUT/CONSTRAINTS、ACCEPTANCE、includeExamples、executionPrerequisites
说明：四要素必需；验收标准当前补齐；示例按开关；未决条件进入正文。
docs/待办事项.md
定位：发布验收、动态输出、OCR、团队协作、额度计费及插件
说明：已实现记录和未完成事项分开；未开放事项仅在边界页单独标注。
材料属性：宣传讲解材料；人工案例不是客户成果，不将测试结果表述为商业效果。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10 页｜把已有材料，变成本次依据
章节 6：项目上下文与多技术栈支持
建议时长：75 秒
核心文案
代码项目：浏览器本地索引，检索有限相关片段
文档材料：提取文本，建立后端临时索引
生成前：按任务选择片段，并展示覆盖情况与警告
选择了文件，不等于模型读到了全部内容。
演讲备注
项目上下文不仅指代码，也可以是项目说明、草稿、报告或表格。代码项目由浏览器针对主动选择的目录建立本地索引，再检索与任务相关的有限片段。需要服务端解析的文档会先上传，提取文本并建立临时索引。生成时模型接收的是选出的内容，而不是承诺理解整套材料。解析失败、截断或覆盖不足要看分析报告。默认的代码发送确认会提示片段范围和目标，但该设置可调整；文档上传还有自己的确认步骤。本地索引也不等于使用真实模型时全程离线。
演示动作建议
用脱敏小项目或少量活动资料展示添加上下文、分析报告和发送确认；指出警告区域，不用文件总数证明已全部理解。
视觉与版式
两条材料处理路径的左右对照玻璃卡片，汇入底部“本次相关片段”；每条路径配一个原生文件图标。
事实依据（核对日期 2026-10-04）
docs/06-上下文分析设计.md
定位：浏览器本地索引、临时文档索引、检索和覆盖报告
说明：上下文两类处理路径、预算与数据流。
services/api/src/main/java/com/promptoptimizer/context/service/impl/DefaultContextAnalyzer.java
定位：技术栈、依赖、目录、片段与分析警告
说明：多技术栈识别与项目上下文摘要的实现。
apps/web/src/composables/useProjectIndex.ts
定位：本地索引、相关片段检索、页面选择与清理
说明：浏览器只处理用户选择的材料；索引与送模片段是不同范围。
apps/web/src/pages/PromptWorkbenchPage.vue
定位：beginEnhancement、runPlannedEnhancement、runDirectEnhancement、generateFinalPrompt、prepareContextTransmission、workbench-grid
说明：直接增强/Plan 分支、上下文发送确认与三栏工作台。
services/api/src/main/java/com/promptoptimizer/context/service/impl/StreamingDocumentExtractor.java
定位：extract、PDF 文本层、Word/Excel/PowerPoint 文本提取、图片元信息
说明：文档提取边界；不把图片语义和扫描 PDF OCR 写成已实现。
材料属性：宣传讲解材料；人工案例不是客户成果，不将测试结果表述为商业效果。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11 页｜多种技术栈，多种资料入口
章节 6：项目上下文与多技术栈支持
建议时长：65 秒
核心文案
技术栈线索：Java / Spring Boot、Node.js / Vue / React、Python、Go、Rust 等
工程依据：依赖、目录结构、配置和相关代码片段
文档文本：PDF 文字层、Word、Excel、PowerPoint
当前不提供图片语义识别、扫描版 PDF OCR 或自动代码执行。
演讲备注
对于开发任务，平台会结合目录、配置、依赖和代码内容识别技术栈线索，例如 Java 和 Spring Boot、Node.js 以及 Vue 或 React，也包括 Python、Go、Rust 等。这有助于把任务放回现有工程的语境，但不等于平台能编译、运行或正确理解每个框架的全部细节。对于普通资料，当前支持 PDF 文字层以及 Office 文档文本提取。图片语义和扫描版 PDF 的 OCR 仍未开放。兼容性和覆盖范围需要查看实际解析报告，不能把上传成功当成完整理解。
演示动作建议
展示一个包含 pom.xml 或 package.json 的小项目分析结果，再展示脱敏文档的提取报告；不要现场承诺未验证格式。
视觉与版式
三张特性卡片：技术栈线索、工程依据、文档文本；底部橙色边界条；技术栈仅做文本标签，不用供应商品牌 Logo。
事实依据（核对日期 2026-10-04）
README.md
定位：项目简介、核心能力、Plan Mode 增强方法、项目定位与边界
说明：面向人群、产品路径和 MVP 本地联调与内部试用定位。
services/api/src/main/java/com/promptoptimizer/context/service/impl/DefaultContextAnalyzer.java
定位：技术栈、依赖、目录、片段与分析警告
说明：多技术栈识别与项目上下文摘要的实现。
services/api/src/main/java/com/promptoptimizer/context/service/impl/StreamingDocumentExtractor.java
定位：extract、PDF 文本层、Word/Excel/PowerPoint 文本提取、图片元信息
说明：文档提取边界；不把图片语义和扫描 PDF OCR 写成已实现。
docs/06-上下文分析设计.md
定位：浏览器本地索引、临时文档索引、检索和覆盖报告
说明：上下文两类处理路径、预算与数据流。
docs/待办事项.md
定位：发布验收、动态输出、OCR、团队协作、额度计费及插件
说明：已实现记录和未完成事项分开；未开放事项仅在边界页单独标注。
材料属性：宣传讲解材料；人工案例不是客户成果，不将测试结果表述为商业效果。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12 页｜三栏工作台，一眼看清输入与结果
章节 7：工作台体验与案例演示
建议时长：75 秒
核心文案
左：按需准备项目上下文
中：输入原始提示词，选择直接增强或 Plan
右：审阅、编辑与复制优化提示词
演讲备注
这张图来自当前项目的实际工作台，数据是专门编写的示意数据，接口已隔离，并没有调用真实模型。左侧准备上下文，中间保留原始提示词和增强方式，右侧查看结果。这样的布局方便把原来的意图和生成后的要求对照着看。最终生成会保存优化记录，计划提问阶段不会生成优化记录；你在页面上的编辑也不会覆盖原历史记录。截图中的 Mock 和耗时字段只属于示意，不代表真实模型的性能。
演示动作建议
按左、中、右顺序指引。若切换真实界面，先使用隔离或脱敏数据；不要把截图中模拟的结果当成真实模型验收证据。
视觉与版式
中央实际三栏截图，宽度约 78%；单个淡蓝色球；截图下方三条可编辑文字标注；截图为唯一的产品图像素材。
事实依据（核对日期 2026-10-04）
apps/web/src/pages/PromptWorkbenchPage.vue
定位：beginEnhancement、runPlannedEnhancement、runDirectEnhancement、generateFinalPrompt、prepareContextTransmission、workbench-grid
说明：直接增强/Plan 分支、上下文发送确认与三栏工作台。
apps/web/src/components/prompt/ResultPanel.vue
定位：结果编辑、复制、再次增强与复制并打开
说明：结果使用方式；打开目标平台后由用户自行粘贴发送。
README.md
定位：项目简介、核心能力、Plan Mode 增强方法、项目定位与边界
说明：面向人群、产品路径和 MVP 本地联调与内部试用定位。
apps/web/e2e/prompt-copy.spec.ts
定位：openCopyWorkbench、OptimizationResult 测试夹具
说明：实际工作台截图使用隔离的人工示意数据，不代表模型输出质量或耗时。
材料属性：宣传讲解材料；人工案例不是客户成果，不将测试结果表述为商业效果。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 页｜把一句写作需求，变成可核对的任务
章节 7：工作台体验与案例演示
建议时长：85 秒
核心文案
原始提示词：根据活动资料，写面向初学者的公众号预告，约 300 字，语气亲切。
背景：依据活动资料，面向初学者。
任务与输出：提炼主题与参与方式，形成约 300 字公众号预告，语气亲切。
约束：只使用可核实事实，不编造时间、费用或讲师经历。
发布前确认：资料缺少报名方式时，先补充并核对。
演讲备注
这个示意案例从一句写作需求开始。增强的价值并不是把一句话机械地扩写，而是让材料、受众、篇幅、语气和事实边界都能被检查。比如活动资料没有报名方式，不能为了让预告看起来完整就编一个链接。示意结果会把它保留为发布前确认条件。现场还可以切换到开发、研究或办公任务，使用相同思路。这里展示的是结构节选，实际生成还会带上验收标准和平台强制约束，最终文章仍由你选择的下游模型生成。
演示动作建议
逐项对照原始要求有没有保留；指出缺失报名方式仍待确认。完成审阅后只演示复制，不自动打开后发送给外部模型。
视觉与版式
左右对照玻璃卡片：左侧原始需求和相关材料标签，右侧按四个核对点排列的任务说明；蓝色箭头指示增强；显著示意标识。
事实依据（核对日期 2026-10-04）
README.md
定位：项目简介、核心能力、Plan Mode 增强方法、项目定位与边界
说明：面向人群、产品路径和 MVP 本地联调与内部试用定位。
services/api/src/main/java/com/promptoptimizer/enhancement/service/impl/OptimizationResultAssembler.java
定位：BACKGROUND/TASK/OUTPUT/CONSTRAINTS、ACCEPTANCE、includeExamples、executionPrerequisites
说明：四要素必需；验收标准当前补齐；示例按开关；未决条件进入正文。
apps/web/src/components/prompt/ResultPanel.vue
定位：结果编辑、复制、再次增强与复制并打开
说明：结果使用方式；打开目标平台后由用户自行粘贴发送。
材料属性：宣传讲解材料；人工案例不是客户成果，不将测试结果表述为商业效果。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14 页｜技术各司其职，让过程更可控
章节 8：技术架构与关键实现
建议时长：85 秒
核心文案
浏览器：Vue 3 / TypeScript / Element Plus / Pinia / Worker
后端：Java 21 + Spring Boot 3 模块化单体
enhancement 增强编排；context 上下文；policy 权限红线
provider 模型调用；history 优化记录；identity 身份范围
PostgreSQL 16 保存业务记录；Redis 7 承载短时状态与并发控制
模型密钥在服务端；真实模型通过已配置的兼容路由访问。
演讲备注
用户看到的是工作台，背后按职责分层。浏览器管理输入与结果，并用 Worker 等机制处理本地索引，减少重活集中在界面线程。后端采用 Java 21 和 Spring Boot 3 的模块化单体：增强编排、上下文、安全规则、模型接入、记录和身份各有职责。PostgreSQL 保存业务记录，Redis 支持短时状态和并发控制。模型密钥保留在服务端。对用户而言，这些设计提供了清晰的输入范围、可回看的结果和统一的模型选择入口；它们不等于已经完成生产容量或可用性承诺。
演示动作建议
沿浏览器、后端、存储和供应商逐层解释，每层只说一项用户收益。补充 Vite /api 代理仅是开发环境连接方式。
视觉与版式
唯一架构图：浏览器上层、六模块后端中层、PostgreSQL/Redis 下层，右侧独立供应商节点；原生可编辑框、连线、标签。
事实依据（核对日期 2026-10-04）
apps/web/package.json
定位：dependencies、devDependencies
说明：Vue、Vite、TypeScript、Element Plus、Pinia 等实际依赖。
services/api/pom.xml
定位：Java 21、Spring Boot、数据库及 Redis 依赖
说明：后端技术栈。
apps/web/vite.config.ts
定位：server.proxy /api
说明：仅开发环境的 Vite /api 代理到本机后端 9000。
docs/02-系统架构.md
定位：模块化单体、前后端、数据库与缓存
说明：系统分层及工程架构；部署拓扑以当前代码/配置为准。
services/api/src/main/java/com/promptoptimizer/enhancement/service/impl/DefaultEnhancementOrchestrator.java
定位：optimize
说明：模型解析、安全处理、上下文分析、任务策略及结果生成编排。
services/api/src/main/java/com/promptoptimizer/provider/infrastructure/concurrency/ModelConcurrencyLimiter.java
定位：acquireGlobal、acquireUser、租约释放与存储不可用处理
说明：模型调用有界并发；不推导生产吞吐或 SLA。
README.md
定位：项目简介、核心能力、Plan Mode 增强方法、项目定位与边界
说明：面向人群、产品路径和 MVP 本地联调与内部试用定位。
材料属性：宣传讲解材料；人工案例不是客户成果，不将测试结果表述为商业效果。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15 页｜一次增强，经过哪些检查
章节 8：技术架构与关键实现
建议时长：85 秒
核心文案
1 选择材料与输入需求：检索本次相关片段
2 校验身份与规则：核对计划绑定、安全过滤、分析上下文
3 调用模型：按任务策略组织请求，有界并发与超时控制
4 校验并保存结果：检查结构与明确规则，返回优化提示词
Plan 开启时，最终生成前增加“准备摘要 → 提问 → 用户确认 → 再检索”。
演讲备注
点击增强后，浏览器先选出与本次任务有关的内容。请求到达后端，会结合服务端身份和规则进行校验；使用 Plan 时，还要核对本次计划与答案。接下来组织上下文和任务策略，再调用配置的模型。调用有并发和超时等保护，避免无限占用资源。返回结果要经过结构与明确规则检查，并保存最终优化记录，之后才交给用户审阅。Plan 在最终生成前多了一段问答和二次检索。整个流程仍可能遇到上游失败或语义偏差，技术检查不能替代用户核对事实，也不能证明每个领域的结果都正确。
演示动作建议
先沿上方直接增强主线讲解，再指向下方 Plan 增补分支。请求经过 /api；开发时由 Vite 代理至后端 9000。不展示真实密钥或请求正文日志。
视觉与版式
唯一技术请求流程图：四个横向节点和三段箭头；下方单独的 Plan 前置分支；每节点配一条用户收益说明。
事实依据（核对日期 2026-10-04）
apps/web/src/pages/PromptWorkbenchPage.vue
定位：beginEnhancement、runPlannedEnhancement、runDirectEnhancement、generateFinalPrompt、prepareContextTransmission、workbench-grid
说明：直接增强/Plan 分支、上下文发送确认与三栏工作台。
services/api/src/main/java/com/promptoptimizer/enhancement/service/impl/DefaultEnhancementOrchestrator.java
定位：optimize
说明：模型解析、安全处理、上下文分析、任务策略及结果生成编排。
services/api/src/main/java/com/promptoptimizer/enhancement/service/impl/OptimizationResultAssembler.java
定位：BACKGROUND/TASK/OUTPUT/CONSTRAINTS、ACCEPTANCE、includeExamples、executionPrerequisites
说明：四要素必需；验收标准当前补齐；示例按开关；未决条件进入正文。
services/api/src/main/java/com/promptoptimizer/enhancement/service/impl/PlanningSessionServiceImpl.java
定位：confirm、计划所属身份与绑定校验
说明：服务端核对计划、确认答案、原始需求及身份范围。
services/api/src/main/java/com/promptoptimizer/provider/infrastructure/concurrency/ModelConcurrencyLimiter.java
定位：acquireGlobal、acquireUser、租约释放与存储不可用处理
说明：模型调用有界并发；不推导生产吞吐或 SLA。
apps/web/vite.config.ts
定位：server.proxy /api
说明：仅开发环境的 Vite /api 代理到本机后端 9000。
README.md
定位：项目简介、核心能力、Plan Mode 增强方法、项目定位与边界
说明：面向人群、产品路径和 MVP 本地联调与内部试用定位。
材料属性：宣传讲解材料；人工案例不是客户成果，不将测试结果表述为商业效果。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16 页｜知道能做什么，也知道边界在哪里
章节 9：安全、隐私与能力边界
建议时长：95 秒
核心文案
已实现：默认路径保护、可识别敏感内容检测或脱敏、服务端身份与范围校验
数据流：用户主动提供材料；真实模型所需内容经后端发送给供应商
当前边界：只生成提示词，不自动执行代码、发送消息或部署
尚未开放／规划：扫描 PDF OCR、图片语义识别、插件、团队协作与额度计费
待验收：拟开放模型真实业务验收、双人评审和目标部署验收。
演讲备注
平台的安全原则是尽量明确材料范围和任务边界。当前有默认受保护路径、可识别敏感内容的检测或脱敏，以及由服务端确定的身份、租户和工作区范围。业务删除遵循逻辑删除，不能把删除记录解释为即刻物理擦除所有数据。使用真实模型时，必要内容会经后端发送给供应商，所以仍应主动移除凭据和无关个人信息。安全过滤并非保证识别所有秘密或风险。右侧列出的 OCR、图片语义、插件、团队和额度计费尚未开放。当前仍是内部试用，正式上线需要额外验收。
演示动作建议
按“已实现保护 / 使用边界 / 尚未开放”三栏讲解。明确没有专用行业认证，不声称零泄露、全自动正确或生产级 SLA。
视觉与版式
三张玻璃卡片用绿、蓝、橙三种语义标签区分已实现、当前边界、尚未开放；底部单列上线验收条件；无路线图时间承诺。
事实依据（核对日期 2026-10-04）
AGENTS.md
定位：项目上下文、执行与完成、业务数据删除约束
说明：个人项目的协作边界、只生成提示词及逻辑删除约束。
README.md
定位：项目简介、核心能力、Plan Mode 增强方法、项目定位与边界
说明：面向人群、产品路径和 MVP 本地联调与内部试用定位。
docs/08-安全隐私与商业化基础.md
定位：数据最小化、密钥保护、身份与工作区范围
说明：安全设计意图；认证当前按实际 Session Cookie/CSRF 表述。
apps/web/src/pages/PromptWorkbenchPage.vue
定位：beginEnhancement、runPlannedEnhancement、runDirectEnhancement、generateFinalPrompt、prepareContextTransmission、workbench-grid
说明：直接增强/Plan 分支、上下文发送确认与三栏工作台。
services/api/src/main/java/com/promptoptimizer/enhancement/service/impl/PlanningSessionServiceImpl.java
定位：confirm、计划所属身份与绑定校验
说明：服务端核对计划、确认答案、原始需求及身份范围。
services/api/src/main/java/com/promptoptimizer/context/service/impl/StreamingDocumentExtractor.java
定位：extract、PDF 文本层、Word/Excel/PowerPoint 文本提取、图片元信息
说明：文档提取边界；不把图片语义和扫描 PDF OCR 写成已实现。
docs/待办事项.md
定位：发布验收、动态输出、OCR、团队协作、额度计费及插件
说明：已实现记录和未完成事项分开；未开放事项仅在边界页单独标注。
材料属性：宣传讲解材料；人工案例不是客户成果，不将测试结果表述为商业效果。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17 页｜带一个真实需求，试一次更清晰的表达
封面 / 导览 / 结尾
建议时长：45 秒
核心文案
从一个脱敏的小任务开始
反馈：哪里更清楚，哪里仍需要解释？
个人开发者项目 · MVP 本地联调与内部试用
Copyright © 2026 QingNiao0x
演讲备注
如果你愿意尝试，可以先选一个脱敏的小任务：一段活动资料、一个课程计划，或者一项范围明确的开发需求。看增强后的任务说明，是否保留了你的目标，是否把缺少的决定找了出来，是否更方便交给模型使用。比起笼统评价效果，我更希望收到具体反馈：哪里说清楚了，哪里仍然需要解释。项目目前由我个人开发，处于本地联调与内部试用阶段。谢谢大家，我们可以从一个任务开始讨论。
演示动作建议
邀请现场提出一个不含敏感数据的小需求；按钮文案为试用建议，不伪造公开网址、联系方式或二维码。HTML 按钮可回到案例页。项目按 PolyForm Noncommercial 1.0.0 发布，商业使用须取得作者书面许可。
视觉与版式
居中 CTA，44pt 两行渐变衬线标题，蓝色胶囊按钮；右下淡青色球；保留真实版权和试用阶段。
事实依据（核对日期 2026-10-04）
README.md
定位：项目简介、核心能力、Plan Mode 增强方法、项目定位与边界
说明：面向人群、产品路径和 MVP 本地联调与内部试用定位。
AGENTS.md
定位：项目上下文、执行与完成、业务数据删除约束
说明：个人项目的协作边界、只生成提示词及逻辑删除约束。
材料属性：宣传讲解材料；人工案例不是客户成果，不将测试结果表述为商业效果。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LASS_LIGHT">
    <p:bg>
      <p:bgPr>
        <a:solidFill>
          <a:srgbClr val="E8F0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po="urn:prompt-optimizer-platform:presentation:design-notes:v1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4777FA47-1B4A-47DB-91B9-FED87D1A1DA4}">
      <po:masterNotes>母版设计备注 / MASTER DESIGN NOTES
交付主题：浅蓝 Glassmorphism（整册统一）；16:9，13.333 × 7.5 in。
浅色：背景 #e8f0fb → #f7faff → #eef3fd；蓝 #4d6bfe；紫 #8a5cf6（仅与蓝渐变）；标题 #1c2541；正文 #3a4763 / #5b6b8c；弱化 #6b7a99 / #8a97b5 / #98a4c0；绿 #0e9f6e；橙 #c2690a；信息蓝 #1d5fd6；粉 #c2256f，语义底色为 10% 不透明。
深色备选（本册未使用）：背景 #0b1120；标题 #e9eef8；正文 #a9b6cf；弱化 #8797b5；蓝 #6b85ff；绿 #34d399；橙 #fbbf24；信息蓝 #60a5fa；粉 #f472b6；卡片 rgba(18,24,44,0.5)，白边 14% 不透明。
卡片：白色 38% 透明，白边 1pt / 15% 透明，外圆角约 0.13in；内卡白色 50% 透明、0.09in。阴影 #465aa0 / 16% 不透明，模糊 40pt、偏移 16pt、90°。
色球：#c3d6fb / #dcd0fb / #c9e8f6；45–48% 透明；柔化边缘 65pt；位于内容底层，每页不超过两个。
字体：Noto Serif SC 900（静态 Black 字重）；Noto Sans SC 400/500/700；Consolas 数字参数。标题 44/32pt；正文 14pt，行距 1.8；卡片 12pt，行距 1.7；卡题 15pt；标签 11pt，字距约 2pt；参数 10–12pt。
所有文字和图形原生可编辑；仅第 12 页的真实界面截图使用 PNG。正文不作为整页图像。</po:masterNotes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6.xml"/><Relationship Id="rId5" Type="http://schemas.openxmlformats.org/officeDocument/2006/relationships/slide" Target="slide8.xml"/><Relationship Id="rId6" Type="http://schemas.openxmlformats.org/officeDocument/2006/relationships/slide" Target="slide10.xml"/><Relationship Id="rId7" Type="http://schemas.openxmlformats.org/officeDocument/2006/relationships/slide" Target="slide12.xml"/><Relationship Id="rId8" Type="http://schemas.openxmlformats.org/officeDocument/2006/relationships/slide" Target="slide14.xml"/><Relationship Id="rId9" Type="http://schemas.openxmlformats.org/officeDocument/2006/relationships/slide" Target="slide16.xml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>
  <p:cSld name="Slide 1">
    <p:bg>
      <p:bgPr>
        <a:gradFill rotWithShape="1">
          <a:gsLst>
            <a:gs pos="0">
              <a:srgbClr val="E8F0FB"/>
            </a:gs>
            <a:gs pos="50000">
              <a:srgbClr val="F7FAFF"/>
            </a:gs>
            <a:gs pos="100000">
              <a:srgbClr val="EEF3FD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lob-top"/>
          <p:cNvSpPr/>
          <p:nvPr/>
        </p:nvSpPr>
        <p:spPr>
          <a:xfrm>
            <a:off x="7772400" y="-1234440"/>
            <a:ext cx="5120640" cy="4389120"/>
          </a:xfrm>
          <a:prstGeom prst="ellipse">
            <a:avLst/>
          </a:prstGeom>
          <a:gradFill rotWithShape="1">
            <a:gsLst>
              <a:gs pos="0">
                <a:srgbClr val="C3D6FB">
                  <a:alpha val="55000"/>
                </a:srgbClr>
              </a:gs>
              <a:gs pos="50000">
                <a:srgbClr val="C3D6FB">
                  <a:alpha val="16000"/>
                </a:srgbClr>
              </a:gs>
              <a:gs pos="100000">
                <a:srgbClr val="C3D6F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12700">
            <a:solidFill>
              <a:srgbClr val="333333">
                <a:alpha val="0"/>
              </a:srgbClr>
            </a:solidFill>
            <a:prstDash val="solid"/>
          </a:ln>
          <a:effectLst>
            <a:softEdge rad="825500"/>
          </a:effectLst>
        </p:spPr>
      </p:sp>
      <p:sp>
        <p:nvSpPr>
          <p:cNvPr id="4" name="shape-1"/>
          <p:cNvSpPr/>
          <p:nvPr/>
        </p:nvSpPr>
        <p:spPr>
          <a:xfrm>
            <a:off x="457200" y="393192"/>
            <a:ext cx="3035808" cy="320040"/>
          </a:xfrm>
          <a:prstGeom prst="roundRect">
            <a:avLst>
              <a:gd name="adj" fmla="val 48571"/>
            </a:avLst>
          </a:prstGeom>
          <a:solidFill>
            <a:srgbClr val="4D6BFE">
              <a:alpha val="10000"/>
            </a:srgbClr>
          </a:solidFill>
          <a:ln w="12700">
            <a:solidFill>
              <a:srgbClr val="4D6BFE">
                <a:alpha val="28000"/>
              </a:srgbClr>
            </a:solidFill>
            <a:prstDash val="solid"/>
          </a:ln>
        </p:spPr>
      </p:sp>
      <p:sp>
        <p:nvSpPr>
          <p:cNvPr id="5" name="shape-2"/>
          <p:cNvSpPr txBox="1"/>
          <p:nvPr/>
        </p:nvSpPr>
        <p:spPr>
          <a:xfrm>
            <a:off x="548640" y="425196"/>
            <a:ext cx="28529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spc="200" kern="0" dirty="0">
                <a:solidFill>
                  <a:srgbClr val="4D6BFE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SLIDE 01 · INTRODUCTION</a:t>
            </a:r>
            <a:endParaRPr lang="zh-CN" sz="1100" dirty="0"/>
          </a:p>
        </p:txBody>
      </p:sp>
      <p:sp>
        <p:nvSpPr>
          <p:cNvPr id="6" name="shape-3"/>
          <p:cNvSpPr txBox="1"/>
          <p:nvPr/>
        </p:nvSpPr>
        <p:spPr>
          <a:xfrm>
            <a:off x="10771632" y="6391656"/>
            <a:ext cx="9418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17</a:t>
            </a:r>
            <a:endParaRPr lang="zh-CN" sz="1200" dirty="0"/>
          </a:p>
        </p:txBody>
      </p:sp>
      <p:sp>
        <p:nvSpPr>
          <p:cNvPr id="7" name="shape-4"/>
          <p:cNvSpPr txBox="1"/>
          <p:nvPr/>
        </p:nvSpPr>
        <p:spPr>
          <a:xfrm>
            <a:off x="594360" y="1499616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zh-CN" altLang="en-US" sz="4400" b="1" dirty="0">
                <a:gradFill rotWithShape="1">
                  <a:gsLst>
                    <a:gs pos="0">
                      <a:srgbClr val="4D6BFE"/>
                    </a:gs>
                    <a:gs pos="100000">
                      <a:srgbClr val="8A5CF6"/>
                    </a:gs>
                  </a:gsLst>
                  <a:lin ang="0" scaled="1"/>
                </a:gra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让想法更清晰</a:t>
            </a:r>
            <a:endParaRPr lang="zh-CN" sz="44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zh-CN" altLang="en-US" sz="4400" b="1" dirty="0">
                <a:gradFill rotWithShape="1">
                  <a:gsLst>
                    <a:gs pos="0">
                      <a:srgbClr val="4D6BFE"/>
                    </a:gs>
                    <a:gs pos="100000">
                      <a:srgbClr val="8A5CF6"/>
                    </a:gs>
                  </a:gsLst>
                  <a:lin ang="0" scaled="1"/>
                </a:gra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让 AI 更好理解</a:t>
            </a:r>
            <a:endParaRPr lang="zh-CN" sz="4400" dirty="0"/>
          </a:p>
        </p:txBody>
      </p:sp>
      <p:sp>
        <p:nvSpPr>
          <p:cNvPr id="8" name="shape-5"/>
          <p:cNvSpPr txBox="1"/>
          <p:nvPr/>
        </p:nvSpPr>
        <p:spPr>
          <a:xfrm>
            <a:off x="621792" y="3429000"/>
            <a:ext cx="8961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18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Prompt Optimizer Platform</a:t>
            </a:r>
            <a:endParaRPr lang="zh-CN" sz="1800" dirty="0"/>
          </a:p>
        </p:txBody>
      </p:sp>
      <p:sp>
        <p:nvSpPr>
          <p:cNvPr id="9" name="shape-6"/>
          <p:cNvSpPr txBox="1"/>
          <p:nvPr/>
        </p:nvSpPr>
        <p:spPr>
          <a:xfrm>
            <a:off x="621792" y="4041648"/>
            <a:ext cx="8183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70000"/>
              </a:lnSpc>
              <a:buNone/>
            </a:pPr>
            <a:r>
              <a:rPr lang="zh-CN" altLang="en-US" sz="18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把需求与材料，整理成可审阅、可复制的优化提示词。</a:t>
            </a:r>
            <a:endParaRPr lang="zh-CN" sz="1800" dirty="0"/>
          </a:p>
        </p:txBody>
      </p:sp>
      <p:sp>
        <p:nvSpPr>
          <p:cNvPr id="10" name="shape-7"/>
          <p:cNvSpPr/>
          <p:nvPr/>
        </p:nvSpPr>
        <p:spPr>
          <a:xfrm>
            <a:off x="640080" y="5230368"/>
            <a:ext cx="1975104" cy="320040"/>
          </a:xfrm>
          <a:prstGeom prst="roundRect">
            <a:avLst>
              <a:gd name="adj" fmla="val 48571"/>
            </a:avLst>
          </a:prstGeom>
          <a:solidFill>
            <a:srgbClr val="1D5FD6">
              <a:alpha val="10000"/>
            </a:srgbClr>
          </a:solidFill>
          <a:ln w="12700">
            <a:solidFill>
              <a:srgbClr val="1D5FD6">
                <a:alpha val="28000"/>
              </a:srgbClr>
            </a:solidFill>
            <a:prstDash val="solid"/>
          </a:ln>
        </p:spPr>
      </p:sp>
      <p:sp>
        <p:nvSpPr>
          <p:cNvPr id="11" name="shape-8"/>
          <p:cNvSpPr txBox="1"/>
          <p:nvPr/>
        </p:nvSpPr>
        <p:spPr>
          <a:xfrm>
            <a:off x="731520" y="5262372"/>
            <a:ext cx="17922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dirty="0">
                <a:solidFill>
                  <a:srgbClr val="1D5FD6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个人开发者项目</a:t>
            </a:r>
            <a:endParaRPr lang="zh-CN" sz="1100" dirty="0"/>
          </a:p>
        </p:txBody>
      </p:sp>
      <p:sp>
        <p:nvSpPr>
          <p:cNvPr id="12" name="shape-9"/>
          <p:cNvSpPr txBox="1"/>
          <p:nvPr/>
        </p:nvSpPr>
        <p:spPr>
          <a:xfrm>
            <a:off x="640080" y="58064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4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MVP 本地联调与内部试用</a:t>
            </a:r>
            <a:endParaRPr lang="zh-CN" sz="1400" dirty="0"/>
          </a:p>
        </p:txBody>
      </p:sp>
      <p:sp>
        <p:nvSpPr>
          <p:cNvPr id="13" name="shape-10"/>
          <p:cNvSpPr/>
          <p:nvPr/>
        </p:nvSpPr>
        <p:spPr>
          <a:xfrm>
            <a:off x="9262872" y="1975104"/>
            <a:ext cx="2331720" cy="1024128"/>
          </a:xfrm>
          <a:prstGeom prst="roundRect">
            <a:avLst>
              <a:gd name="adj" fmla="val 11607"/>
            </a:avLst>
          </a:prstGeom>
          <a:solidFill>
            <a:srgbClr val="FFFFFF">
              <a:alpha val="5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14" name="shape-11"/>
          <p:cNvSpPr txBox="1"/>
          <p:nvPr/>
        </p:nvSpPr>
        <p:spPr>
          <a:xfrm>
            <a:off x="9473184" y="2212848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800" b="1" dirty="0">
                <a:solidFill>
                  <a:srgbClr val="5B6B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一个想法</a:t>
            </a:r>
            <a:endParaRPr lang="zh-CN" sz="1800" dirty="0"/>
          </a:p>
        </p:txBody>
      </p:sp>
      <p:sp>
        <p:nvSpPr>
          <p:cNvPr id="15" name="shape-12"/>
          <p:cNvSpPr/>
          <p:nvPr/>
        </p:nvSpPr>
        <p:spPr>
          <a:xfrm>
            <a:off x="10332720" y="3145536"/>
            <a:ext cx="0" cy="356616"/>
          </a:xfrm>
          <a:prstGeom prst="line">
            <a:avLst/>
          </a:prstGeom>
          <a:noFill/>
          <a:ln w="19050">
            <a:solidFill>
              <a:srgbClr val="4D6BFE"/>
            </a:solidFill>
            <a:prstDash val="solid"/>
            <a:tailEnd type="triangle"/>
          </a:ln>
        </p:spPr>
      </p:sp>
      <p:sp>
        <p:nvSpPr>
          <p:cNvPr id="16" name="shape-13"/>
          <p:cNvSpPr/>
          <p:nvPr/>
        </p:nvSpPr>
        <p:spPr>
          <a:xfrm>
            <a:off x="9125712" y="3675888"/>
            <a:ext cx="2478024" cy="1371600"/>
          </a:xfrm>
          <a:prstGeom prst="roundRect">
            <a:avLst>
              <a:gd name="adj" fmla="val 8667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17" name="shape-14"/>
          <p:cNvSpPr/>
          <p:nvPr/>
        </p:nvSpPr>
        <p:spPr>
          <a:xfrm>
            <a:off x="9345168" y="3904488"/>
            <a:ext cx="420624" cy="420624"/>
          </a:xfrm>
          <a:prstGeom prst="roundRect">
            <a:avLst>
              <a:gd name="adj" fmla="val 19565"/>
            </a:avLst>
          </a:prstGeom>
          <a:gradFill rotWithShape="1">
            <a:gsLst>
              <a:gs pos="0">
                <a:srgbClr val="4D6BFE"/>
              </a:gs>
              <a:gs pos="100000">
                <a:srgbClr val="8A5CF6"/>
              </a:gs>
            </a:gsLst>
            <a:lin ang="270000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-15"/>
          <p:cNvSpPr/>
          <p:nvPr/>
        </p:nvSpPr>
        <p:spPr>
          <a:xfrm>
            <a:off x="9454530" y="3971788"/>
            <a:ext cx="201900" cy="286024"/>
          </a:xfrm>
          <a:prstGeom prst="roundRect">
            <a:avLst>
              <a:gd name="adj" fmla="val 9058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-16"/>
          <p:cNvSpPr/>
          <p:nvPr/>
        </p:nvSpPr>
        <p:spPr>
          <a:xfrm>
            <a:off x="9500799" y="4055913"/>
            <a:ext cx="105156" cy="0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20" name="shape-17"/>
          <p:cNvSpPr/>
          <p:nvPr/>
        </p:nvSpPr>
        <p:spPr>
          <a:xfrm>
            <a:off x="9500799" y="4114800"/>
            <a:ext cx="105156" cy="0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21" name="shape-18"/>
          <p:cNvSpPr/>
          <p:nvPr/>
        </p:nvSpPr>
        <p:spPr>
          <a:xfrm>
            <a:off x="9500799" y="4173687"/>
            <a:ext cx="105156" cy="0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22" name="shape-19"/>
          <p:cNvSpPr txBox="1"/>
          <p:nvPr/>
        </p:nvSpPr>
        <p:spPr>
          <a:xfrm>
            <a:off x="9345168" y="4553712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800" b="1" dirty="0">
                <a:solidFill>
                  <a:srgbClr val="1C254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清晰任务</a:t>
            </a:r>
            <a:endParaRPr lang="zh-CN" sz="1800" dirty="0"/>
          </a:p>
        </p:txBody>
      </p:sp>
      <p:sp>
        <p:nvSpPr>
          <p:cNvPr id="23" name="shape-20"/>
          <p:cNvSpPr txBox="1"/>
          <p:nvPr/>
        </p:nvSpPr>
        <p:spPr>
          <a:xfrm>
            <a:off x="640080" y="64099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2026.10  /  17 SLIDES  /  16:9</a:t>
            </a:r>
            <a:endParaRPr lang="zh-CN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ns3="http://schemas.microsoft.com/office/drawing/2018/hyperlinkcolor" xmlns:p="http://schemas.openxmlformats.org/presentationml/2006/main" xmlns:r="http://schemas.openxmlformats.org/officeDocument/2006/relationships">
  <p:cSld name="Slide 2">
    <p:bg>
      <p:bgPr>
        <a:gradFill rotWithShape="1">
          <a:gsLst>
            <a:gs pos="0">
              <a:srgbClr val="E8F0FB"/>
            </a:gs>
            <a:gs pos="50000">
              <a:srgbClr val="F7FAFF"/>
            </a:gs>
            <a:gs pos="100000">
              <a:srgbClr val="EEF3FD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lob-top"/>
          <p:cNvSpPr/>
          <p:nvPr/>
        </p:nvSpPr>
        <p:spPr>
          <a:xfrm>
            <a:off x="7772400" y="-1234440"/>
            <a:ext cx="5120640" cy="4389120"/>
          </a:xfrm>
          <a:prstGeom prst="ellipse">
            <a:avLst/>
          </a:prstGeom>
          <a:gradFill rotWithShape="1">
            <a:gsLst>
              <a:gs pos="0">
                <a:srgbClr val="C3D6FB">
                  <a:alpha val="55000"/>
                </a:srgbClr>
              </a:gs>
              <a:gs pos="50000">
                <a:srgbClr val="C3D6FB">
                  <a:alpha val="16000"/>
                </a:srgbClr>
              </a:gs>
              <a:gs pos="100000">
                <a:srgbClr val="C3D6F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12700">
            <a:solidFill>
              <a:srgbClr val="333333">
                <a:alpha val="0"/>
              </a:srgbClr>
            </a:solidFill>
            <a:prstDash val="solid"/>
          </a:ln>
          <a:effectLst>
            <a:softEdge rad="825500"/>
          </a:effectLst>
        </p:spPr>
      </p:sp>
      <p:sp>
        <p:nvSpPr>
          <p:cNvPr id="4" name="blob-bottom"/>
          <p:cNvSpPr/>
          <p:nvPr/>
        </p:nvSpPr>
        <p:spPr>
          <a:xfrm>
            <a:off x="-1188720" y="4251960"/>
            <a:ext cx="4389120" cy="4023360"/>
          </a:xfrm>
          <a:prstGeom prst="ellipse">
            <a:avLst/>
          </a:prstGeom>
          <a:gradFill rotWithShape="1">
            <a:gsLst>
              <a:gs pos="0">
                <a:srgbClr val="C9E8F6">
                  <a:alpha val="55000"/>
                </a:srgbClr>
              </a:gs>
              <a:gs pos="50000">
                <a:srgbClr val="C9E8F6">
                  <a:alpha val="16000"/>
                </a:srgbClr>
              </a:gs>
              <a:gs pos="100000">
                <a:srgbClr val="C9E8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12700">
            <a:solidFill>
              <a:srgbClr val="333333">
                <a:alpha val="0"/>
              </a:srgbClr>
            </a:solidFill>
            <a:prstDash val="solid"/>
          </a:ln>
          <a:effectLst>
            <a:softEdge rad="825500"/>
          </a:effectLst>
        </p:spPr>
      </p:sp>
      <p:sp>
        <p:nvSpPr>
          <p:cNvPr id="5" name="shape-1"/>
          <p:cNvSpPr/>
          <p:nvPr/>
        </p:nvSpPr>
        <p:spPr>
          <a:xfrm>
            <a:off x="457200" y="393192"/>
            <a:ext cx="2606040" cy="320040"/>
          </a:xfrm>
          <a:prstGeom prst="roundRect">
            <a:avLst>
              <a:gd name="adj" fmla="val 48571"/>
            </a:avLst>
          </a:prstGeom>
          <a:solidFill>
            <a:srgbClr val="4D6BFE">
              <a:alpha val="10000"/>
            </a:srgbClr>
          </a:solidFill>
          <a:ln w="12700">
            <a:solidFill>
              <a:srgbClr val="4D6BFE">
                <a:alpha val="28000"/>
              </a:srgbClr>
            </a:solidFill>
            <a:prstDash val="solid"/>
          </a:ln>
        </p:spPr>
      </p:sp>
      <p:sp>
        <p:nvSpPr>
          <p:cNvPr id="6" name="shape-2"/>
          <p:cNvSpPr txBox="1"/>
          <p:nvPr/>
        </p:nvSpPr>
        <p:spPr>
          <a:xfrm>
            <a:off x="548640" y="425196"/>
            <a:ext cx="2423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spc="200" kern="0" dirty="0">
                <a:solidFill>
                  <a:srgbClr val="4D6BFE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SLIDE 02 · CONTENTS</a:t>
            </a:r>
            <a:endParaRPr lang="zh-CN" sz="1100" dirty="0"/>
          </a:p>
        </p:txBody>
      </p:sp>
      <p:sp>
        <p:nvSpPr>
          <p:cNvPr id="7" name="shape-3"/>
          <p:cNvSpPr txBox="1"/>
          <p:nvPr/>
        </p:nvSpPr>
        <p:spPr>
          <a:xfrm>
            <a:off x="10771632" y="6391656"/>
            <a:ext cx="9418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17</a:t>
            </a:r>
            <a:endParaRPr lang="zh-CN" sz="1200" dirty="0"/>
          </a:p>
        </p:txBody>
      </p:sp>
      <p:sp>
        <p:nvSpPr>
          <p:cNvPr id="8" name="shape-4"/>
          <p:cNvSpPr txBox="1"/>
          <p:nvPr/>
        </p:nvSpPr>
        <p:spPr>
          <a:xfrm>
            <a:off x="457200" y="978408"/>
            <a:ext cx="11173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zh-CN" altLang="en-US" sz="3200" b="1" dirty="0">
                <a:solidFill>
                  <a:srgbClr val="1C254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从一个想法，走到一份清晰任务</a:t>
            </a:r>
            <a:endParaRPr lang="zh-CN" sz="3200" dirty="0"/>
          </a:p>
        </p:txBody>
      </p:sp>
      <p:sp>
        <p:nvSpPr>
          <p:cNvPr id="9" name="shape-5"/>
          <p:cNvSpPr txBox="1"/>
          <p:nvPr/>
        </p:nvSpPr>
        <p:spPr>
          <a:xfrm>
            <a:off x="484632" y="1746504"/>
            <a:ext cx="110002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4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九个章节，沿着用户的使用路径展开。</a:t>
            </a:r>
            <a:endParaRPr lang="zh-CN" sz="1400" dirty="0"/>
          </a:p>
        </p:txBody>
      </p:sp>
      <p:sp>
        <p:nvSpPr>
          <p:cNvPr id="10" name="shape-6"/>
          <p:cNvSpPr txBox="1"/>
          <p:nvPr/>
        </p:nvSpPr>
        <p:spPr>
          <a:xfrm>
            <a:off x="475488" y="6419088"/>
            <a:ext cx="877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zh-CN" altLang="en-US" sz="10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 OPTIMIZER PLATFORM</a:t>
            </a:r>
            <a:endParaRPr lang="zh-CN" sz="1000" dirty="0"/>
          </a:p>
        </p:txBody>
      </p:sp>
      <p:sp>
        <p:nvSpPr>
          <p:cNvPr id="11" name="shape-7"/>
          <p:cNvSpPr/>
          <p:nvPr/>
        </p:nvSpPr>
        <p:spPr>
          <a:xfrm>
            <a:off x="502920" y="2441448"/>
            <a:ext cx="3456432" cy="3547872"/>
          </a:xfrm>
          <a:prstGeom prst="roundRect">
            <a:avLst>
              <a:gd name="adj" fmla="val 3439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12" name="shape-8"/>
          <p:cNvSpPr txBox="1"/>
          <p:nvPr/>
        </p:nvSpPr>
        <p:spPr>
          <a:xfrm>
            <a:off x="758952" y="272491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800" b="1" dirty="0">
                <a:solidFill>
                  <a:srgbClr val="1C254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理解价值</a:t>
            </a:r>
            <a:endParaRPr lang="zh-CN" sz="1800" dirty="0"/>
          </a:p>
        </p:txBody>
      </p:sp>
      <p:sp>
        <p:nvSpPr>
          <p:cNvPr id="13" name="shape-9"/>
          <p:cNvSpPr/>
          <p:nvPr/>
        </p:nvSpPr>
        <p:spPr>
          <a:xfrm>
            <a:off x="758952" y="3401568"/>
            <a:ext cx="329184" cy="329184"/>
          </a:xfrm>
          <a:prstGeom prst="ellipse">
            <a:avLst/>
          </a:prstGeom>
          <a:solidFill>
            <a:srgbClr val="4D6B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shape-10"/>
          <p:cNvSpPr txBox="1"/>
          <p:nvPr/>
        </p:nvSpPr>
        <p:spPr>
          <a:xfrm>
            <a:off x="758952" y="345643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zh-CN" sz="1200" dirty="0"/>
          </a:p>
        </p:txBody>
      </p:sp>
      <p:sp>
        <p:nvSpPr>
          <p:cNvPr id="15" name="shape-11">
            <a:hlinkClick r:id="rId1" tooltip="" action="ppaction://hlinksldjump"/>
          </p:cNvPr>
          <p:cNvSpPr txBox="1"/>
          <p:nvPr/>
        </p:nvSpPr>
        <p:spPr>
          <a:xfrm>
            <a:off x="1234440" y="3392424"/>
            <a:ext cx="2487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300" u="sng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  <a:hlinkClick r:id="rId1" action="ppaction://hlinksldjump" tooltip="">
                  <a:extLst>
                    <a:ext uri="{A12FA001-AC4F-418D-AE19-62706E023703}">
                      <ns3:hlinkClr val="tx"/>
                    </a:ext>
                  </a:extLst>
                </a:hlinkClick>
              </a:rPr>
              <a:t>项目简介与产品定位</a:t>
            </a:r>
            <a:endParaRPr lang="zh-CN" sz="1300" dirty="0"/>
          </a:p>
        </p:txBody>
      </p:sp>
      <p:sp>
        <p:nvSpPr>
          <p:cNvPr id="16" name="shape-12"/>
          <p:cNvSpPr/>
          <p:nvPr/>
        </p:nvSpPr>
        <p:spPr>
          <a:xfrm>
            <a:off x="758952" y="4160520"/>
            <a:ext cx="329184" cy="329184"/>
          </a:xfrm>
          <a:prstGeom prst="ellipse">
            <a:avLst/>
          </a:prstGeom>
          <a:solidFill>
            <a:srgbClr val="4D6B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shape-13"/>
          <p:cNvSpPr txBox="1"/>
          <p:nvPr/>
        </p:nvSpPr>
        <p:spPr>
          <a:xfrm>
            <a:off x="758952" y="42153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zh-CN" sz="1200" dirty="0"/>
          </a:p>
        </p:txBody>
      </p:sp>
      <p:sp>
        <p:nvSpPr>
          <p:cNvPr id="18" name="shape-14">
            <a:hlinkClick r:id="rId2" tooltip="" action="ppaction://hlinksldjump"/>
          </p:cNvPr>
          <p:cNvSpPr txBox="1"/>
          <p:nvPr/>
        </p:nvSpPr>
        <p:spPr>
          <a:xfrm>
            <a:off x="1234440" y="4151376"/>
            <a:ext cx="2487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300" u="sng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  <a:hlinkClick r:id="rId2" action="ppaction://hlinksldjump" tooltip="">
                  <a:extLst>
                    <a:ext uri="{A12FA001-AC4F-418D-AE19-62706E023703}">
                      <ns3:hlinkClr val="tx"/>
                    </a:ext>
                  </a:extLst>
                </a:hlinkClick>
              </a:rPr>
              <a:t>用户痛点与业务价值</a:t>
            </a:r>
            <a:endParaRPr lang="zh-CN" sz="1300" dirty="0"/>
          </a:p>
        </p:txBody>
      </p:sp>
      <p:sp>
        <p:nvSpPr>
          <p:cNvPr id="19" name="shape-15"/>
          <p:cNvSpPr/>
          <p:nvPr/>
        </p:nvSpPr>
        <p:spPr>
          <a:xfrm>
            <a:off x="758952" y="4919472"/>
            <a:ext cx="329184" cy="329184"/>
          </a:xfrm>
          <a:prstGeom prst="ellipse">
            <a:avLst/>
          </a:prstGeom>
          <a:solidFill>
            <a:srgbClr val="4D6B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shape-16"/>
          <p:cNvSpPr txBox="1"/>
          <p:nvPr/>
        </p:nvSpPr>
        <p:spPr>
          <a:xfrm>
            <a:off x="758952" y="497433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zh-CN" sz="1200" dirty="0"/>
          </a:p>
        </p:txBody>
      </p:sp>
      <p:sp>
        <p:nvSpPr>
          <p:cNvPr id="21" name="shape-17">
            <a:hlinkClick r:id="rId3" tooltip="" action="ppaction://hlinksldjump"/>
          </p:cNvPr>
          <p:cNvSpPr txBox="1"/>
          <p:nvPr/>
        </p:nvSpPr>
        <p:spPr>
          <a:xfrm>
            <a:off x="1234440" y="4910328"/>
            <a:ext cx="2487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300" u="sng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  <a:hlinkClick r:id="rId3" action="ppaction://hlinksldjump" tooltip="">
                  <a:extLst>
                    <a:ext uri="{A12FA001-AC4F-418D-AE19-62706E023703}">
                      <ns3:hlinkClr val="tx"/>
                    </a:ext>
                  </a:extLst>
                </a:hlinkClick>
              </a:rPr>
              <a:t>目标用户与典型场景</a:t>
            </a:r>
            <a:endParaRPr lang="zh-CN" sz="1300" dirty="0"/>
          </a:p>
        </p:txBody>
      </p:sp>
      <p:sp>
        <p:nvSpPr>
          <p:cNvPr id="22" name="shape-18"/>
          <p:cNvSpPr/>
          <p:nvPr/>
        </p:nvSpPr>
        <p:spPr>
          <a:xfrm>
            <a:off x="4370832" y="2441448"/>
            <a:ext cx="3456432" cy="3547872"/>
          </a:xfrm>
          <a:prstGeom prst="roundRect">
            <a:avLst>
              <a:gd name="adj" fmla="val 3439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23" name="shape-19"/>
          <p:cNvSpPr txBox="1"/>
          <p:nvPr/>
        </p:nvSpPr>
        <p:spPr>
          <a:xfrm>
            <a:off x="4626864" y="272491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800" b="1" dirty="0">
                <a:solidFill>
                  <a:srgbClr val="1C254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走进产品</a:t>
            </a:r>
            <a:endParaRPr lang="zh-CN" sz="1800" dirty="0"/>
          </a:p>
        </p:txBody>
      </p:sp>
      <p:sp>
        <p:nvSpPr>
          <p:cNvPr id="24" name="shape-20"/>
          <p:cNvSpPr/>
          <p:nvPr/>
        </p:nvSpPr>
        <p:spPr>
          <a:xfrm>
            <a:off x="4626864" y="3401568"/>
            <a:ext cx="329184" cy="329184"/>
          </a:xfrm>
          <a:prstGeom prst="ellipse">
            <a:avLst/>
          </a:prstGeom>
          <a:solidFill>
            <a:srgbClr val="4D6B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5" name="shape-21"/>
          <p:cNvSpPr txBox="1"/>
          <p:nvPr/>
        </p:nvSpPr>
        <p:spPr>
          <a:xfrm>
            <a:off x="4626864" y="345643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zh-CN" sz="1200" dirty="0"/>
          </a:p>
        </p:txBody>
      </p:sp>
      <p:sp>
        <p:nvSpPr>
          <p:cNvPr id="26" name="shape-22">
            <a:hlinkClick r:id="rId4" tooltip="" action="ppaction://hlinksldjump"/>
          </p:cNvPr>
          <p:cNvSpPr txBox="1"/>
          <p:nvPr/>
        </p:nvSpPr>
        <p:spPr>
          <a:xfrm>
            <a:off x="5102352" y="3392424"/>
            <a:ext cx="2487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300" u="sng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  <a:hlinkClick r:id="rId4" action="ppaction://hlinksldjump" tooltip="">
                  <a:extLst>
                    <a:ext uri="{A12FA001-AC4F-418D-AE19-62706E023703}">
                      <ns3:hlinkClr val="tx"/>
                    </a:ext>
                  </a:extLst>
                </a:hlinkClick>
              </a:rPr>
              <a:t>一键增强与结构化输出</a:t>
            </a:r>
            <a:endParaRPr lang="zh-CN" sz="1300" dirty="0"/>
          </a:p>
        </p:txBody>
      </p:sp>
      <p:sp>
        <p:nvSpPr>
          <p:cNvPr id="27" name="shape-23"/>
          <p:cNvSpPr/>
          <p:nvPr/>
        </p:nvSpPr>
        <p:spPr>
          <a:xfrm>
            <a:off x="4626864" y="4160520"/>
            <a:ext cx="329184" cy="329184"/>
          </a:xfrm>
          <a:prstGeom prst="ellipse">
            <a:avLst/>
          </a:prstGeom>
          <a:solidFill>
            <a:srgbClr val="4D6B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8" name="shape-24"/>
          <p:cNvSpPr txBox="1"/>
          <p:nvPr/>
        </p:nvSpPr>
        <p:spPr>
          <a:xfrm>
            <a:off x="4626864" y="42153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zh-CN" sz="1200" dirty="0"/>
          </a:p>
        </p:txBody>
      </p:sp>
      <p:sp>
        <p:nvSpPr>
          <p:cNvPr id="29" name="shape-25">
            <a:hlinkClick r:id="rId5" tooltip="" action="ppaction://hlinksldjump"/>
          </p:cNvPr>
          <p:cNvSpPr txBox="1"/>
          <p:nvPr/>
        </p:nvSpPr>
        <p:spPr>
          <a:xfrm>
            <a:off x="5102352" y="4151376"/>
            <a:ext cx="2487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300" u="sng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  <a:hlinkClick r:id="rId5" action="ppaction://hlinksldjump" tooltip="">
                  <a:extLst>
                    <a:ext uri="{A12FA001-AC4F-418D-AE19-62706E023703}">
                      <ns3:hlinkClr val="tx"/>
                    </a:ext>
                  </a:extLst>
                </a:hlinkClick>
              </a:rPr>
              <a:t>Plan Mode：先确认，再生成</a:t>
            </a:r>
            <a:endParaRPr lang="zh-CN" sz="1300" dirty="0"/>
          </a:p>
        </p:txBody>
      </p:sp>
      <p:sp>
        <p:nvSpPr>
          <p:cNvPr id="30" name="shape-26"/>
          <p:cNvSpPr/>
          <p:nvPr/>
        </p:nvSpPr>
        <p:spPr>
          <a:xfrm>
            <a:off x="4626864" y="4919472"/>
            <a:ext cx="329184" cy="329184"/>
          </a:xfrm>
          <a:prstGeom prst="ellipse">
            <a:avLst/>
          </a:prstGeom>
          <a:solidFill>
            <a:srgbClr val="4D6B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shape-27"/>
          <p:cNvSpPr txBox="1"/>
          <p:nvPr/>
        </p:nvSpPr>
        <p:spPr>
          <a:xfrm>
            <a:off x="4626864" y="497433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zh-CN" sz="1200" dirty="0"/>
          </a:p>
        </p:txBody>
      </p:sp>
      <p:sp>
        <p:nvSpPr>
          <p:cNvPr id="32" name="shape-28">
            <a:hlinkClick r:id="rId6" tooltip="" action="ppaction://hlinksldjump"/>
          </p:cNvPr>
          <p:cNvSpPr txBox="1"/>
          <p:nvPr/>
        </p:nvSpPr>
        <p:spPr>
          <a:xfrm>
            <a:off x="5102352" y="4910328"/>
            <a:ext cx="2487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300" u="sng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  <a:hlinkClick r:id="rId6" action="ppaction://hlinksldjump" tooltip="">
                  <a:extLst>
                    <a:ext uri="{A12FA001-AC4F-418D-AE19-62706E023703}">
                      <ns3:hlinkClr val="tx"/>
                    </a:ext>
                  </a:extLst>
                </a:hlinkClick>
              </a:rPr>
              <a:t>项目上下文与多技术栈支持</a:t>
            </a:r>
            <a:endParaRPr lang="zh-CN" sz="1300" dirty="0"/>
          </a:p>
        </p:txBody>
      </p:sp>
      <p:sp>
        <p:nvSpPr>
          <p:cNvPr id="33" name="shape-29"/>
          <p:cNvSpPr/>
          <p:nvPr/>
        </p:nvSpPr>
        <p:spPr>
          <a:xfrm>
            <a:off x="8238744" y="2441448"/>
            <a:ext cx="3456432" cy="3547872"/>
          </a:xfrm>
          <a:prstGeom prst="roundRect">
            <a:avLst>
              <a:gd name="adj" fmla="val 3439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34" name="shape-30"/>
          <p:cNvSpPr txBox="1"/>
          <p:nvPr/>
        </p:nvSpPr>
        <p:spPr>
          <a:xfrm>
            <a:off x="8494776" y="272491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800" b="1" dirty="0">
                <a:solidFill>
                  <a:srgbClr val="1C254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看清边界</a:t>
            </a:r>
            <a:endParaRPr lang="zh-CN" sz="1800" dirty="0"/>
          </a:p>
        </p:txBody>
      </p:sp>
      <p:sp>
        <p:nvSpPr>
          <p:cNvPr id="35" name="shape-31"/>
          <p:cNvSpPr/>
          <p:nvPr/>
        </p:nvSpPr>
        <p:spPr>
          <a:xfrm>
            <a:off x="8494776" y="3401568"/>
            <a:ext cx="329184" cy="329184"/>
          </a:xfrm>
          <a:prstGeom prst="ellipse">
            <a:avLst/>
          </a:prstGeom>
          <a:solidFill>
            <a:srgbClr val="4D6B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6" name="shape-32"/>
          <p:cNvSpPr txBox="1"/>
          <p:nvPr/>
        </p:nvSpPr>
        <p:spPr>
          <a:xfrm>
            <a:off x="8494776" y="345643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zh-CN" sz="1200" dirty="0"/>
          </a:p>
        </p:txBody>
      </p:sp>
      <p:sp>
        <p:nvSpPr>
          <p:cNvPr id="37" name="shape-33">
            <a:hlinkClick r:id="rId7" tooltip="" action="ppaction://hlinksldjump"/>
          </p:cNvPr>
          <p:cNvSpPr txBox="1"/>
          <p:nvPr/>
        </p:nvSpPr>
        <p:spPr>
          <a:xfrm>
            <a:off x="8970264" y="3392424"/>
            <a:ext cx="2487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300" u="sng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  <a:hlinkClick r:id="rId7" action="ppaction://hlinksldjump" tooltip="">
                  <a:extLst>
                    <a:ext uri="{A12FA001-AC4F-418D-AE19-62706E023703}">
                      <ns3:hlinkClr val="tx"/>
                    </a:ext>
                  </a:extLst>
                </a:hlinkClick>
              </a:rPr>
              <a:t>工作台体验与案例演示</a:t>
            </a:r>
            <a:endParaRPr lang="zh-CN" sz="1300" dirty="0"/>
          </a:p>
        </p:txBody>
      </p:sp>
      <p:sp>
        <p:nvSpPr>
          <p:cNvPr id="38" name="shape-34"/>
          <p:cNvSpPr/>
          <p:nvPr/>
        </p:nvSpPr>
        <p:spPr>
          <a:xfrm>
            <a:off x="8494776" y="4160520"/>
            <a:ext cx="329184" cy="329184"/>
          </a:xfrm>
          <a:prstGeom prst="ellipse">
            <a:avLst/>
          </a:prstGeom>
          <a:solidFill>
            <a:srgbClr val="4D6B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9" name="shape-35"/>
          <p:cNvSpPr txBox="1"/>
          <p:nvPr/>
        </p:nvSpPr>
        <p:spPr>
          <a:xfrm>
            <a:off x="8494776" y="42153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zh-CN" sz="1200" dirty="0"/>
          </a:p>
        </p:txBody>
      </p:sp>
      <p:sp>
        <p:nvSpPr>
          <p:cNvPr id="40" name="shape-36">
            <a:hlinkClick r:id="rId8" tooltip="" action="ppaction://hlinksldjump"/>
          </p:cNvPr>
          <p:cNvSpPr txBox="1"/>
          <p:nvPr/>
        </p:nvSpPr>
        <p:spPr>
          <a:xfrm>
            <a:off x="8970264" y="4151376"/>
            <a:ext cx="2487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300" u="sng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  <a:hlinkClick r:id="rId8" action="ppaction://hlinksldjump" tooltip="">
                  <a:extLst>
                    <a:ext uri="{A12FA001-AC4F-418D-AE19-62706E023703}">
                      <ns3:hlinkClr val="tx"/>
                    </a:ext>
                  </a:extLst>
                </a:hlinkClick>
              </a:rPr>
              <a:t>技术架构与关键实现</a:t>
            </a:r>
            <a:endParaRPr lang="zh-CN" sz="1300" dirty="0"/>
          </a:p>
        </p:txBody>
      </p:sp>
      <p:sp>
        <p:nvSpPr>
          <p:cNvPr id="41" name="shape-37"/>
          <p:cNvSpPr/>
          <p:nvPr/>
        </p:nvSpPr>
        <p:spPr>
          <a:xfrm>
            <a:off x="8494776" y="4919472"/>
            <a:ext cx="329184" cy="329184"/>
          </a:xfrm>
          <a:prstGeom prst="ellipse">
            <a:avLst/>
          </a:prstGeom>
          <a:solidFill>
            <a:srgbClr val="4D6B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2" name="shape-38"/>
          <p:cNvSpPr txBox="1"/>
          <p:nvPr/>
        </p:nvSpPr>
        <p:spPr>
          <a:xfrm>
            <a:off x="8494776" y="497433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zh-CN" sz="1200" dirty="0"/>
          </a:p>
        </p:txBody>
      </p:sp>
      <p:sp>
        <p:nvSpPr>
          <p:cNvPr id="43" name="shape-39">
            <a:hlinkClick r:id="rId9" tooltip="" action="ppaction://hlinksldjump"/>
          </p:cNvPr>
          <p:cNvSpPr txBox="1"/>
          <p:nvPr/>
        </p:nvSpPr>
        <p:spPr>
          <a:xfrm>
            <a:off x="8970264" y="4910328"/>
            <a:ext cx="2487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300" u="sng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  <a:hlinkClick r:id="rId9" action="ppaction://hlinksldjump" tooltip="">
                  <a:extLst>
                    <a:ext uri="{A12FA001-AC4F-418D-AE19-62706E023703}">
                      <ns3:hlinkClr val="tx"/>
                    </a:ext>
                  </a:extLst>
                </a:hlinkClick>
              </a:rPr>
              <a:t>安全、隐私与能力边界</a:t>
            </a:r>
            <a:endParaRPr lang="zh-CN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 name="Slide 3">
    <p:bg>
      <p:bgPr>
        <a:gradFill rotWithShape="1">
          <a:gsLst>
            <a:gs pos="0">
              <a:srgbClr val="E8F0FB"/>
            </a:gs>
            <a:gs pos="50000">
              <a:srgbClr val="F7FAFF"/>
            </a:gs>
            <a:gs pos="100000">
              <a:srgbClr val="EEF3FD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lob-top"/>
          <p:cNvSpPr/>
          <p:nvPr/>
        </p:nvSpPr>
        <p:spPr>
          <a:xfrm>
            <a:off x="7772400" y="-1234440"/>
            <a:ext cx="5120640" cy="4389120"/>
          </a:xfrm>
          <a:prstGeom prst="ellipse">
            <a:avLst/>
          </a:prstGeom>
          <a:gradFill rotWithShape="1">
            <a:gsLst>
              <a:gs pos="0">
                <a:srgbClr val="C3D6FB">
                  <a:alpha val="55000"/>
                </a:srgbClr>
              </a:gs>
              <a:gs pos="50000">
                <a:srgbClr val="C3D6FB">
                  <a:alpha val="16000"/>
                </a:srgbClr>
              </a:gs>
              <a:gs pos="100000">
                <a:srgbClr val="C3D6F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12700">
            <a:solidFill>
              <a:srgbClr val="333333">
                <a:alpha val="0"/>
              </a:srgbClr>
            </a:solidFill>
            <a:prstDash val="solid"/>
          </a:ln>
          <a:effectLst>
            <a:softEdge rad="825500"/>
          </a:effectLst>
        </p:spPr>
      </p:sp>
      <p:sp>
        <p:nvSpPr>
          <p:cNvPr id="4" name="blob-bottom"/>
          <p:cNvSpPr/>
          <p:nvPr/>
        </p:nvSpPr>
        <p:spPr>
          <a:xfrm>
            <a:off x="-1188720" y="4251960"/>
            <a:ext cx="4389120" cy="4023360"/>
          </a:xfrm>
          <a:prstGeom prst="ellipse">
            <a:avLst/>
          </a:prstGeom>
          <a:gradFill rotWithShape="1">
            <a:gsLst>
              <a:gs pos="0">
                <a:srgbClr val="DCD0FB">
                  <a:alpha val="55000"/>
                </a:srgbClr>
              </a:gs>
              <a:gs pos="50000">
                <a:srgbClr val="DCD0FB">
                  <a:alpha val="16000"/>
                </a:srgbClr>
              </a:gs>
              <a:gs pos="100000">
                <a:srgbClr val="DCD0F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12700">
            <a:solidFill>
              <a:srgbClr val="333333">
                <a:alpha val="0"/>
              </a:srgbClr>
            </a:solidFill>
            <a:prstDash val="solid"/>
          </a:ln>
          <a:effectLst>
            <a:softEdge rad="825500"/>
          </a:effectLst>
        </p:spPr>
      </p:sp>
      <p:sp>
        <p:nvSpPr>
          <p:cNvPr id="5" name="shape-1"/>
          <p:cNvSpPr/>
          <p:nvPr/>
        </p:nvSpPr>
        <p:spPr>
          <a:xfrm>
            <a:off x="457200" y="393192"/>
            <a:ext cx="2907792" cy="320040"/>
          </a:xfrm>
          <a:prstGeom prst="roundRect">
            <a:avLst>
              <a:gd name="adj" fmla="val 48571"/>
            </a:avLst>
          </a:prstGeom>
          <a:solidFill>
            <a:srgbClr val="4D6BFE">
              <a:alpha val="10000"/>
            </a:srgbClr>
          </a:solidFill>
          <a:ln w="12700">
            <a:solidFill>
              <a:srgbClr val="4D6BFE">
                <a:alpha val="28000"/>
              </a:srgbClr>
            </a:solidFill>
            <a:prstDash val="solid"/>
          </a:ln>
        </p:spPr>
      </p:sp>
      <p:sp>
        <p:nvSpPr>
          <p:cNvPr id="6" name="shape-2"/>
          <p:cNvSpPr txBox="1"/>
          <p:nvPr/>
        </p:nvSpPr>
        <p:spPr>
          <a:xfrm>
            <a:off x="548640" y="425196"/>
            <a:ext cx="2724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spc="200" kern="0" dirty="0">
                <a:solidFill>
                  <a:srgbClr val="4D6BFE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SLIDE 03 · POSITIONING</a:t>
            </a:r>
            <a:endParaRPr lang="zh-CN" sz="1100" dirty="0"/>
          </a:p>
        </p:txBody>
      </p:sp>
      <p:sp>
        <p:nvSpPr>
          <p:cNvPr id="7" name="shape-3"/>
          <p:cNvSpPr txBox="1"/>
          <p:nvPr/>
        </p:nvSpPr>
        <p:spPr>
          <a:xfrm>
            <a:off x="10771632" y="6391656"/>
            <a:ext cx="9418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17</a:t>
            </a:r>
            <a:endParaRPr lang="zh-CN" sz="1200" dirty="0"/>
          </a:p>
        </p:txBody>
      </p:sp>
      <p:sp>
        <p:nvSpPr>
          <p:cNvPr id="8" name="shape-4"/>
          <p:cNvSpPr txBox="1"/>
          <p:nvPr/>
        </p:nvSpPr>
        <p:spPr>
          <a:xfrm>
            <a:off x="457200" y="978408"/>
            <a:ext cx="11173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zh-CN" altLang="en-US" sz="3200" b="1" dirty="0">
                <a:solidFill>
                  <a:srgbClr val="1C254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先整理需求，再交给 AI</a:t>
            </a:r>
            <a:endParaRPr lang="zh-CN" sz="3200" dirty="0"/>
          </a:p>
        </p:txBody>
      </p:sp>
      <p:sp>
        <p:nvSpPr>
          <p:cNvPr id="9" name="shape-5"/>
          <p:cNvSpPr txBox="1"/>
          <p:nvPr/>
        </p:nvSpPr>
        <p:spPr>
          <a:xfrm>
            <a:off x="484632" y="1746504"/>
            <a:ext cx="110002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4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面向个人使用的上下文感知提示词优化平台。</a:t>
            </a:r>
            <a:endParaRPr lang="zh-CN" sz="1400" dirty="0"/>
          </a:p>
        </p:txBody>
      </p:sp>
      <p:sp>
        <p:nvSpPr>
          <p:cNvPr id="10" name="shape-6"/>
          <p:cNvSpPr txBox="1"/>
          <p:nvPr/>
        </p:nvSpPr>
        <p:spPr>
          <a:xfrm>
            <a:off x="475488" y="6419088"/>
            <a:ext cx="877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zh-CN" altLang="en-US" sz="10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CHAPTER 01</a:t>
            </a:r>
            <a:endParaRPr lang="zh-CN" sz="1000" dirty="0"/>
          </a:p>
        </p:txBody>
      </p:sp>
      <p:sp>
        <p:nvSpPr>
          <p:cNvPr id="11" name="shape-7"/>
          <p:cNvSpPr/>
          <p:nvPr/>
        </p:nvSpPr>
        <p:spPr>
          <a:xfrm>
            <a:off x="594360" y="2523744"/>
            <a:ext cx="374904" cy="374904"/>
          </a:xfrm>
          <a:prstGeom prst="ellipse">
            <a:avLst/>
          </a:prstGeom>
          <a:solidFill>
            <a:srgbClr val="4D6B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shape-8"/>
          <p:cNvSpPr txBox="1"/>
          <p:nvPr/>
        </p:nvSpPr>
        <p:spPr>
          <a:xfrm>
            <a:off x="594360" y="2578608"/>
            <a:ext cx="374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zh-CN" sz="1200" dirty="0"/>
          </a:p>
        </p:txBody>
      </p:sp>
      <p:sp>
        <p:nvSpPr>
          <p:cNvPr id="13" name="shape-9"/>
          <p:cNvSpPr txBox="1"/>
          <p:nvPr/>
        </p:nvSpPr>
        <p:spPr>
          <a:xfrm>
            <a:off x="1152144" y="2532888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500" b="1" dirty="0">
                <a:solidFill>
                  <a:srgbClr val="1C254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输入</a:t>
            </a:r>
            <a:endParaRPr lang="zh-CN" sz="1500" dirty="0"/>
          </a:p>
        </p:txBody>
      </p:sp>
      <p:sp>
        <p:nvSpPr>
          <p:cNvPr id="14" name="shape-10"/>
          <p:cNvSpPr txBox="1"/>
          <p:nvPr/>
        </p:nvSpPr>
        <p:spPr>
          <a:xfrm>
            <a:off x="1152144" y="294436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4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原始提示词 + 按需提供的材料</a:t>
            </a:r>
            <a:endParaRPr lang="zh-CN" sz="1400" dirty="0"/>
          </a:p>
        </p:txBody>
      </p:sp>
      <p:sp>
        <p:nvSpPr>
          <p:cNvPr id="15" name="shape-11"/>
          <p:cNvSpPr/>
          <p:nvPr/>
        </p:nvSpPr>
        <p:spPr>
          <a:xfrm>
            <a:off x="594360" y="3483864"/>
            <a:ext cx="374904" cy="374904"/>
          </a:xfrm>
          <a:prstGeom prst="ellipse">
            <a:avLst/>
          </a:prstGeom>
          <a:solidFill>
            <a:srgbClr val="4D6B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shape-12"/>
          <p:cNvSpPr txBox="1"/>
          <p:nvPr/>
        </p:nvSpPr>
        <p:spPr>
          <a:xfrm>
            <a:off x="594360" y="3538728"/>
            <a:ext cx="374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zh-CN" sz="1200" dirty="0"/>
          </a:p>
        </p:txBody>
      </p:sp>
      <p:sp>
        <p:nvSpPr>
          <p:cNvPr id="17" name="shape-13"/>
          <p:cNvSpPr txBox="1"/>
          <p:nvPr/>
        </p:nvSpPr>
        <p:spPr>
          <a:xfrm>
            <a:off x="1152144" y="3493008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500" b="1" dirty="0">
                <a:solidFill>
                  <a:srgbClr val="1C254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增强</a:t>
            </a:r>
            <a:endParaRPr lang="zh-CN" sz="1500" dirty="0"/>
          </a:p>
        </p:txBody>
      </p:sp>
      <p:sp>
        <p:nvSpPr>
          <p:cNvPr id="18" name="shape-14"/>
          <p:cNvSpPr txBox="1"/>
          <p:nvPr/>
        </p:nvSpPr>
        <p:spPr>
          <a:xfrm>
            <a:off x="1152144" y="390448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4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补足表达、组织约束、保留未决信息</a:t>
            </a:r>
            <a:endParaRPr lang="zh-CN" sz="1400" dirty="0"/>
          </a:p>
        </p:txBody>
      </p:sp>
      <p:sp>
        <p:nvSpPr>
          <p:cNvPr id="19" name="shape-15"/>
          <p:cNvSpPr/>
          <p:nvPr/>
        </p:nvSpPr>
        <p:spPr>
          <a:xfrm>
            <a:off x="594360" y="4443984"/>
            <a:ext cx="374904" cy="374904"/>
          </a:xfrm>
          <a:prstGeom prst="ellipse">
            <a:avLst/>
          </a:prstGeom>
          <a:solidFill>
            <a:srgbClr val="4D6B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shape-16"/>
          <p:cNvSpPr txBox="1"/>
          <p:nvPr/>
        </p:nvSpPr>
        <p:spPr>
          <a:xfrm>
            <a:off x="594360" y="4498848"/>
            <a:ext cx="374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zh-CN" sz="1200" dirty="0"/>
          </a:p>
        </p:txBody>
      </p:sp>
      <p:sp>
        <p:nvSpPr>
          <p:cNvPr id="21" name="shape-17"/>
          <p:cNvSpPr txBox="1"/>
          <p:nvPr/>
        </p:nvSpPr>
        <p:spPr>
          <a:xfrm>
            <a:off x="1152144" y="4453128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500" b="1" dirty="0">
                <a:solidFill>
                  <a:srgbClr val="1C254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交付</a:t>
            </a:r>
            <a:endParaRPr lang="zh-CN" sz="1500" dirty="0"/>
          </a:p>
        </p:txBody>
      </p:sp>
      <p:sp>
        <p:nvSpPr>
          <p:cNvPr id="22" name="shape-18"/>
          <p:cNvSpPr txBox="1"/>
          <p:nvPr/>
        </p:nvSpPr>
        <p:spPr>
          <a:xfrm>
            <a:off x="1152144" y="486460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4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审阅、编辑、复制优化提示词</a:t>
            </a:r>
            <a:endParaRPr lang="zh-CN" sz="1400" dirty="0"/>
          </a:p>
        </p:txBody>
      </p:sp>
      <p:sp>
        <p:nvSpPr>
          <p:cNvPr id="23" name="shape-19"/>
          <p:cNvSpPr/>
          <p:nvPr/>
        </p:nvSpPr>
        <p:spPr>
          <a:xfrm>
            <a:off x="6656832" y="2331720"/>
            <a:ext cx="5029200" cy="3767328"/>
          </a:xfrm>
          <a:prstGeom prst="roundRect">
            <a:avLst>
              <a:gd name="adj" fmla="val 3155"/>
            </a:avLst>
          </a:prstGeom>
          <a:gradFill rotWithShape="1">
            <a:gsLst>
              <a:gs pos="0">
                <a:srgbClr val="4D6BFE"/>
              </a:gs>
              <a:gs pos="100000">
                <a:srgbClr val="8A5CF6"/>
              </a:gs>
            </a:gsLst>
            <a:lin ang="270000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24" name="shape-20"/>
          <p:cNvSpPr/>
          <p:nvPr/>
        </p:nvSpPr>
        <p:spPr>
          <a:xfrm>
            <a:off x="7086600" y="2743200"/>
            <a:ext cx="4151376" cy="731520"/>
          </a:xfrm>
          <a:prstGeom prst="roundRect">
            <a:avLst>
              <a:gd name="adj" fmla="val 16250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25" name="shape-21"/>
          <p:cNvSpPr txBox="1"/>
          <p:nvPr/>
        </p:nvSpPr>
        <p:spPr>
          <a:xfrm>
            <a:off x="7315200" y="2944368"/>
            <a:ext cx="3685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700" dirty="0">
                <a:solidFill>
                  <a:srgbClr val="1C254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一个想法 + 相关材料</a:t>
            </a:r>
            <a:endParaRPr lang="zh-CN" sz="1700" dirty="0"/>
          </a:p>
        </p:txBody>
      </p:sp>
      <p:sp>
        <p:nvSpPr>
          <p:cNvPr id="26" name="shape-22"/>
          <p:cNvSpPr/>
          <p:nvPr/>
        </p:nvSpPr>
        <p:spPr>
          <a:xfrm>
            <a:off x="9180576" y="3602736"/>
            <a:ext cx="0" cy="31089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27" name="shape-23"/>
          <p:cNvSpPr/>
          <p:nvPr/>
        </p:nvSpPr>
        <p:spPr>
          <a:xfrm>
            <a:off x="7086600" y="4105656"/>
            <a:ext cx="4151376" cy="1234440"/>
          </a:xfrm>
          <a:prstGeom prst="roundRect">
            <a:avLst>
              <a:gd name="adj" fmla="val 9630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28" name="shape-24"/>
          <p:cNvSpPr txBox="1"/>
          <p:nvPr/>
        </p:nvSpPr>
        <p:spPr>
          <a:xfrm>
            <a:off x="7315200" y="4315968"/>
            <a:ext cx="36941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2400" b="1" dirty="0">
                <a:solidFill>
                  <a:srgbClr val="1C254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优化提示词</a:t>
            </a:r>
            <a:endParaRPr lang="zh-CN" sz="2400" dirty="0"/>
          </a:p>
        </p:txBody>
      </p:sp>
      <p:sp>
        <p:nvSpPr>
          <p:cNvPr id="29" name="shape-25"/>
          <p:cNvSpPr txBox="1"/>
          <p:nvPr/>
        </p:nvSpPr>
        <p:spPr>
          <a:xfrm>
            <a:off x="7315200" y="4837176"/>
            <a:ext cx="36941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可检查 · 可编辑 · 可复制</a:t>
            </a:r>
            <a:endParaRPr lang="zh-CN" sz="1200" dirty="0"/>
          </a:p>
        </p:txBody>
      </p:sp>
      <p:sp>
        <p:nvSpPr>
          <p:cNvPr id="30" name="shape-26"/>
          <p:cNvSpPr txBox="1"/>
          <p:nvPr/>
        </p:nvSpPr>
        <p:spPr>
          <a:xfrm>
            <a:off x="585216" y="5797296"/>
            <a:ext cx="5623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zh-CN" altLang="en-US" sz="1300" dirty="0">
                <a:solidFill>
                  <a:srgbClr val="1D5FD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后续任务由你选择的模型或工具执行。</a:t>
            </a:r>
            <a:endParaRPr lang="zh-CN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 name="Slide 4">
    <p:bg>
      <p:bgPr>
        <a:gradFill rotWithShape="1">
          <a:gsLst>
            <a:gs pos="0">
              <a:srgbClr val="E8F0FB"/>
            </a:gs>
            <a:gs pos="50000">
              <a:srgbClr val="F7FAFF"/>
            </a:gs>
            <a:gs pos="100000">
              <a:srgbClr val="EEF3FD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lob-top"/>
          <p:cNvSpPr/>
          <p:nvPr/>
        </p:nvSpPr>
        <p:spPr>
          <a:xfrm>
            <a:off x="7772400" y="-1234440"/>
            <a:ext cx="5120640" cy="4389120"/>
          </a:xfrm>
          <a:prstGeom prst="ellipse">
            <a:avLst/>
          </a:prstGeom>
          <a:gradFill rotWithShape="1">
            <a:gsLst>
              <a:gs pos="0">
                <a:srgbClr val="C3D6FB">
                  <a:alpha val="55000"/>
                </a:srgbClr>
              </a:gs>
              <a:gs pos="50000">
                <a:srgbClr val="C3D6FB">
                  <a:alpha val="16000"/>
                </a:srgbClr>
              </a:gs>
              <a:gs pos="100000">
                <a:srgbClr val="C3D6F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12700">
            <a:solidFill>
              <a:srgbClr val="333333">
                <a:alpha val="0"/>
              </a:srgbClr>
            </a:solidFill>
            <a:prstDash val="solid"/>
          </a:ln>
          <a:effectLst>
            <a:softEdge rad="825500"/>
          </a:effectLst>
        </p:spPr>
      </p:sp>
      <p:sp>
        <p:nvSpPr>
          <p:cNvPr id="4" name="blob-bottom"/>
          <p:cNvSpPr/>
          <p:nvPr/>
        </p:nvSpPr>
        <p:spPr>
          <a:xfrm>
            <a:off x="-1188720" y="4251960"/>
            <a:ext cx="4389120" cy="4023360"/>
          </a:xfrm>
          <a:prstGeom prst="ellipse">
            <a:avLst/>
          </a:prstGeom>
          <a:gradFill rotWithShape="1">
            <a:gsLst>
              <a:gs pos="0">
                <a:srgbClr val="C9E8F6">
                  <a:alpha val="55000"/>
                </a:srgbClr>
              </a:gs>
              <a:gs pos="50000">
                <a:srgbClr val="C9E8F6">
                  <a:alpha val="16000"/>
                </a:srgbClr>
              </a:gs>
              <a:gs pos="100000">
                <a:srgbClr val="C9E8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12700">
            <a:solidFill>
              <a:srgbClr val="333333">
                <a:alpha val="0"/>
              </a:srgbClr>
            </a:solidFill>
            <a:prstDash val="solid"/>
          </a:ln>
          <a:effectLst>
            <a:softEdge rad="825500"/>
          </a:effectLst>
        </p:spPr>
      </p:sp>
      <p:sp>
        <p:nvSpPr>
          <p:cNvPr id="5" name="shape-1"/>
          <p:cNvSpPr/>
          <p:nvPr/>
        </p:nvSpPr>
        <p:spPr>
          <a:xfrm>
            <a:off x="457200" y="393192"/>
            <a:ext cx="2606040" cy="320040"/>
          </a:xfrm>
          <a:prstGeom prst="roundRect">
            <a:avLst>
              <a:gd name="adj" fmla="val 48571"/>
            </a:avLst>
          </a:prstGeom>
          <a:solidFill>
            <a:srgbClr val="4D6BFE">
              <a:alpha val="10000"/>
            </a:srgbClr>
          </a:solidFill>
          <a:ln w="12700">
            <a:solidFill>
              <a:srgbClr val="4D6BFE">
                <a:alpha val="28000"/>
              </a:srgbClr>
            </a:solidFill>
            <a:prstDash val="solid"/>
          </a:ln>
        </p:spPr>
      </p:sp>
      <p:sp>
        <p:nvSpPr>
          <p:cNvPr id="6" name="shape-2"/>
          <p:cNvSpPr txBox="1"/>
          <p:nvPr/>
        </p:nvSpPr>
        <p:spPr>
          <a:xfrm>
            <a:off x="548640" y="425196"/>
            <a:ext cx="2423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spc="200" kern="0" dirty="0">
                <a:solidFill>
                  <a:srgbClr val="4D6BFE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SLIDE 04 · VALUE</a:t>
            </a:r>
            <a:endParaRPr lang="zh-CN" sz="1100" dirty="0"/>
          </a:p>
        </p:txBody>
      </p:sp>
      <p:sp>
        <p:nvSpPr>
          <p:cNvPr id="7" name="shape-3"/>
          <p:cNvSpPr txBox="1"/>
          <p:nvPr/>
        </p:nvSpPr>
        <p:spPr>
          <a:xfrm>
            <a:off x="10771632" y="6391656"/>
            <a:ext cx="9418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17</a:t>
            </a:r>
            <a:endParaRPr lang="zh-CN" sz="1200" dirty="0"/>
          </a:p>
        </p:txBody>
      </p:sp>
      <p:sp>
        <p:nvSpPr>
          <p:cNvPr id="8" name="shape-4"/>
          <p:cNvSpPr txBox="1"/>
          <p:nvPr/>
        </p:nvSpPr>
        <p:spPr>
          <a:xfrm>
            <a:off x="457200" y="978408"/>
            <a:ext cx="11173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zh-CN" altLang="en-US" sz="3200" b="1" dirty="0">
                <a:solidFill>
                  <a:srgbClr val="1C254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很多返工，始于没有说清楚</a:t>
            </a:r>
            <a:endParaRPr lang="zh-CN" sz="3200" dirty="0"/>
          </a:p>
        </p:txBody>
      </p:sp>
      <p:sp>
        <p:nvSpPr>
          <p:cNvPr id="9" name="shape-5"/>
          <p:cNvSpPr txBox="1"/>
          <p:nvPr/>
        </p:nvSpPr>
        <p:spPr>
          <a:xfrm>
            <a:off x="484632" y="1746504"/>
            <a:ext cx="110002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4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把沟通成本前移，让要求更容易核对。</a:t>
            </a:r>
            <a:endParaRPr lang="zh-CN" sz="1400" dirty="0"/>
          </a:p>
        </p:txBody>
      </p:sp>
      <p:sp>
        <p:nvSpPr>
          <p:cNvPr id="10" name="shape-6"/>
          <p:cNvSpPr txBox="1"/>
          <p:nvPr/>
        </p:nvSpPr>
        <p:spPr>
          <a:xfrm>
            <a:off x="475488" y="6419088"/>
            <a:ext cx="877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zh-CN" altLang="en-US" sz="10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CHAPTER 02</a:t>
            </a:r>
            <a:endParaRPr lang="zh-CN" sz="1000" dirty="0"/>
          </a:p>
        </p:txBody>
      </p:sp>
      <p:sp>
        <p:nvSpPr>
          <p:cNvPr id="11" name="shape-7"/>
          <p:cNvSpPr/>
          <p:nvPr/>
        </p:nvSpPr>
        <p:spPr>
          <a:xfrm>
            <a:off x="502920" y="2459736"/>
            <a:ext cx="3465576" cy="3063240"/>
          </a:xfrm>
          <a:prstGeom prst="roundRect">
            <a:avLst>
              <a:gd name="adj" fmla="val 3881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12" name="shape-8"/>
          <p:cNvSpPr/>
          <p:nvPr/>
        </p:nvSpPr>
        <p:spPr>
          <a:xfrm>
            <a:off x="758952" y="2770632"/>
            <a:ext cx="1307592" cy="320040"/>
          </a:xfrm>
          <a:prstGeom prst="roundRect">
            <a:avLst>
              <a:gd name="adj" fmla="val 48571"/>
            </a:avLst>
          </a:prstGeom>
          <a:solidFill>
            <a:srgbClr val="C2690A">
              <a:alpha val="10000"/>
            </a:srgbClr>
          </a:solidFill>
          <a:ln w="12700">
            <a:solidFill>
              <a:srgbClr val="C2690A">
                <a:alpha val="28000"/>
              </a:srgbClr>
            </a:solidFill>
            <a:prstDash val="solid"/>
          </a:ln>
        </p:spPr>
      </p:sp>
      <p:sp>
        <p:nvSpPr>
          <p:cNvPr id="13" name="shape-9"/>
          <p:cNvSpPr txBox="1"/>
          <p:nvPr/>
        </p:nvSpPr>
        <p:spPr>
          <a:xfrm>
            <a:off x="850392" y="2802636"/>
            <a:ext cx="11247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dirty="0">
                <a:solidFill>
                  <a:srgbClr val="C2690A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目标模糊</a:t>
            </a:r>
            <a:endParaRPr lang="zh-CN" sz="1100" dirty="0"/>
          </a:p>
        </p:txBody>
      </p:sp>
      <p:sp>
        <p:nvSpPr>
          <p:cNvPr id="14" name="shape-10"/>
          <p:cNvSpPr txBox="1"/>
          <p:nvPr/>
        </p:nvSpPr>
        <p:spPr>
          <a:xfrm>
            <a:off x="758952" y="3438144"/>
            <a:ext cx="2944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zh-CN" altLang="en-US" sz="1500" b="1" dirty="0">
                <a:solidFill>
                  <a:srgbClr val="1C254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“做一下”还不够明确</a:t>
            </a:r>
            <a:endParaRPr lang="zh-CN" sz="1500" dirty="0"/>
          </a:p>
        </p:txBody>
      </p:sp>
      <p:sp>
        <p:nvSpPr>
          <p:cNvPr id="15" name="shape-11"/>
          <p:cNvSpPr txBox="1"/>
          <p:nvPr/>
        </p:nvSpPr>
        <p:spPr>
          <a:xfrm>
            <a:off x="758952" y="4334256"/>
            <a:ext cx="294436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80000"/>
              </a:lnSpc>
              <a:buNone/>
            </a:pPr>
            <a:r>
              <a:rPr lang="zh-CN" altLang="en-US" sz="14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说明对象、交付</a:t>
            </a:r>
            <a:endParaRPr lang="zh-CN" sz="1400" dirty="0"/>
          </a:p>
          <a:p>
            <a:pPr algn="l" indent="0" marL="0">
              <a:lnSpc>
                <a:spcPct val="180000"/>
              </a:lnSpc>
              <a:buNone/>
            </a:pPr>
            <a:r>
              <a:rPr lang="zh-CN" altLang="en-US" sz="14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与完成条件</a:t>
            </a:r>
            <a:endParaRPr lang="zh-CN" sz="1400" dirty="0"/>
          </a:p>
        </p:txBody>
      </p:sp>
      <p:sp>
        <p:nvSpPr>
          <p:cNvPr id="16" name="shape-12"/>
          <p:cNvSpPr/>
          <p:nvPr/>
        </p:nvSpPr>
        <p:spPr>
          <a:xfrm>
            <a:off x="4361688" y="2459736"/>
            <a:ext cx="3465576" cy="3063240"/>
          </a:xfrm>
          <a:prstGeom prst="roundRect">
            <a:avLst>
              <a:gd name="adj" fmla="val 3881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17" name="shape-13"/>
          <p:cNvSpPr/>
          <p:nvPr/>
        </p:nvSpPr>
        <p:spPr>
          <a:xfrm>
            <a:off x="4617720" y="2770632"/>
            <a:ext cx="1307592" cy="320040"/>
          </a:xfrm>
          <a:prstGeom prst="roundRect">
            <a:avLst>
              <a:gd name="adj" fmla="val 48571"/>
            </a:avLst>
          </a:prstGeom>
          <a:solidFill>
            <a:srgbClr val="C2690A">
              <a:alpha val="10000"/>
            </a:srgbClr>
          </a:solidFill>
          <a:ln w="12700">
            <a:solidFill>
              <a:srgbClr val="C2690A">
                <a:alpha val="28000"/>
              </a:srgbClr>
            </a:solidFill>
            <a:prstDash val="solid"/>
          </a:ln>
        </p:spPr>
      </p:sp>
      <p:sp>
        <p:nvSpPr>
          <p:cNvPr id="18" name="shape-14"/>
          <p:cNvSpPr txBox="1"/>
          <p:nvPr/>
        </p:nvSpPr>
        <p:spPr>
          <a:xfrm>
            <a:off x="4709160" y="2802636"/>
            <a:ext cx="11247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dirty="0">
                <a:solidFill>
                  <a:srgbClr val="C2690A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背景缺席</a:t>
            </a:r>
            <a:endParaRPr lang="zh-CN" sz="1100" dirty="0"/>
          </a:p>
        </p:txBody>
      </p:sp>
      <p:sp>
        <p:nvSpPr>
          <p:cNvPr id="19" name="shape-15"/>
          <p:cNvSpPr txBox="1"/>
          <p:nvPr/>
        </p:nvSpPr>
        <p:spPr>
          <a:xfrm>
            <a:off x="4617720" y="3438144"/>
            <a:ext cx="2944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zh-CN" altLang="en-US" sz="1500" b="1" dirty="0">
                <a:solidFill>
                  <a:srgbClr val="1C254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缺少材料，反复补充</a:t>
            </a:r>
            <a:endParaRPr lang="zh-CN" sz="1500" dirty="0"/>
          </a:p>
        </p:txBody>
      </p:sp>
      <p:sp>
        <p:nvSpPr>
          <p:cNvPr id="20" name="shape-16"/>
          <p:cNvSpPr txBox="1"/>
          <p:nvPr/>
        </p:nvSpPr>
        <p:spPr>
          <a:xfrm>
            <a:off x="4617720" y="4334256"/>
            <a:ext cx="294436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80000"/>
              </a:lnSpc>
              <a:buNone/>
            </a:pPr>
            <a:r>
              <a:rPr lang="zh-CN" altLang="en-US" sz="14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将本次材料</a:t>
            </a:r>
            <a:endParaRPr lang="zh-CN" sz="1400" dirty="0"/>
          </a:p>
          <a:p>
            <a:pPr algn="l" indent="0" marL="0">
              <a:lnSpc>
                <a:spcPct val="180000"/>
              </a:lnSpc>
              <a:buNone/>
            </a:pPr>
            <a:r>
              <a:rPr lang="zh-CN" altLang="en-US" sz="14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变成可引用的依据</a:t>
            </a:r>
            <a:endParaRPr lang="zh-CN" sz="1400" dirty="0"/>
          </a:p>
        </p:txBody>
      </p:sp>
      <p:sp>
        <p:nvSpPr>
          <p:cNvPr id="21" name="shape-17"/>
          <p:cNvSpPr/>
          <p:nvPr/>
        </p:nvSpPr>
        <p:spPr>
          <a:xfrm>
            <a:off x="8220456" y="2459736"/>
            <a:ext cx="3465576" cy="3063240"/>
          </a:xfrm>
          <a:prstGeom prst="roundRect">
            <a:avLst>
              <a:gd name="adj" fmla="val 3881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22" name="shape-18"/>
          <p:cNvSpPr/>
          <p:nvPr/>
        </p:nvSpPr>
        <p:spPr>
          <a:xfrm>
            <a:off x="8476488" y="2770632"/>
            <a:ext cx="1307592" cy="320040"/>
          </a:xfrm>
          <a:prstGeom prst="roundRect">
            <a:avLst>
              <a:gd name="adj" fmla="val 48571"/>
            </a:avLst>
          </a:prstGeom>
          <a:solidFill>
            <a:srgbClr val="C2690A">
              <a:alpha val="10000"/>
            </a:srgbClr>
          </a:solidFill>
          <a:ln w="12700">
            <a:solidFill>
              <a:srgbClr val="C2690A">
                <a:alpha val="28000"/>
              </a:srgbClr>
            </a:solidFill>
            <a:prstDash val="solid"/>
          </a:ln>
        </p:spPr>
      </p:sp>
      <p:sp>
        <p:nvSpPr>
          <p:cNvPr id="23" name="shape-19"/>
          <p:cNvSpPr txBox="1"/>
          <p:nvPr/>
        </p:nvSpPr>
        <p:spPr>
          <a:xfrm>
            <a:off x="8567928" y="2802636"/>
            <a:ext cx="11247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dirty="0">
                <a:solidFill>
                  <a:srgbClr val="C2690A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边界遗漏</a:t>
            </a:r>
            <a:endParaRPr lang="zh-CN" sz="1100" dirty="0"/>
          </a:p>
        </p:txBody>
      </p:sp>
      <p:sp>
        <p:nvSpPr>
          <p:cNvPr id="24" name="shape-20"/>
          <p:cNvSpPr txBox="1"/>
          <p:nvPr/>
        </p:nvSpPr>
        <p:spPr>
          <a:xfrm>
            <a:off x="8476488" y="3438144"/>
            <a:ext cx="2944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zh-CN" altLang="en-US" sz="1500" b="1" dirty="0">
                <a:solidFill>
                  <a:srgbClr val="1C254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看似完整，却难以使用</a:t>
            </a:r>
            <a:endParaRPr lang="zh-CN" sz="1500" dirty="0"/>
          </a:p>
        </p:txBody>
      </p:sp>
      <p:sp>
        <p:nvSpPr>
          <p:cNvPr id="25" name="shape-21"/>
          <p:cNvSpPr txBox="1"/>
          <p:nvPr/>
        </p:nvSpPr>
        <p:spPr>
          <a:xfrm>
            <a:off x="8476488" y="4334256"/>
            <a:ext cx="294436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80000"/>
              </a:lnSpc>
              <a:buNone/>
            </a:pPr>
            <a:r>
              <a:rPr lang="zh-CN" altLang="en-US" sz="14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保留限制条件</a:t>
            </a:r>
            <a:endParaRPr lang="zh-CN" sz="1400" dirty="0"/>
          </a:p>
          <a:p>
            <a:pPr algn="l" indent="0" marL="0">
              <a:lnSpc>
                <a:spcPct val="180000"/>
              </a:lnSpc>
              <a:buNone/>
            </a:pPr>
            <a:r>
              <a:rPr lang="zh-CN" altLang="en-US" sz="14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与待确认事项</a:t>
            </a:r>
            <a:endParaRPr lang="zh-CN" sz="1400" dirty="0"/>
          </a:p>
        </p:txBody>
      </p:sp>
      <p:sp>
        <p:nvSpPr>
          <p:cNvPr id="26" name="shape-22"/>
          <p:cNvSpPr txBox="1"/>
          <p:nvPr/>
        </p:nvSpPr>
        <p:spPr>
          <a:xfrm>
            <a:off x="585216" y="5833872"/>
            <a:ext cx="10927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4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价值方向：减少重复解释，便于发现偏差和复用任务说明。</a:t>
            </a:r>
            <a:endParaRPr lang="zh-CN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 name="Slide 5">
    <p:bg>
      <p:bgPr>
        <a:gradFill rotWithShape="1">
          <a:gsLst>
            <a:gs pos="0">
              <a:srgbClr val="E8F0FB"/>
            </a:gs>
            <a:gs pos="50000">
              <a:srgbClr val="F7FAFF"/>
            </a:gs>
            <a:gs pos="100000">
              <a:srgbClr val="EEF3FD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lob-top"/>
          <p:cNvSpPr/>
          <p:nvPr/>
        </p:nvSpPr>
        <p:spPr>
          <a:xfrm>
            <a:off x="7772400" y="-1234440"/>
            <a:ext cx="5120640" cy="4389120"/>
          </a:xfrm>
          <a:prstGeom prst="ellipse">
            <a:avLst/>
          </a:prstGeom>
          <a:gradFill rotWithShape="1">
            <a:gsLst>
              <a:gs pos="0">
                <a:srgbClr val="C3D6FB">
                  <a:alpha val="55000"/>
                </a:srgbClr>
              </a:gs>
              <a:gs pos="50000">
                <a:srgbClr val="C3D6FB">
                  <a:alpha val="16000"/>
                </a:srgbClr>
              </a:gs>
              <a:gs pos="100000">
                <a:srgbClr val="C3D6F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12700">
            <a:solidFill>
              <a:srgbClr val="333333">
                <a:alpha val="0"/>
              </a:srgbClr>
            </a:solidFill>
            <a:prstDash val="solid"/>
          </a:ln>
          <a:effectLst>
            <a:softEdge rad="825500"/>
          </a:effectLst>
        </p:spPr>
      </p:sp>
      <p:sp>
        <p:nvSpPr>
          <p:cNvPr id="4" name="blob-bottom"/>
          <p:cNvSpPr/>
          <p:nvPr/>
        </p:nvSpPr>
        <p:spPr>
          <a:xfrm>
            <a:off x="-1188720" y="4251960"/>
            <a:ext cx="4389120" cy="4023360"/>
          </a:xfrm>
          <a:prstGeom prst="ellipse">
            <a:avLst/>
          </a:prstGeom>
          <a:gradFill rotWithShape="1">
            <a:gsLst>
              <a:gs pos="0">
                <a:srgbClr val="DCD0FB">
                  <a:alpha val="55000"/>
                </a:srgbClr>
              </a:gs>
              <a:gs pos="50000">
                <a:srgbClr val="DCD0FB">
                  <a:alpha val="16000"/>
                </a:srgbClr>
              </a:gs>
              <a:gs pos="100000">
                <a:srgbClr val="DCD0F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12700">
            <a:solidFill>
              <a:srgbClr val="333333">
                <a:alpha val="0"/>
              </a:srgbClr>
            </a:solidFill>
            <a:prstDash val="solid"/>
          </a:ln>
          <a:effectLst>
            <a:softEdge rad="825500"/>
          </a:effectLst>
        </p:spPr>
      </p:sp>
      <p:sp>
        <p:nvSpPr>
          <p:cNvPr id="5" name="shape-1"/>
          <p:cNvSpPr/>
          <p:nvPr/>
        </p:nvSpPr>
        <p:spPr>
          <a:xfrm>
            <a:off x="457200" y="393192"/>
            <a:ext cx="2651760" cy="320040"/>
          </a:xfrm>
          <a:prstGeom prst="roundRect">
            <a:avLst>
              <a:gd name="adj" fmla="val 48571"/>
            </a:avLst>
          </a:prstGeom>
          <a:solidFill>
            <a:srgbClr val="4D6BFE">
              <a:alpha val="10000"/>
            </a:srgbClr>
          </a:solidFill>
          <a:ln w="12700">
            <a:solidFill>
              <a:srgbClr val="4D6BFE">
                <a:alpha val="28000"/>
              </a:srgbClr>
            </a:solidFill>
            <a:prstDash val="solid"/>
          </a:ln>
        </p:spPr>
      </p:sp>
      <p:sp>
        <p:nvSpPr>
          <p:cNvPr id="6" name="shape-2"/>
          <p:cNvSpPr txBox="1"/>
          <p:nvPr/>
        </p:nvSpPr>
        <p:spPr>
          <a:xfrm>
            <a:off x="548640" y="425196"/>
            <a:ext cx="2468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spc="200" kern="0" dirty="0">
                <a:solidFill>
                  <a:srgbClr val="4D6BFE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SLIDE 05 · SCENARIOS</a:t>
            </a:r>
            <a:endParaRPr lang="zh-CN" sz="1100" dirty="0"/>
          </a:p>
        </p:txBody>
      </p:sp>
      <p:sp>
        <p:nvSpPr>
          <p:cNvPr id="7" name="shape-3"/>
          <p:cNvSpPr txBox="1"/>
          <p:nvPr/>
        </p:nvSpPr>
        <p:spPr>
          <a:xfrm>
            <a:off x="10771632" y="6391656"/>
            <a:ext cx="9418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17</a:t>
            </a:r>
            <a:endParaRPr lang="zh-CN" sz="1200" dirty="0"/>
          </a:p>
        </p:txBody>
      </p:sp>
      <p:sp>
        <p:nvSpPr>
          <p:cNvPr id="8" name="shape-4"/>
          <p:cNvSpPr txBox="1"/>
          <p:nvPr/>
        </p:nvSpPr>
        <p:spPr>
          <a:xfrm>
            <a:off x="457200" y="978408"/>
            <a:ext cx="11173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zh-CN" altLang="en-US" sz="3200" b="1" dirty="0">
                <a:solidFill>
                  <a:srgbClr val="1C254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同一工作台，适配不同任务</a:t>
            </a:r>
            <a:endParaRPr lang="zh-CN" sz="3200" dirty="0"/>
          </a:p>
        </p:txBody>
      </p:sp>
      <p:sp>
        <p:nvSpPr>
          <p:cNvPr id="9" name="shape-5"/>
          <p:cNvSpPr txBox="1"/>
          <p:nvPr/>
        </p:nvSpPr>
        <p:spPr>
          <a:xfrm>
            <a:off x="484632" y="1746504"/>
            <a:ext cx="110002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4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从开发、学习，到写作、研究与日常办公。</a:t>
            </a:r>
            <a:endParaRPr lang="zh-CN" sz="1400" dirty="0"/>
          </a:p>
        </p:txBody>
      </p:sp>
      <p:sp>
        <p:nvSpPr>
          <p:cNvPr id="10" name="shape-6"/>
          <p:cNvSpPr txBox="1"/>
          <p:nvPr/>
        </p:nvSpPr>
        <p:spPr>
          <a:xfrm>
            <a:off x="475488" y="6419088"/>
            <a:ext cx="877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zh-CN" altLang="en-US" sz="10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CHAPTER 03</a:t>
            </a:r>
            <a:endParaRPr lang="zh-CN" sz="1000" dirty="0"/>
          </a:p>
        </p:txBody>
      </p:sp>
      <p:sp>
        <p:nvSpPr>
          <p:cNvPr id="11" name="shape-7"/>
          <p:cNvSpPr/>
          <p:nvPr/>
        </p:nvSpPr>
        <p:spPr>
          <a:xfrm>
            <a:off x="512064" y="2487168"/>
            <a:ext cx="2569464" cy="3136392"/>
          </a:xfrm>
          <a:prstGeom prst="roundRect">
            <a:avLst>
              <a:gd name="adj" fmla="val 4626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12" name="shape-8"/>
          <p:cNvSpPr/>
          <p:nvPr/>
        </p:nvSpPr>
        <p:spPr>
          <a:xfrm>
            <a:off x="740664" y="2770632"/>
            <a:ext cx="438912" cy="438912"/>
          </a:xfrm>
          <a:prstGeom prst="roundRect">
            <a:avLst>
              <a:gd name="adj" fmla="val 18750"/>
            </a:avLst>
          </a:prstGeom>
          <a:gradFill rotWithShape="1">
            <a:gsLst>
              <a:gs pos="0">
                <a:srgbClr val="4D6BFE"/>
              </a:gs>
              <a:gs pos="100000">
                <a:srgbClr val="8A5CF6"/>
              </a:gs>
            </a:gsLst>
            <a:lin ang="270000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-9"/>
          <p:cNvSpPr/>
          <p:nvPr/>
        </p:nvSpPr>
        <p:spPr>
          <a:xfrm>
            <a:off x="894283" y="2875971"/>
            <a:ext cx="-92172" cy="114117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14" name="shape-10"/>
          <p:cNvSpPr/>
          <p:nvPr/>
        </p:nvSpPr>
        <p:spPr>
          <a:xfrm>
            <a:off x="802112" y="2990088"/>
            <a:ext cx="92172" cy="114117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15" name="shape-11"/>
          <p:cNvSpPr/>
          <p:nvPr/>
        </p:nvSpPr>
        <p:spPr>
          <a:xfrm>
            <a:off x="1025957" y="2875971"/>
            <a:ext cx="92172" cy="114117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16" name="shape-12"/>
          <p:cNvSpPr/>
          <p:nvPr/>
        </p:nvSpPr>
        <p:spPr>
          <a:xfrm>
            <a:off x="1118128" y="2990088"/>
            <a:ext cx="-92172" cy="114117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17" name="shape-13"/>
          <p:cNvSpPr/>
          <p:nvPr/>
        </p:nvSpPr>
        <p:spPr>
          <a:xfrm>
            <a:off x="990844" y="2858414"/>
            <a:ext cx="-61448" cy="263347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18" name="shape-14"/>
          <p:cNvSpPr txBox="1"/>
          <p:nvPr/>
        </p:nvSpPr>
        <p:spPr>
          <a:xfrm>
            <a:off x="740664" y="3465576"/>
            <a:ext cx="211226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C254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开发</a:t>
            </a:r>
            <a:endParaRPr lang="zh-CN" sz="1500" dirty="0"/>
          </a:p>
        </p:txBody>
      </p:sp>
      <p:sp>
        <p:nvSpPr>
          <p:cNvPr id="19" name="shape-15"/>
          <p:cNvSpPr txBox="1"/>
          <p:nvPr/>
        </p:nvSpPr>
        <p:spPr>
          <a:xfrm>
            <a:off x="740664" y="4023360"/>
            <a:ext cx="211226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功能、排错、重构</a:t>
            </a:r>
            <a:endParaRPr lang="zh-CN" sz="12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明确范围与行为规则</a:t>
            </a:r>
            <a:endParaRPr lang="zh-CN" sz="1200" dirty="0"/>
          </a:p>
        </p:txBody>
      </p:sp>
      <p:sp>
        <p:nvSpPr>
          <p:cNvPr id="20" name="shape-16"/>
          <p:cNvSpPr txBox="1"/>
          <p:nvPr/>
        </p:nvSpPr>
        <p:spPr>
          <a:xfrm>
            <a:off x="740664" y="4992624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zh-CN" altLang="en-US" sz="1200" dirty="0">
                <a:solidFill>
                  <a:srgbClr val="1D5FD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“给工单增加升级功能”</a:t>
            </a:r>
            <a:endParaRPr lang="zh-CN" sz="1200" dirty="0"/>
          </a:p>
        </p:txBody>
      </p:sp>
      <p:sp>
        <p:nvSpPr>
          <p:cNvPr id="21" name="shape-17"/>
          <p:cNvSpPr/>
          <p:nvPr/>
        </p:nvSpPr>
        <p:spPr>
          <a:xfrm>
            <a:off x="3374136" y="2487168"/>
            <a:ext cx="2569464" cy="3136392"/>
          </a:xfrm>
          <a:prstGeom prst="roundRect">
            <a:avLst>
              <a:gd name="adj" fmla="val 4626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22" name="shape-18"/>
          <p:cNvSpPr/>
          <p:nvPr/>
        </p:nvSpPr>
        <p:spPr>
          <a:xfrm>
            <a:off x="3602736" y="2770632"/>
            <a:ext cx="438912" cy="438912"/>
          </a:xfrm>
          <a:prstGeom prst="roundRect">
            <a:avLst>
              <a:gd name="adj" fmla="val 18750"/>
            </a:avLst>
          </a:prstGeom>
          <a:gradFill rotWithShape="1">
            <a:gsLst>
              <a:gs pos="0">
                <a:srgbClr val="4D6BFE"/>
              </a:gs>
              <a:gs pos="100000">
                <a:srgbClr val="8A5CF6"/>
              </a:gs>
            </a:gsLst>
            <a:lin ang="270000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-19"/>
          <p:cNvSpPr/>
          <p:nvPr/>
        </p:nvSpPr>
        <p:spPr>
          <a:xfrm>
            <a:off x="3716853" y="2840858"/>
            <a:ext cx="210678" cy="298460"/>
          </a:xfrm>
          <a:prstGeom prst="roundRect">
            <a:avLst>
              <a:gd name="adj" fmla="val 8681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-20"/>
          <p:cNvSpPr/>
          <p:nvPr/>
        </p:nvSpPr>
        <p:spPr>
          <a:xfrm>
            <a:off x="3765133" y="2928640"/>
            <a:ext cx="109728" cy="0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25" name="shape-21"/>
          <p:cNvSpPr/>
          <p:nvPr/>
        </p:nvSpPr>
        <p:spPr>
          <a:xfrm>
            <a:off x="3765133" y="2990088"/>
            <a:ext cx="109728" cy="0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26" name="shape-22"/>
          <p:cNvSpPr/>
          <p:nvPr/>
        </p:nvSpPr>
        <p:spPr>
          <a:xfrm>
            <a:off x="3765133" y="3051536"/>
            <a:ext cx="109728" cy="0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27" name="shape-23"/>
          <p:cNvSpPr txBox="1"/>
          <p:nvPr/>
        </p:nvSpPr>
        <p:spPr>
          <a:xfrm>
            <a:off x="3602736" y="3465576"/>
            <a:ext cx="211226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C254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写作</a:t>
            </a:r>
            <a:endParaRPr lang="zh-CN" sz="1500" dirty="0"/>
          </a:p>
        </p:txBody>
      </p:sp>
      <p:sp>
        <p:nvSpPr>
          <p:cNvPr id="28" name="shape-24"/>
          <p:cNvSpPr txBox="1"/>
          <p:nvPr/>
        </p:nvSpPr>
        <p:spPr>
          <a:xfrm>
            <a:off x="3602736" y="4023360"/>
            <a:ext cx="211226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受众、渠道、语气</a:t>
            </a:r>
            <a:endParaRPr lang="zh-CN" sz="12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保留资料中的事实</a:t>
            </a:r>
            <a:endParaRPr lang="zh-CN" sz="1200" dirty="0"/>
          </a:p>
        </p:txBody>
      </p:sp>
      <p:sp>
        <p:nvSpPr>
          <p:cNvPr id="29" name="shape-25"/>
          <p:cNvSpPr txBox="1"/>
          <p:nvPr/>
        </p:nvSpPr>
        <p:spPr>
          <a:xfrm>
            <a:off x="3602736" y="4992624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zh-CN" altLang="en-US" sz="1200" dirty="0">
                <a:solidFill>
                  <a:srgbClr val="1D5FD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“写一篇活动预告”</a:t>
            </a:r>
            <a:endParaRPr lang="zh-CN" sz="1200" dirty="0"/>
          </a:p>
        </p:txBody>
      </p:sp>
      <p:sp>
        <p:nvSpPr>
          <p:cNvPr id="30" name="shape-26"/>
          <p:cNvSpPr/>
          <p:nvPr/>
        </p:nvSpPr>
        <p:spPr>
          <a:xfrm>
            <a:off x="6236208" y="2487168"/>
            <a:ext cx="2569464" cy="3136392"/>
          </a:xfrm>
          <a:prstGeom prst="roundRect">
            <a:avLst>
              <a:gd name="adj" fmla="val 4626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31" name="shape-27"/>
          <p:cNvSpPr/>
          <p:nvPr/>
        </p:nvSpPr>
        <p:spPr>
          <a:xfrm>
            <a:off x="6464808" y="2770632"/>
            <a:ext cx="438912" cy="438912"/>
          </a:xfrm>
          <a:prstGeom prst="roundRect">
            <a:avLst>
              <a:gd name="adj" fmla="val 18750"/>
            </a:avLst>
          </a:prstGeom>
          <a:gradFill rotWithShape="1">
            <a:gsLst>
              <a:gs pos="0">
                <a:srgbClr val="4D6BFE"/>
              </a:gs>
              <a:gs pos="100000">
                <a:srgbClr val="8A5CF6"/>
              </a:gs>
            </a:gsLst>
            <a:lin ang="270000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-28"/>
          <p:cNvSpPr/>
          <p:nvPr/>
        </p:nvSpPr>
        <p:spPr>
          <a:xfrm>
            <a:off x="6574536" y="2880360"/>
            <a:ext cx="74615" cy="746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-29"/>
          <p:cNvSpPr/>
          <p:nvPr/>
        </p:nvSpPr>
        <p:spPr>
          <a:xfrm>
            <a:off x="6574536" y="3025201"/>
            <a:ext cx="74615" cy="746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-30"/>
          <p:cNvSpPr/>
          <p:nvPr/>
        </p:nvSpPr>
        <p:spPr>
          <a:xfrm>
            <a:off x="6719377" y="2880360"/>
            <a:ext cx="74615" cy="746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-31"/>
          <p:cNvSpPr/>
          <p:nvPr/>
        </p:nvSpPr>
        <p:spPr>
          <a:xfrm>
            <a:off x="6719377" y="3025201"/>
            <a:ext cx="74615" cy="746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-32"/>
          <p:cNvSpPr txBox="1"/>
          <p:nvPr/>
        </p:nvSpPr>
        <p:spPr>
          <a:xfrm>
            <a:off x="6464808" y="3465576"/>
            <a:ext cx="211226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C254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学习与研究</a:t>
            </a:r>
            <a:endParaRPr lang="zh-CN" sz="1500" dirty="0"/>
          </a:p>
        </p:txBody>
      </p:sp>
      <p:sp>
        <p:nvSpPr>
          <p:cNvPr id="37" name="shape-33"/>
          <p:cNvSpPr txBox="1"/>
          <p:nvPr/>
        </p:nvSpPr>
        <p:spPr>
          <a:xfrm>
            <a:off x="6464808" y="4023360"/>
            <a:ext cx="211226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知识范围、材料来源</a:t>
            </a:r>
            <a:endParaRPr lang="zh-CN" sz="12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方法条件与未决信息</a:t>
            </a:r>
            <a:endParaRPr lang="zh-CN" sz="1200" dirty="0"/>
          </a:p>
        </p:txBody>
      </p:sp>
      <p:sp>
        <p:nvSpPr>
          <p:cNvPr id="38" name="shape-34"/>
          <p:cNvSpPr txBox="1"/>
          <p:nvPr/>
        </p:nvSpPr>
        <p:spPr>
          <a:xfrm>
            <a:off x="6464808" y="4992624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zh-CN" altLang="en-US" sz="1200" dirty="0">
                <a:solidFill>
                  <a:srgbClr val="1D5FD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“制定复习计划”</a:t>
            </a:r>
            <a:endParaRPr lang="zh-CN" sz="1200" dirty="0"/>
          </a:p>
        </p:txBody>
      </p:sp>
      <p:sp>
        <p:nvSpPr>
          <p:cNvPr id="39" name="shape-35"/>
          <p:cNvSpPr/>
          <p:nvPr/>
        </p:nvSpPr>
        <p:spPr>
          <a:xfrm>
            <a:off x="9098280" y="2487168"/>
            <a:ext cx="2569464" cy="3136392"/>
          </a:xfrm>
          <a:prstGeom prst="roundRect">
            <a:avLst>
              <a:gd name="adj" fmla="val 4626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40" name="shape-36"/>
          <p:cNvSpPr/>
          <p:nvPr/>
        </p:nvSpPr>
        <p:spPr>
          <a:xfrm>
            <a:off x="9326880" y="2770632"/>
            <a:ext cx="438912" cy="438912"/>
          </a:xfrm>
          <a:prstGeom prst="roundRect">
            <a:avLst>
              <a:gd name="adj" fmla="val 18750"/>
            </a:avLst>
          </a:prstGeom>
          <a:gradFill rotWithShape="1">
            <a:gsLst>
              <a:gs pos="0">
                <a:srgbClr val="4D6BFE"/>
              </a:gs>
              <a:gs pos="100000">
                <a:srgbClr val="8A5CF6"/>
              </a:gs>
            </a:gsLst>
            <a:lin ang="270000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-37"/>
          <p:cNvSpPr/>
          <p:nvPr/>
        </p:nvSpPr>
        <p:spPr>
          <a:xfrm>
            <a:off x="9484888" y="2858414"/>
            <a:ext cx="118506" cy="11850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2" name="shape-38"/>
          <p:cNvSpPr/>
          <p:nvPr/>
        </p:nvSpPr>
        <p:spPr>
          <a:xfrm>
            <a:off x="9432219" y="3104205"/>
            <a:ext cx="39502" cy="-87782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43" name="shape-39"/>
          <p:cNvSpPr/>
          <p:nvPr/>
        </p:nvSpPr>
        <p:spPr>
          <a:xfrm>
            <a:off x="9471721" y="3016423"/>
            <a:ext cx="149230" cy="0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44" name="shape-40"/>
          <p:cNvSpPr/>
          <p:nvPr/>
        </p:nvSpPr>
        <p:spPr>
          <a:xfrm>
            <a:off x="9620951" y="3016423"/>
            <a:ext cx="39502" cy="87782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45" name="shape-41"/>
          <p:cNvSpPr txBox="1"/>
          <p:nvPr/>
        </p:nvSpPr>
        <p:spPr>
          <a:xfrm>
            <a:off x="9326880" y="3465576"/>
            <a:ext cx="211226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1C254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办公</a:t>
            </a:r>
            <a:endParaRPr lang="zh-CN" sz="1500" dirty="0"/>
          </a:p>
        </p:txBody>
      </p:sp>
      <p:sp>
        <p:nvSpPr>
          <p:cNvPr id="46" name="shape-42"/>
          <p:cNvSpPr txBox="1"/>
          <p:nvPr/>
        </p:nvSpPr>
        <p:spPr>
          <a:xfrm>
            <a:off x="9326880" y="4023360"/>
            <a:ext cx="211226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已确认决议与交付</a:t>
            </a:r>
            <a:endParaRPr lang="zh-CN" sz="12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负责人、期限和格式</a:t>
            </a:r>
            <a:endParaRPr lang="zh-CN" sz="1200" dirty="0"/>
          </a:p>
        </p:txBody>
      </p:sp>
      <p:sp>
        <p:nvSpPr>
          <p:cNvPr id="47" name="shape-43"/>
          <p:cNvSpPr txBox="1"/>
          <p:nvPr/>
        </p:nvSpPr>
        <p:spPr>
          <a:xfrm>
            <a:off x="9326880" y="4992624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zh-CN" altLang="en-US" sz="1200" dirty="0">
                <a:solidFill>
                  <a:srgbClr val="1D5FD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“整理会议行动清单”</a:t>
            </a:r>
            <a:endParaRPr lang="zh-CN" sz="1200" dirty="0"/>
          </a:p>
        </p:txBody>
      </p:sp>
      <p:sp>
        <p:nvSpPr>
          <p:cNvPr id="48" name="shape-44"/>
          <p:cNvSpPr/>
          <p:nvPr/>
        </p:nvSpPr>
        <p:spPr>
          <a:xfrm>
            <a:off x="576072" y="5943600"/>
            <a:ext cx="1362456" cy="320040"/>
          </a:xfrm>
          <a:prstGeom prst="roundRect">
            <a:avLst>
              <a:gd name="adj" fmla="val 48571"/>
            </a:avLst>
          </a:prstGeom>
          <a:solidFill>
            <a:srgbClr val="C2690A">
              <a:alpha val="10000"/>
            </a:srgbClr>
          </a:solidFill>
          <a:ln w="12700">
            <a:solidFill>
              <a:srgbClr val="C2690A">
                <a:alpha val="28000"/>
              </a:srgbClr>
            </a:solidFill>
            <a:prstDash val="solid"/>
          </a:ln>
        </p:spPr>
      </p:sp>
      <p:sp>
        <p:nvSpPr>
          <p:cNvPr id="49" name="shape-45"/>
          <p:cNvSpPr txBox="1"/>
          <p:nvPr/>
        </p:nvSpPr>
        <p:spPr>
          <a:xfrm>
            <a:off x="667512" y="5975604"/>
            <a:ext cx="11795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dirty="0">
                <a:solidFill>
                  <a:srgbClr val="C2690A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示意样例</a:t>
            </a:r>
            <a:endParaRPr lang="zh-CN" sz="1100" dirty="0"/>
          </a:p>
        </p:txBody>
      </p:sp>
      <p:sp>
        <p:nvSpPr>
          <p:cNvPr id="50" name="shape-46"/>
          <p:cNvSpPr txBox="1"/>
          <p:nvPr/>
        </p:nvSpPr>
        <p:spPr>
          <a:xfrm>
            <a:off x="2157984" y="5943600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3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共享当前工作台；尚未为各领域提供专用编辑器。</a:t>
            </a:r>
            <a:endParaRPr lang="zh-CN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 name="Slide 6">
    <p:bg>
      <p:bgPr>
        <a:gradFill rotWithShape="1">
          <a:gsLst>
            <a:gs pos="0">
              <a:srgbClr val="E8F0FB"/>
            </a:gs>
            <a:gs pos="50000">
              <a:srgbClr val="F7FAFF"/>
            </a:gs>
            <a:gs pos="100000">
              <a:srgbClr val="EEF3FD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lob-top"/>
          <p:cNvSpPr/>
          <p:nvPr/>
        </p:nvSpPr>
        <p:spPr>
          <a:xfrm>
            <a:off x="7772400" y="-1234440"/>
            <a:ext cx="5120640" cy="4389120"/>
          </a:xfrm>
          <a:prstGeom prst="ellipse">
            <a:avLst/>
          </a:prstGeom>
          <a:gradFill rotWithShape="1">
            <a:gsLst>
              <a:gs pos="0">
                <a:srgbClr val="C3D6FB">
                  <a:alpha val="55000"/>
                </a:srgbClr>
              </a:gs>
              <a:gs pos="50000">
                <a:srgbClr val="C3D6FB">
                  <a:alpha val="16000"/>
                </a:srgbClr>
              </a:gs>
              <a:gs pos="100000">
                <a:srgbClr val="C3D6F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12700">
            <a:solidFill>
              <a:srgbClr val="333333">
                <a:alpha val="0"/>
              </a:srgbClr>
            </a:solidFill>
            <a:prstDash val="solid"/>
          </a:ln>
          <a:effectLst>
            <a:softEdge rad="825500"/>
          </a:effectLst>
        </p:spPr>
      </p:sp>
      <p:sp>
        <p:nvSpPr>
          <p:cNvPr id="4" name="blob-bottom"/>
          <p:cNvSpPr/>
          <p:nvPr/>
        </p:nvSpPr>
        <p:spPr>
          <a:xfrm>
            <a:off x="-1188720" y="4251960"/>
            <a:ext cx="4389120" cy="4023360"/>
          </a:xfrm>
          <a:prstGeom prst="ellipse">
            <a:avLst/>
          </a:prstGeom>
          <a:gradFill rotWithShape="1">
            <a:gsLst>
              <a:gs pos="0">
                <a:srgbClr val="C9E8F6">
                  <a:alpha val="55000"/>
                </a:srgbClr>
              </a:gs>
              <a:gs pos="50000">
                <a:srgbClr val="C9E8F6">
                  <a:alpha val="16000"/>
                </a:srgbClr>
              </a:gs>
              <a:gs pos="100000">
                <a:srgbClr val="C9E8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12700">
            <a:solidFill>
              <a:srgbClr val="333333">
                <a:alpha val="0"/>
              </a:srgbClr>
            </a:solidFill>
            <a:prstDash val="solid"/>
          </a:ln>
          <a:effectLst>
            <a:softEdge rad="825500"/>
          </a:effectLst>
        </p:spPr>
      </p:sp>
      <p:sp>
        <p:nvSpPr>
          <p:cNvPr id="5" name="shape-1"/>
          <p:cNvSpPr/>
          <p:nvPr/>
        </p:nvSpPr>
        <p:spPr>
          <a:xfrm>
            <a:off x="457200" y="393192"/>
            <a:ext cx="2907792" cy="320040"/>
          </a:xfrm>
          <a:prstGeom prst="roundRect">
            <a:avLst>
              <a:gd name="adj" fmla="val 48571"/>
            </a:avLst>
          </a:prstGeom>
          <a:solidFill>
            <a:srgbClr val="4D6BFE">
              <a:alpha val="10000"/>
            </a:srgbClr>
          </a:solidFill>
          <a:ln w="12700">
            <a:solidFill>
              <a:srgbClr val="4D6BFE">
                <a:alpha val="28000"/>
              </a:srgbClr>
            </a:solidFill>
            <a:prstDash val="solid"/>
          </a:ln>
        </p:spPr>
      </p:sp>
      <p:sp>
        <p:nvSpPr>
          <p:cNvPr id="6" name="shape-2"/>
          <p:cNvSpPr txBox="1"/>
          <p:nvPr/>
        </p:nvSpPr>
        <p:spPr>
          <a:xfrm>
            <a:off x="548640" y="425196"/>
            <a:ext cx="2724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spc="200" kern="0" dirty="0">
                <a:solidFill>
                  <a:srgbClr val="4D6BFE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SLIDE 06 · ENHANCEMENT</a:t>
            </a:r>
            <a:endParaRPr lang="zh-CN" sz="1100" dirty="0"/>
          </a:p>
        </p:txBody>
      </p:sp>
      <p:sp>
        <p:nvSpPr>
          <p:cNvPr id="7" name="shape-3"/>
          <p:cNvSpPr txBox="1"/>
          <p:nvPr/>
        </p:nvSpPr>
        <p:spPr>
          <a:xfrm>
            <a:off x="10771632" y="6391656"/>
            <a:ext cx="9418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17</a:t>
            </a:r>
            <a:endParaRPr lang="zh-CN" sz="1200" dirty="0"/>
          </a:p>
        </p:txBody>
      </p:sp>
      <p:sp>
        <p:nvSpPr>
          <p:cNvPr id="8" name="shape-4"/>
          <p:cNvSpPr txBox="1"/>
          <p:nvPr/>
        </p:nvSpPr>
        <p:spPr>
          <a:xfrm>
            <a:off x="457200" y="978408"/>
            <a:ext cx="11173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zh-CN" altLang="en-US" sz="3200" b="1" dirty="0">
                <a:solidFill>
                  <a:srgbClr val="1C254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一句需求，一键开始增强</a:t>
            </a:r>
            <a:endParaRPr lang="zh-CN" sz="3200" dirty="0"/>
          </a:p>
        </p:txBody>
      </p:sp>
      <p:sp>
        <p:nvSpPr>
          <p:cNvPr id="9" name="shape-5"/>
          <p:cNvSpPr txBox="1"/>
          <p:nvPr/>
        </p:nvSpPr>
        <p:spPr>
          <a:xfrm>
            <a:off x="484632" y="1746504"/>
            <a:ext cx="110002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4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已有明确要求时，使用默认的直接增强路径。</a:t>
            </a:r>
            <a:endParaRPr lang="zh-CN" sz="1400" dirty="0"/>
          </a:p>
        </p:txBody>
      </p:sp>
      <p:sp>
        <p:nvSpPr>
          <p:cNvPr id="10" name="shape-6"/>
          <p:cNvSpPr txBox="1"/>
          <p:nvPr/>
        </p:nvSpPr>
        <p:spPr>
          <a:xfrm>
            <a:off x="475488" y="6419088"/>
            <a:ext cx="877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zh-CN" altLang="en-US" sz="10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CHAPTER 04</a:t>
            </a:r>
            <a:endParaRPr lang="zh-CN" sz="1000" dirty="0"/>
          </a:p>
        </p:txBody>
      </p:sp>
      <p:sp>
        <p:nvSpPr>
          <p:cNvPr id="11" name="shape-7"/>
          <p:cNvSpPr/>
          <p:nvPr/>
        </p:nvSpPr>
        <p:spPr>
          <a:xfrm>
            <a:off x="576072" y="2532888"/>
            <a:ext cx="384048" cy="384048"/>
          </a:xfrm>
          <a:prstGeom prst="ellipse">
            <a:avLst/>
          </a:prstGeom>
          <a:solidFill>
            <a:srgbClr val="4D6B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shape-8"/>
          <p:cNvSpPr txBox="1"/>
          <p:nvPr/>
        </p:nvSpPr>
        <p:spPr>
          <a:xfrm>
            <a:off x="576072" y="2587752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zh-CN" sz="1200" dirty="0"/>
          </a:p>
        </p:txBody>
      </p:sp>
      <p:sp>
        <p:nvSpPr>
          <p:cNvPr id="13" name="shape-9"/>
          <p:cNvSpPr txBox="1"/>
          <p:nvPr/>
        </p:nvSpPr>
        <p:spPr>
          <a:xfrm>
            <a:off x="1170432" y="2542032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500" b="1" dirty="0">
                <a:solidFill>
                  <a:srgbClr val="1C254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写下需求</a:t>
            </a:r>
            <a:endParaRPr lang="zh-CN" sz="1500" dirty="0"/>
          </a:p>
        </p:txBody>
      </p:sp>
      <p:sp>
        <p:nvSpPr>
          <p:cNvPr id="14" name="shape-10"/>
          <p:cNvSpPr txBox="1"/>
          <p:nvPr/>
        </p:nvSpPr>
        <p:spPr>
          <a:xfrm>
            <a:off x="1170432" y="2990088"/>
            <a:ext cx="49743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zh-CN" altLang="en-US" sz="14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目标、用途、材料可以从一句话开始。</a:t>
            </a:r>
            <a:endParaRPr lang="zh-CN" sz="1400" dirty="0"/>
          </a:p>
        </p:txBody>
      </p:sp>
      <p:sp>
        <p:nvSpPr>
          <p:cNvPr id="15" name="shape-11"/>
          <p:cNvSpPr/>
          <p:nvPr/>
        </p:nvSpPr>
        <p:spPr>
          <a:xfrm>
            <a:off x="576072" y="3557016"/>
            <a:ext cx="384048" cy="384048"/>
          </a:xfrm>
          <a:prstGeom prst="ellipse">
            <a:avLst/>
          </a:prstGeom>
          <a:solidFill>
            <a:srgbClr val="4D6B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shape-12"/>
          <p:cNvSpPr txBox="1"/>
          <p:nvPr/>
        </p:nvSpPr>
        <p:spPr>
          <a:xfrm>
            <a:off x="576072" y="3611880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zh-CN" sz="1200" dirty="0"/>
          </a:p>
        </p:txBody>
      </p:sp>
      <p:sp>
        <p:nvSpPr>
          <p:cNvPr id="17" name="shape-13"/>
          <p:cNvSpPr txBox="1"/>
          <p:nvPr/>
        </p:nvSpPr>
        <p:spPr>
          <a:xfrm>
            <a:off x="1170432" y="3566160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500" b="1" dirty="0">
                <a:solidFill>
                  <a:srgbClr val="1C254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点击增强</a:t>
            </a:r>
            <a:endParaRPr lang="zh-CN" sz="1500" dirty="0"/>
          </a:p>
        </p:txBody>
      </p:sp>
      <p:sp>
        <p:nvSpPr>
          <p:cNvPr id="18" name="shape-14"/>
          <p:cNvSpPr txBox="1"/>
          <p:nvPr/>
        </p:nvSpPr>
        <p:spPr>
          <a:xfrm>
            <a:off x="1170432" y="4014216"/>
            <a:ext cx="49743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zh-CN" altLang="en-US" sz="14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默认直接生成；需要关键决定时开启 Plan。</a:t>
            </a:r>
            <a:endParaRPr lang="zh-CN" sz="1400" dirty="0"/>
          </a:p>
        </p:txBody>
      </p:sp>
      <p:sp>
        <p:nvSpPr>
          <p:cNvPr id="19" name="shape-15"/>
          <p:cNvSpPr/>
          <p:nvPr/>
        </p:nvSpPr>
        <p:spPr>
          <a:xfrm>
            <a:off x="576072" y="4581144"/>
            <a:ext cx="384048" cy="384048"/>
          </a:xfrm>
          <a:prstGeom prst="ellipse">
            <a:avLst/>
          </a:prstGeom>
          <a:solidFill>
            <a:srgbClr val="4D6B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shape-16"/>
          <p:cNvSpPr txBox="1"/>
          <p:nvPr/>
        </p:nvSpPr>
        <p:spPr>
          <a:xfrm>
            <a:off x="576072" y="4636008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zh-CN" sz="1200" dirty="0"/>
          </a:p>
        </p:txBody>
      </p:sp>
      <p:sp>
        <p:nvSpPr>
          <p:cNvPr id="21" name="shape-17"/>
          <p:cNvSpPr txBox="1"/>
          <p:nvPr/>
        </p:nvSpPr>
        <p:spPr>
          <a:xfrm>
            <a:off x="1170432" y="45902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500" b="1" dirty="0">
                <a:solidFill>
                  <a:srgbClr val="1C254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审阅后使用</a:t>
            </a:r>
            <a:endParaRPr lang="zh-CN" sz="1500" dirty="0"/>
          </a:p>
        </p:txBody>
      </p:sp>
      <p:sp>
        <p:nvSpPr>
          <p:cNvPr id="22" name="shape-18"/>
          <p:cNvSpPr txBox="1"/>
          <p:nvPr/>
        </p:nvSpPr>
        <p:spPr>
          <a:xfrm>
            <a:off x="1170432" y="5038344"/>
            <a:ext cx="49743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zh-CN" altLang="en-US" sz="14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编辑、复制，或以当前结果再次增强。</a:t>
            </a:r>
            <a:endParaRPr lang="zh-CN" sz="1400" dirty="0"/>
          </a:p>
        </p:txBody>
      </p:sp>
      <p:sp>
        <p:nvSpPr>
          <p:cNvPr id="23" name="shape-19"/>
          <p:cNvSpPr/>
          <p:nvPr/>
        </p:nvSpPr>
        <p:spPr>
          <a:xfrm>
            <a:off x="6665976" y="2368296"/>
            <a:ext cx="5010912" cy="3758184"/>
          </a:xfrm>
          <a:prstGeom prst="roundRect">
            <a:avLst>
              <a:gd name="adj" fmla="val 3163"/>
            </a:avLst>
          </a:prstGeom>
          <a:gradFill rotWithShape="1">
            <a:gsLst>
              <a:gs pos="0">
                <a:srgbClr val="4D6BFE"/>
              </a:gs>
              <a:gs pos="100000">
                <a:srgbClr val="8A5CF6"/>
              </a:gs>
            </a:gsLst>
            <a:lin ang="270000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24" name="shape-20"/>
          <p:cNvSpPr/>
          <p:nvPr/>
        </p:nvSpPr>
        <p:spPr>
          <a:xfrm>
            <a:off x="7004304" y="2670048"/>
            <a:ext cx="4334256" cy="1115568"/>
          </a:xfrm>
          <a:prstGeom prst="roundRect">
            <a:avLst>
              <a:gd name="adj" fmla="val 10656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25" name="shape-21"/>
          <p:cNvSpPr txBox="1"/>
          <p:nvPr/>
        </p:nvSpPr>
        <p:spPr>
          <a:xfrm>
            <a:off x="7242048" y="2862072"/>
            <a:ext cx="3858768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70000"/>
              </a:lnSpc>
              <a:buNone/>
            </a:pPr>
            <a:r>
              <a:rPr lang="zh-CN" altLang="en-US" sz="1500" dirty="0">
                <a:solidFill>
                  <a:srgbClr val="1C254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根据活动资料，写一篇</a:t>
            </a:r>
            <a:endParaRPr lang="zh-CN" sz="15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zh-CN" altLang="en-US" sz="1500" dirty="0">
                <a:solidFill>
                  <a:srgbClr val="1C254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面向初学者的公众号预告。</a:t>
            </a:r>
            <a:endParaRPr lang="zh-CN" sz="1500" dirty="0"/>
          </a:p>
        </p:txBody>
      </p:sp>
      <p:sp>
        <p:nvSpPr>
          <p:cNvPr id="26" name="shape-22"/>
          <p:cNvSpPr/>
          <p:nvPr/>
        </p:nvSpPr>
        <p:spPr>
          <a:xfrm>
            <a:off x="7891272" y="3995928"/>
            <a:ext cx="2532888" cy="484632"/>
          </a:xfrm>
          <a:prstGeom prst="roundRect">
            <a:avLst>
              <a:gd name="adj" fmla="val 4717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-23"/>
          <p:cNvSpPr txBox="1"/>
          <p:nvPr/>
        </p:nvSpPr>
        <p:spPr>
          <a:xfrm>
            <a:off x="7964424" y="4114800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b="1" dirty="0">
                <a:solidFill>
                  <a:srgbClr val="4D6BF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直接增强提示词</a:t>
            </a:r>
            <a:endParaRPr lang="zh-CN" sz="1400" dirty="0"/>
          </a:p>
        </p:txBody>
      </p:sp>
      <p:sp>
        <p:nvSpPr>
          <p:cNvPr id="28" name="shape-24"/>
          <p:cNvSpPr/>
          <p:nvPr/>
        </p:nvSpPr>
        <p:spPr>
          <a:xfrm>
            <a:off x="7004304" y="4718304"/>
            <a:ext cx="4334256" cy="1042416"/>
          </a:xfrm>
          <a:prstGeom prst="roundRect">
            <a:avLst>
              <a:gd name="adj" fmla="val 11404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29" name="shape-25"/>
          <p:cNvSpPr txBox="1"/>
          <p:nvPr/>
        </p:nvSpPr>
        <p:spPr>
          <a:xfrm>
            <a:off x="7251192" y="49194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zh-CN" altLang="en-US" sz="1400" dirty="0">
                <a:solidFill>
                  <a:srgbClr val="1C254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受众 · 任务 · 篇幅 · 事实边界</a:t>
            </a:r>
            <a:endParaRPr lang="zh-CN" sz="1400" dirty="0"/>
          </a:p>
        </p:txBody>
      </p:sp>
      <p:sp>
        <p:nvSpPr>
          <p:cNvPr id="30" name="shape-26"/>
          <p:cNvSpPr txBox="1"/>
          <p:nvPr/>
        </p:nvSpPr>
        <p:spPr>
          <a:xfrm>
            <a:off x="7251192" y="542239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从表达意图，走向可核对的要求</a:t>
            </a:r>
            <a:endParaRPr lang="zh-CN" sz="1200" dirty="0"/>
          </a:p>
        </p:txBody>
      </p:sp>
      <p:sp>
        <p:nvSpPr>
          <p:cNvPr id="31" name="shape-27"/>
          <p:cNvSpPr/>
          <p:nvPr/>
        </p:nvSpPr>
        <p:spPr>
          <a:xfrm>
            <a:off x="585216" y="5907024"/>
            <a:ext cx="1371600" cy="320040"/>
          </a:xfrm>
          <a:prstGeom prst="roundRect">
            <a:avLst>
              <a:gd name="adj" fmla="val 48571"/>
            </a:avLst>
          </a:prstGeom>
          <a:solidFill>
            <a:srgbClr val="C2690A">
              <a:alpha val="10000"/>
            </a:srgbClr>
          </a:solidFill>
          <a:ln w="12700">
            <a:solidFill>
              <a:srgbClr val="C2690A">
                <a:alpha val="28000"/>
              </a:srgbClr>
            </a:solidFill>
            <a:prstDash val="solid"/>
          </a:ln>
        </p:spPr>
      </p:sp>
      <p:sp>
        <p:nvSpPr>
          <p:cNvPr id="32" name="shape-28"/>
          <p:cNvSpPr txBox="1"/>
          <p:nvPr/>
        </p:nvSpPr>
        <p:spPr>
          <a:xfrm>
            <a:off x="676656" y="5939028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dirty="0">
                <a:solidFill>
                  <a:srgbClr val="C2690A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示意样例</a:t>
            </a:r>
            <a:endParaRPr lang="zh-CN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 name="Slide 7">
    <p:bg>
      <p:bgPr>
        <a:gradFill rotWithShape="1">
          <a:gsLst>
            <a:gs pos="0">
              <a:srgbClr val="E8F0FB"/>
            </a:gs>
            <a:gs pos="50000">
              <a:srgbClr val="F7FAFF"/>
            </a:gs>
            <a:gs pos="100000">
              <a:srgbClr val="EEF3FD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lob-top"/>
          <p:cNvSpPr/>
          <p:nvPr/>
        </p:nvSpPr>
        <p:spPr>
          <a:xfrm>
            <a:off x="7772400" y="-1234440"/>
            <a:ext cx="5120640" cy="4389120"/>
          </a:xfrm>
          <a:prstGeom prst="ellipse">
            <a:avLst/>
          </a:prstGeom>
          <a:gradFill rotWithShape="1">
            <a:gsLst>
              <a:gs pos="0">
                <a:srgbClr val="C3D6FB">
                  <a:alpha val="55000"/>
                </a:srgbClr>
              </a:gs>
              <a:gs pos="50000">
                <a:srgbClr val="C3D6FB">
                  <a:alpha val="16000"/>
                </a:srgbClr>
              </a:gs>
              <a:gs pos="100000">
                <a:srgbClr val="C3D6F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12700">
            <a:solidFill>
              <a:srgbClr val="333333">
                <a:alpha val="0"/>
              </a:srgbClr>
            </a:solidFill>
            <a:prstDash val="solid"/>
          </a:ln>
          <a:effectLst>
            <a:softEdge rad="825500"/>
          </a:effectLst>
        </p:spPr>
      </p:sp>
      <p:sp>
        <p:nvSpPr>
          <p:cNvPr id="4" name="blob-bottom"/>
          <p:cNvSpPr/>
          <p:nvPr/>
        </p:nvSpPr>
        <p:spPr>
          <a:xfrm>
            <a:off x="-1188720" y="4251960"/>
            <a:ext cx="4389120" cy="4023360"/>
          </a:xfrm>
          <a:prstGeom prst="ellipse">
            <a:avLst/>
          </a:prstGeom>
          <a:gradFill rotWithShape="1">
            <a:gsLst>
              <a:gs pos="0">
                <a:srgbClr val="DCD0FB">
                  <a:alpha val="55000"/>
                </a:srgbClr>
              </a:gs>
              <a:gs pos="50000">
                <a:srgbClr val="DCD0FB">
                  <a:alpha val="16000"/>
                </a:srgbClr>
              </a:gs>
              <a:gs pos="100000">
                <a:srgbClr val="DCD0F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12700">
            <a:solidFill>
              <a:srgbClr val="333333">
                <a:alpha val="0"/>
              </a:srgbClr>
            </a:solidFill>
            <a:prstDash val="solid"/>
          </a:ln>
          <a:effectLst>
            <a:softEdge rad="825500"/>
          </a:effectLst>
        </p:spPr>
      </p:sp>
      <p:sp>
        <p:nvSpPr>
          <p:cNvPr id="5" name="shape-1"/>
          <p:cNvSpPr/>
          <p:nvPr/>
        </p:nvSpPr>
        <p:spPr>
          <a:xfrm>
            <a:off x="457200" y="393192"/>
            <a:ext cx="2651760" cy="320040"/>
          </a:xfrm>
          <a:prstGeom prst="roundRect">
            <a:avLst>
              <a:gd name="adj" fmla="val 48571"/>
            </a:avLst>
          </a:prstGeom>
          <a:solidFill>
            <a:srgbClr val="4D6BFE">
              <a:alpha val="10000"/>
            </a:srgbClr>
          </a:solidFill>
          <a:ln w="12700">
            <a:solidFill>
              <a:srgbClr val="4D6BFE">
                <a:alpha val="28000"/>
              </a:srgbClr>
            </a:solidFill>
            <a:prstDash val="solid"/>
          </a:ln>
        </p:spPr>
      </p:sp>
      <p:sp>
        <p:nvSpPr>
          <p:cNvPr id="6" name="shape-2"/>
          <p:cNvSpPr txBox="1"/>
          <p:nvPr/>
        </p:nvSpPr>
        <p:spPr>
          <a:xfrm>
            <a:off x="548640" y="425196"/>
            <a:ext cx="2468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spc="200" kern="0" dirty="0">
                <a:solidFill>
                  <a:srgbClr val="4D6BFE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SLIDE 07 · STRUCTURE</a:t>
            </a:r>
            <a:endParaRPr lang="zh-CN" sz="1100" dirty="0"/>
          </a:p>
        </p:txBody>
      </p:sp>
      <p:sp>
        <p:nvSpPr>
          <p:cNvPr id="7" name="shape-3"/>
          <p:cNvSpPr txBox="1"/>
          <p:nvPr/>
        </p:nvSpPr>
        <p:spPr>
          <a:xfrm>
            <a:off x="10771632" y="6391656"/>
            <a:ext cx="9418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17</a:t>
            </a:r>
            <a:endParaRPr lang="zh-CN" sz="1200" dirty="0"/>
          </a:p>
        </p:txBody>
      </p:sp>
      <p:sp>
        <p:nvSpPr>
          <p:cNvPr id="8" name="shape-4"/>
          <p:cNvSpPr txBox="1"/>
          <p:nvPr/>
        </p:nvSpPr>
        <p:spPr>
          <a:xfrm>
            <a:off x="457200" y="978408"/>
            <a:ext cx="11173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zh-CN" altLang="en-US" sz="3200" b="1" dirty="0">
                <a:solidFill>
                  <a:srgbClr val="1C254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结构稳定，内容随任务变化</a:t>
            </a:r>
            <a:endParaRPr lang="zh-CN" sz="3200" dirty="0"/>
          </a:p>
        </p:txBody>
      </p:sp>
      <p:sp>
        <p:nvSpPr>
          <p:cNvPr id="9" name="shape-5"/>
          <p:cNvSpPr txBox="1"/>
          <p:nvPr/>
        </p:nvSpPr>
        <p:spPr>
          <a:xfrm>
            <a:off x="484632" y="1746504"/>
            <a:ext cx="110002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4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四要素是核心；可选内容按当前规则添加。</a:t>
            </a:r>
            <a:endParaRPr lang="zh-CN" sz="1400" dirty="0"/>
          </a:p>
        </p:txBody>
      </p:sp>
      <p:sp>
        <p:nvSpPr>
          <p:cNvPr id="10" name="shape-6"/>
          <p:cNvSpPr txBox="1"/>
          <p:nvPr/>
        </p:nvSpPr>
        <p:spPr>
          <a:xfrm>
            <a:off x="475488" y="6419088"/>
            <a:ext cx="877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zh-CN" altLang="en-US" sz="10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CHAPTER 04</a:t>
            </a:r>
            <a:endParaRPr lang="zh-CN" sz="1000" dirty="0"/>
          </a:p>
        </p:txBody>
      </p:sp>
      <p:sp>
        <p:nvSpPr>
          <p:cNvPr id="11" name="shape-7"/>
          <p:cNvSpPr/>
          <p:nvPr/>
        </p:nvSpPr>
        <p:spPr>
          <a:xfrm>
            <a:off x="493776" y="2441448"/>
            <a:ext cx="11201400" cy="2112264"/>
          </a:xfrm>
          <a:prstGeom prst="roundRect">
            <a:avLst>
              <a:gd name="adj" fmla="val 5628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12" name="shape-8"/>
          <p:cNvSpPr/>
          <p:nvPr/>
        </p:nvSpPr>
        <p:spPr>
          <a:xfrm>
            <a:off x="722376" y="2697480"/>
            <a:ext cx="2450592" cy="1581912"/>
          </a:xfrm>
          <a:prstGeom prst="roundRect">
            <a:avLst>
              <a:gd name="adj" fmla="val 5202"/>
            </a:avLst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13" name="shape-9"/>
          <p:cNvSpPr txBox="1"/>
          <p:nvPr/>
        </p:nvSpPr>
        <p:spPr>
          <a:xfrm>
            <a:off x="914400" y="291693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2200" b="1" dirty="0">
                <a:solidFill>
                  <a:srgbClr val="1C254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背景</a:t>
            </a:r>
            <a:endParaRPr lang="zh-CN" sz="2200" dirty="0"/>
          </a:p>
        </p:txBody>
      </p:sp>
      <p:sp>
        <p:nvSpPr>
          <p:cNvPr id="14" name="shape-10"/>
          <p:cNvSpPr txBox="1"/>
          <p:nvPr/>
        </p:nvSpPr>
        <p:spPr>
          <a:xfrm>
            <a:off x="914400" y="3529584"/>
            <a:ext cx="20574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依据什么材料</a:t>
            </a:r>
            <a:endParaRPr lang="zh-CN" sz="12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与已有事实</a:t>
            </a:r>
            <a:endParaRPr lang="zh-CN" sz="1200" dirty="0"/>
          </a:p>
        </p:txBody>
      </p:sp>
      <p:sp>
        <p:nvSpPr>
          <p:cNvPr id="15" name="shape-11"/>
          <p:cNvSpPr/>
          <p:nvPr/>
        </p:nvSpPr>
        <p:spPr>
          <a:xfrm>
            <a:off x="3483864" y="2697480"/>
            <a:ext cx="2450592" cy="1581912"/>
          </a:xfrm>
          <a:prstGeom prst="roundRect">
            <a:avLst>
              <a:gd name="adj" fmla="val 5202"/>
            </a:avLst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16" name="shape-12"/>
          <p:cNvSpPr txBox="1"/>
          <p:nvPr/>
        </p:nvSpPr>
        <p:spPr>
          <a:xfrm>
            <a:off x="3675888" y="291693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2200" b="1" dirty="0">
                <a:solidFill>
                  <a:srgbClr val="1C254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任务</a:t>
            </a:r>
            <a:endParaRPr lang="zh-CN" sz="2200" dirty="0"/>
          </a:p>
        </p:txBody>
      </p:sp>
      <p:sp>
        <p:nvSpPr>
          <p:cNvPr id="17" name="shape-13"/>
          <p:cNvSpPr txBox="1"/>
          <p:nvPr/>
        </p:nvSpPr>
        <p:spPr>
          <a:xfrm>
            <a:off x="3675888" y="3529584"/>
            <a:ext cx="20574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具体要</a:t>
            </a:r>
            <a:endParaRPr lang="zh-CN" sz="12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完成什么</a:t>
            </a:r>
            <a:endParaRPr lang="zh-CN" sz="1200" dirty="0"/>
          </a:p>
        </p:txBody>
      </p:sp>
      <p:sp>
        <p:nvSpPr>
          <p:cNvPr id="18" name="shape-14"/>
          <p:cNvSpPr/>
          <p:nvPr/>
        </p:nvSpPr>
        <p:spPr>
          <a:xfrm>
            <a:off x="6245352" y="2697480"/>
            <a:ext cx="2450592" cy="1581912"/>
          </a:xfrm>
          <a:prstGeom prst="roundRect">
            <a:avLst>
              <a:gd name="adj" fmla="val 5202"/>
            </a:avLst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19" name="shape-15"/>
          <p:cNvSpPr txBox="1"/>
          <p:nvPr/>
        </p:nvSpPr>
        <p:spPr>
          <a:xfrm>
            <a:off x="6437376" y="291693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2200" b="1" dirty="0">
                <a:solidFill>
                  <a:srgbClr val="1C254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输出</a:t>
            </a:r>
            <a:endParaRPr lang="zh-CN" sz="2200" dirty="0"/>
          </a:p>
        </p:txBody>
      </p:sp>
      <p:sp>
        <p:nvSpPr>
          <p:cNvPr id="20" name="shape-16"/>
          <p:cNvSpPr txBox="1"/>
          <p:nvPr/>
        </p:nvSpPr>
        <p:spPr>
          <a:xfrm>
            <a:off x="6437376" y="3529584"/>
            <a:ext cx="20574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需要怎样的</a:t>
            </a:r>
            <a:endParaRPr lang="zh-CN" sz="12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交付形式</a:t>
            </a:r>
            <a:endParaRPr lang="zh-CN" sz="1200" dirty="0"/>
          </a:p>
        </p:txBody>
      </p:sp>
      <p:sp>
        <p:nvSpPr>
          <p:cNvPr id="21" name="shape-17"/>
          <p:cNvSpPr/>
          <p:nvPr/>
        </p:nvSpPr>
        <p:spPr>
          <a:xfrm>
            <a:off x="9006840" y="2697480"/>
            <a:ext cx="2450592" cy="1581912"/>
          </a:xfrm>
          <a:prstGeom prst="roundRect">
            <a:avLst>
              <a:gd name="adj" fmla="val 5202"/>
            </a:avLst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22" name="shape-18"/>
          <p:cNvSpPr txBox="1"/>
          <p:nvPr/>
        </p:nvSpPr>
        <p:spPr>
          <a:xfrm>
            <a:off x="9198864" y="291693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2200" b="1" dirty="0">
                <a:solidFill>
                  <a:srgbClr val="1C254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约束</a:t>
            </a:r>
            <a:endParaRPr lang="zh-CN" sz="2200" dirty="0"/>
          </a:p>
        </p:txBody>
      </p:sp>
      <p:sp>
        <p:nvSpPr>
          <p:cNvPr id="23" name="shape-19"/>
          <p:cNvSpPr txBox="1"/>
          <p:nvPr/>
        </p:nvSpPr>
        <p:spPr>
          <a:xfrm>
            <a:off x="9198864" y="3529584"/>
            <a:ext cx="20574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必须保留的</a:t>
            </a:r>
            <a:endParaRPr lang="zh-CN" sz="12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限制与边界</a:t>
            </a:r>
            <a:endParaRPr lang="zh-CN" sz="1200" dirty="0"/>
          </a:p>
        </p:txBody>
      </p:sp>
      <p:sp>
        <p:nvSpPr>
          <p:cNvPr id="24" name="shape-20"/>
          <p:cNvSpPr/>
          <p:nvPr/>
        </p:nvSpPr>
        <p:spPr>
          <a:xfrm>
            <a:off x="585216" y="5056632"/>
            <a:ext cx="1380744" cy="320040"/>
          </a:xfrm>
          <a:prstGeom prst="roundRect">
            <a:avLst>
              <a:gd name="adj" fmla="val 48571"/>
            </a:avLst>
          </a:prstGeom>
          <a:solidFill>
            <a:srgbClr val="1D5FD6">
              <a:alpha val="10000"/>
            </a:srgbClr>
          </a:solidFill>
          <a:ln w="12700">
            <a:solidFill>
              <a:srgbClr val="1D5FD6">
                <a:alpha val="28000"/>
              </a:srgbClr>
            </a:solidFill>
            <a:prstDash val="solid"/>
          </a:ln>
        </p:spPr>
      </p:sp>
      <p:sp>
        <p:nvSpPr>
          <p:cNvPr id="25" name="shape-21"/>
          <p:cNvSpPr txBox="1"/>
          <p:nvPr/>
        </p:nvSpPr>
        <p:spPr>
          <a:xfrm>
            <a:off x="676656" y="5088636"/>
            <a:ext cx="11978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dirty="0">
                <a:solidFill>
                  <a:srgbClr val="1D5FD6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验收标准</a:t>
            </a:r>
            <a:endParaRPr lang="zh-CN" sz="1100" dirty="0"/>
          </a:p>
        </p:txBody>
      </p:sp>
      <p:sp>
        <p:nvSpPr>
          <p:cNvPr id="26" name="shape-22"/>
          <p:cNvSpPr txBox="1"/>
          <p:nvPr/>
        </p:nvSpPr>
        <p:spPr>
          <a:xfrm>
            <a:off x="585216" y="5605272"/>
            <a:ext cx="35753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4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当前会补齐</a:t>
            </a:r>
            <a:endParaRPr lang="zh-CN" sz="1400" dirty="0"/>
          </a:p>
        </p:txBody>
      </p:sp>
      <p:sp>
        <p:nvSpPr>
          <p:cNvPr id="27" name="shape-23"/>
          <p:cNvSpPr/>
          <p:nvPr/>
        </p:nvSpPr>
        <p:spPr>
          <a:xfrm>
            <a:off x="4443984" y="5056632"/>
            <a:ext cx="1380744" cy="320040"/>
          </a:xfrm>
          <a:prstGeom prst="roundRect">
            <a:avLst>
              <a:gd name="adj" fmla="val 48571"/>
            </a:avLst>
          </a:prstGeom>
          <a:solidFill>
            <a:srgbClr val="1D5FD6">
              <a:alpha val="10000"/>
            </a:srgbClr>
          </a:solidFill>
          <a:ln w="12700">
            <a:solidFill>
              <a:srgbClr val="1D5FD6">
                <a:alpha val="28000"/>
              </a:srgbClr>
            </a:solidFill>
            <a:prstDash val="solid"/>
          </a:ln>
        </p:spPr>
      </p:sp>
      <p:sp>
        <p:nvSpPr>
          <p:cNvPr id="28" name="shape-24"/>
          <p:cNvSpPr txBox="1"/>
          <p:nvPr/>
        </p:nvSpPr>
        <p:spPr>
          <a:xfrm>
            <a:off x="4535424" y="5088636"/>
            <a:ext cx="11978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dirty="0">
                <a:solidFill>
                  <a:srgbClr val="1D5FD6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示例</a:t>
            </a:r>
            <a:endParaRPr lang="zh-CN" sz="1100" dirty="0"/>
          </a:p>
        </p:txBody>
      </p:sp>
      <p:sp>
        <p:nvSpPr>
          <p:cNvPr id="29" name="shape-25"/>
          <p:cNvSpPr txBox="1"/>
          <p:nvPr/>
        </p:nvSpPr>
        <p:spPr>
          <a:xfrm>
            <a:off x="4443984" y="5605272"/>
            <a:ext cx="35753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4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按开关添加，默认关闭</a:t>
            </a:r>
            <a:endParaRPr lang="zh-CN" sz="1400" dirty="0"/>
          </a:p>
        </p:txBody>
      </p:sp>
      <p:sp>
        <p:nvSpPr>
          <p:cNvPr id="30" name="shape-26"/>
          <p:cNvSpPr/>
          <p:nvPr/>
        </p:nvSpPr>
        <p:spPr>
          <a:xfrm>
            <a:off x="8302752" y="5056632"/>
            <a:ext cx="1792224" cy="320040"/>
          </a:xfrm>
          <a:prstGeom prst="roundRect">
            <a:avLst>
              <a:gd name="adj" fmla="val 48571"/>
            </a:avLst>
          </a:prstGeom>
          <a:solidFill>
            <a:srgbClr val="1D5FD6">
              <a:alpha val="10000"/>
            </a:srgbClr>
          </a:solidFill>
          <a:ln w="12700">
            <a:solidFill>
              <a:srgbClr val="1D5FD6">
                <a:alpha val="28000"/>
              </a:srgbClr>
            </a:solidFill>
            <a:prstDash val="solid"/>
          </a:ln>
        </p:spPr>
      </p:sp>
      <p:sp>
        <p:nvSpPr>
          <p:cNvPr id="31" name="shape-27"/>
          <p:cNvSpPr txBox="1"/>
          <p:nvPr/>
        </p:nvSpPr>
        <p:spPr>
          <a:xfrm>
            <a:off x="8394192" y="5088636"/>
            <a:ext cx="16093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dirty="0">
                <a:solidFill>
                  <a:srgbClr val="1D5FD6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待确认事项</a:t>
            </a:r>
            <a:endParaRPr lang="zh-CN" sz="1100" dirty="0"/>
          </a:p>
        </p:txBody>
      </p:sp>
      <p:sp>
        <p:nvSpPr>
          <p:cNvPr id="32" name="shape-28"/>
          <p:cNvSpPr txBox="1"/>
          <p:nvPr/>
        </p:nvSpPr>
        <p:spPr>
          <a:xfrm>
            <a:off x="8302752" y="5605272"/>
            <a:ext cx="35753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4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有未决信息时保留</a:t>
            </a:r>
            <a:endParaRPr lang="zh-CN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 name="Slide 8">
    <p:bg>
      <p:bgPr>
        <a:gradFill rotWithShape="1">
          <a:gsLst>
            <a:gs pos="0">
              <a:srgbClr val="E8F0FB"/>
            </a:gs>
            <a:gs pos="50000">
              <a:srgbClr val="F7FAFF"/>
            </a:gs>
            <a:gs pos="100000">
              <a:srgbClr val="EEF3FD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lob-top"/>
          <p:cNvSpPr/>
          <p:nvPr/>
        </p:nvSpPr>
        <p:spPr>
          <a:xfrm>
            <a:off x="7772400" y="-1234440"/>
            <a:ext cx="5120640" cy="4389120"/>
          </a:xfrm>
          <a:prstGeom prst="ellipse">
            <a:avLst/>
          </a:prstGeom>
          <a:gradFill rotWithShape="1">
            <a:gsLst>
              <a:gs pos="0">
                <a:srgbClr val="C3D6FB">
                  <a:alpha val="55000"/>
                </a:srgbClr>
              </a:gs>
              <a:gs pos="50000">
                <a:srgbClr val="C3D6FB">
                  <a:alpha val="16000"/>
                </a:srgbClr>
              </a:gs>
              <a:gs pos="100000">
                <a:srgbClr val="C3D6F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12700">
            <a:solidFill>
              <a:srgbClr val="333333">
                <a:alpha val="0"/>
              </a:srgbClr>
            </a:solidFill>
            <a:prstDash val="solid"/>
          </a:ln>
          <a:effectLst>
            <a:softEdge rad="825500"/>
          </a:effectLst>
        </p:spPr>
      </p:sp>
      <p:sp>
        <p:nvSpPr>
          <p:cNvPr id="4" name="blob-bottom"/>
          <p:cNvSpPr/>
          <p:nvPr/>
        </p:nvSpPr>
        <p:spPr>
          <a:xfrm>
            <a:off x="-1188720" y="4251960"/>
            <a:ext cx="4389120" cy="4023360"/>
          </a:xfrm>
          <a:prstGeom prst="ellipse">
            <a:avLst/>
          </a:prstGeom>
          <a:gradFill rotWithShape="1">
            <a:gsLst>
              <a:gs pos="0">
                <a:srgbClr val="C9E8F6">
                  <a:alpha val="55000"/>
                </a:srgbClr>
              </a:gs>
              <a:gs pos="50000">
                <a:srgbClr val="C9E8F6">
                  <a:alpha val="16000"/>
                </a:srgbClr>
              </a:gs>
              <a:gs pos="100000">
                <a:srgbClr val="C9E8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12700">
            <a:solidFill>
              <a:srgbClr val="333333">
                <a:alpha val="0"/>
              </a:srgbClr>
            </a:solidFill>
            <a:prstDash val="solid"/>
          </a:ln>
          <a:effectLst>
            <a:softEdge rad="825500"/>
          </a:effectLst>
        </p:spPr>
      </p:sp>
      <p:sp>
        <p:nvSpPr>
          <p:cNvPr id="5" name="shape-1"/>
          <p:cNvSpPr/>
          <p:nvPr/>
        </p:nvSpPr>
        <p:spPr>
          <a:xfrm>
            <a:off x="457200" y="393192"/>
            <a:ext cx="2651760" cy="320040"/>
          </a:xfrm>
          <a:prstGeom prst="roundRect">
            <a:avLst>
              <a:gd name="adj" fmla="val 48571"/>
            </a:avLst>
          </a:prstGeom>
          <a:solidFill>
            <a:srgbClr val="4D6BFE">
              <a:alpha val="10000"/>
            </a:srgbClr>
          </a:solidFill>
          <a:ln w="12700">
            <a:solidFill>
              <a:srgbClr val="4D6BFE">
                <a:alpha val="28000"/>
              </a:srgbClr>
            </a:solidFill>
            <a:prstDash val="solid"/>
          </a:ln>
        </p:spPr>
      </p:sp>
      <p:sp>
        <p:nvSpPr>
          <p:cNvPr id="6" name="shape-2"/>
          <p:cNvSpPr txBox="1"/>
          <p:nvPr/>
        </p:nvSpPr>
        <p:spPr>
          <a:xfrm>
            <a:off x="548640" y="425196"/>
            <a:ext cx="2468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spc="200" kern="0" dirty="0">
                <a:solidFill>
                  <a:srgbClr val="4D6BFE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SLIDE 08 · PLAN MODE</a:t>
            </a:r>
            <a:endParaRPr lang="zh-CN" sz="1100" dirty="0"/>
          </a:p>
        </p:txBody>
      </p:sp>
      <p:sp>
        <p:nvSpPr>
          <p:cNvPr id="7" name="shape-3"/>
          <p:cNvSpPr txBox="1"/>
          <p:nvPr/>
        </p:nvSpPr>
        <p:spPr>
          <a:xfrm>
            <a:off x="10771632" y="6391656"/>
            <a:ext cx="9418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17</a:t>
            </a:r>
            <a:endParaRPr lang="zh-CN" sz="1200" dirty="0"/>
          </a:p>
        </p:txBody>
      </p:sp>
      <p:sp>
        <p:nvSpPr>
          <p:cNvPr id="8" name="shape-4"/>
          <p:cNvSpPr txBox="1"/>
          <p:nvPr/>
        </p:nvSpPr>
        <p:spPr>
          <a:xfrm>
            <a:off x="457200" y="978408"/>
            <a:ext cx="11173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zh-CN" altLang="en-US" sz="3200" b="1" dirty="0">
                <a:solidFill>
                  <a:srgbClr val="1C254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关键决定，先确认再生成</a:t>
            </a:r>
            <a:endParaRPr lang="zh-CN" sz="3200" dirty="0"/>
          </a:p>
        </p:txBody>
      </p:sp>
      <p:sp>
        <p:nvSpPr>
          <p:cNvPr id="9" name="shape-5"/>
          <p:cNvSpPr txBox="1"/>
          <p:nvPr/>
        </p:nvSpPr>
        <p:spPr>
          <a:xfrm>
            <a:off x="484632" y="1746504"/>
            <a:ext cx="110002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4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适合范围、方法或交付要求还需要选择的任务。</a:t>
            </a:r>
            <a:endParaRPr lang="zh-CN" sz="1400" dirty="0"/>
          </a:p>
        </p:txBody>
      </p:sp>
      <p:sp>
        <p:nvSpPr>
          <p:cNvPr id="10" name="shape-6"/>
          <p:cNvSpPr txBox="1"/>
          <p:nvPr/>
        </p:nvSpPr>
        <p:spPr>
          <a:xfrm>
            <a:off x="475488" y="6419088"/>
            <a:ext cx="877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zh-CN" altLang="en-US" sz="10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CHAPTER 05</a:t>
            </a:r>
            <a:endParaRPr lang="zh-CN" sz="1000" dirty="0"/>
          </a:p>
        </p:txBody>
      </p:sp>
      <p:sp>
        <p:nvSpPr>
          <p:cNvPr id="11" name="shape-7"/>
          <p:cNvSpPr/>
          <p:nvPr/>
        </p:nvSpPr>
        <p:spPr>
          <a:xfrm>
            <a:off x="1133856" y="2770632"/>
            <a:ext cx="1700784" cy="0"/>
          </a:xfrm>
          <a:prstGeom prst="line">
            <a:avLst/>
          </a:prstGeom>
          <a:noFill/>
          <a:ln w="19050">
            <a:solidFill>
              <a:srgbClr val="4D6BFE"/>
            </a:solidFill>
            <a:prstDash val="solid"/>
            <a:tailEnd type="triangle"/>
          </a:ln>
        </p:spPr>
      </p:sp>
      <p:sp>
        <p:nvSpPr>
          <p:cNvPr id="12" name="shape-8"/>
          <p:cNvSpPr/>
          <p:nvPr/>
        </p:nvSpPr>
        <p:spPr>
          <a:xfrm>
            <a:off x="749808" y="2578608"/>
            <a:ext cx="402336" cy="402336"/>
          </a:xfrm>
          <a:prstGeom prst="ellipse">
            <a:avLst/>
          </a:prstGeom>
          <a:solidFill>
            <a:srgbClr val="4D6B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shape-9"/>
          <p:cNvSpPr txBox="1"/>
          <p:nvPr/>
        </p:nvSpPr>
        <p:spPr>
          <a:xfrm>
            <a:off x="749808" y="2633472"/>
            <a:ext cx="402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zh-CN" sz="1200" dirty="0"/>
          </a:p>
        </p:txBody>
      </p:sp>
      <p:sp>
        <p:nvSpPr>
          <p:cNvPr id="14" name="shape-10"/>
          <p:cNvSpPr txBox="1"/>
          <p:nvPr/>
        </p:nvSpPr>
        <p:spPr>
          <a:xfrm>
            <a:off x="676656" y="3182112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500" b="1" dirty="0">
                <a:solidFill>
                  <a:srgbClr val="1C254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开启 Plan</a:t>
            </a:r>
            <a:endParaRPr lang="zh-CN" sz="1500" dirty="0"/>
          </a:p>
        </p:txBody>
      </p:sp>
      <p:sp>
        <p:nvSpPr>
          <p:cNvPr id="15" name="shape-11"/>
          <p:cNvSpPr/>
          <p:nvPr/>
        </p:nvSpPr>
        <p:spPr>
          <a:xfrm>
            <a:off x="3392424" y="2770632"/>
            <a:ext cx="1700784" cy="0"/>
          </a:xfrm>
          <a:prstGeom prst="line">
            <a:avLst/>
          </a:prstGeom>
          <a:noFill/>
          <a:ln w="19050">
            <a:solidFill>
              <a:srgbClr val="4D6BFE"/>
            </a:solidFill>
            <a:prstDash val="solid"/>
            <a:tailEnd type="triangle"/>
          </a:ln>
        </p:spPr>
      </p:sp>
      <p:sp>
        <p:nvSpPr>
          <p:cNvPr id="16" name="shape-12"/>
          <p:cNvSpPr/>
          <p:nvPr/>
        </p:nvSpPr>
        <p:spPr>
          <a:xfrm>
            <a:off x="3008376" y="2578608"/>
            <a:ext cx="402336" cy="402336"/>
          </a:xfrm>
          <a:prstGeom prst="ellipse">
            <a:avLst/>
          </a:prstGeom>
          <a:solidFill>
            <a:srgbClr val="4D6B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shape-13"/>
          <p:cNvSpPr txBox="1"/>
          <p:nvPr/>
        </p:nvSpPr>
        <p:spPr>
          <a:xfrm>
            <a:off x="3008376" y="2633472"/>
            <a:ext cx="402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zh-CN" sz="1200" dirty="0"/>
          </a:p>
        </p:txBody>
      </p:sp>
      <p:sp>
        <p:nvSpPr>
          <p:cNvPr id="18" name="shape-14"/>
          <p:cNvSpPr txBox="1"/>
          <p:nvPr/>
        </p:nvSpPr>
        <p:spPr>
          <a:xfrm>
            <a:off x="2935224" y="3182112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500" b="1" dirty="0">
                <a:solidFill>
                  <a:srgbClr val="1C254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看已有信息</a:t>
            </a:r>
            <a:endParaRPr lang="zh-CN" sz="1500" dirty="0"/>
          </a:p>
        </p:txBody>
      </p:sp>
      <p:sp>
        <p:nvSpPr>
          <p:cNvPr id="19" name="shape-15"/>
          <p:cNvSpPr/>
          <p:nvPr/>
        </p:nvSpPr>
        <p:spPr>
          <a:xfrm>
            <a:off x="5650992" y="2770632"/>
            <a:ext cx="1700784" cy="0"/>
          </a:xfrm>
          <a:prstGeom prst="line">
            <a:avLst/>
          </a:prstGeom>
          <a:noFill/>
          <a:ln w="19050">
            <a:solidFill>
              <a:srgbClr val="4D6BFE"/>
            </a:solidFill>
            <a:prstDash val="solid"/>
            <a:tailEnd type="triangle"/>
          </a:ln>
        </p:spPr>
      </p:sp>
      <p:sp>
        <p:nvSpPr>
          <p:cNvPr id="20" name="shape-16"/>
          <p:cNvSpPr/>
          <p:nvPr/>
        </p:nvSpPr>
        <p:spPr>
          <a:xfrm>
            <a:off x="5266944" y="2578608"/>
            <a:ext cx="402336" cy="402336"/>
          </a:xfrm>
          <a:prstGeom prst="ellipse">
            <a:avLst/>
          </a:prstGeom>
          <a:solidFill>
            <a:srgbClr val="4D6B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1" name="shape-17"/>
          <p:cNvSpPr txBox="1"/>
          <p:nvPr/>
        </p:nvSpPr>
        <p:spPr>
          <a:xfrm>
            <a:off x="5266944" y="2633472"/>
            <a:ext cx="402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zh-CN" sz="1200" dirty="0"/>
          </a:p>
        </p:txBody>
      </p:sp>
      <p:sp>
        <p:nvSpPr>
          <p:cNvPr id="22" name="shape-18"/>
          <p:cNvSpPr txBox="1"/>
          <p:nvPr/>
        </p:nvSpPr>
        <p:spPr>
          <a:xfrm>
            <a:off x="5193792" y="3182112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500" b="1" dirty="0">
                <a:solidFill>
                  <a:srgbClr val="1C254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按需提问</a:t>
            </a:r>
            <a:endParaRPr lang="zh-CN" sz="1500" dirty="0"/>
          </a:p>
        </p:txBody>
      </p:sp>
      <p:sp>
        <p:nvSpPr>
          <p:cNvPr id="23" name="shape-19"/>
          <p:cNvSpPr/>
          <p:nvPr/>
        </p:nvSpPr>
        <p:spPr>
          <a:xfrm>
            <a:off x="7909560" y="2770632"/>
            <a:ext cx="1700784" cy="0"/>
          </a:xfrm>
          <a:prstGeom prst="line">
            <a:avLst/>
          </a:prstGeom>
          <a:noFill/>
          <a:ln w="19050">
            <a:solidFill>
              <a:srgbClr val="4D6BFE"/>
            </a:solidFill>
            <a:prstDash val="solid"/>
            <a:tailEnd type="triangle"/>
          </a:ln>
        </p:spPr>
      </p:sp>
      <p:sp>
        <p:nvSpPr>
          <p:cNvPr id="24" name="shape-20"/>
          <p:cNvSpPr/>
          <p:nvPr/>
        </p:nvSpPr>
        <p:spPr>
          <a:xfrm>
            <a:off x="7525512" y="2578608"/>
            <a:ext cx="402336" cy="402336"/>
          </a:xfrm>
          <a:prstGeom prst="ellipse">
            <a:avLst/>
          </a:prstGeom>
          <a:solidFill>
            <a:srgbClr val="4D6B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5" name="shape-21"/>
          <p:cNvSpPr txBox="1"/>
          <p:nvPr/>
        </p:nvSpPr>
        <p:spPr>
          <a:xfrm>
            <a:off x="7525512" y="2633472"/>
            <a:ext cx="402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zh-CN" sz="1200" dirty="0"/>
          </a:p>
        </p:txBody>
      </p:sp>
      <p:sp>
        <p:nvSpPr>
          <p:cNvPr id="26" name="shape-22"/>
          <p:cNvSpPr txBox="1"/>
          <p:nvPr/>
        </p:nvSpPr>
        <p:spPr>
          <a:xfrm>
            <a:off x="7452360" y="3182112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500" b="1" dirty="0">
                <a:solidFill>
                  <a:srgbClr val="1C254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用户确认</a:t>
            </a:r>
            <a:endParaRPr lang="zh-CN" sz="1500" dirty="0"/>
          </a:p>
        </p:txBody>
      </p:sp>
      <p:sp>
        <p:nvSpPr>
          <p:cNvPr id="27" name="shape-23"/>
          <p:cNvSpPr/>
          <p:nvPr/>
        </p:nvSpPr>
        <p:spPr>
          <a:xfrm>
            <a:off x="9784080" y="2578608"/>
            <a:ext cx="402336" cy="402336"/>
          </a:xfrm>
          <a:prstGeom prst="ellipse">
            <a:avLst/>
          </a:prstGeom>
          <a:solidFill>
            <a:srgbClr val="4D6B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8" name="shape-24"/>
          <p:cNvSpPr txBox="1"/>
          <p:nvPr/>
        </p:nvSpPr>
        <p:spPr>
          <a:xfrm>
            <a:off x="9784080" y="2633472"/>
            <a:ext cx="402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zh-CN" sz="1200" dirty="0"/>
          </a:p>
        </p:txBody>
      </p:sp>
      <p:sp>
        <p:nvSpPr>
          <p:cNvPr id="29" name="shape-25"/>
          <p:cNvSpPr txBox="1"/>
          <p:nvPr/>
        </p:nvSpPr>
        <p:spPr>
          <a:xfrm>
            <a:off x="9710928" y="3182112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500" b="1" dirty="0">
                <a:solidFill>
                  <a:srgbClr val="1C254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最终生成</a:t>
            </a:r>
            <a:endParaRPr lang="zh-CN" sz="1500" dirty="0"/>
          </a:p>
        </p:txBody>
      </p:sp>
      <p:sp>
        <p:nvSpPr>
          <p:cNvPr id="30" name="shape-26"/>
          <p:cNvSpPr txBox="1"/>
          <p:nvPr/>
        </p:nvSpPr>
        <p:spPr>
          <a:xfrm>
            <a:off x="676656" y="3785616"/>
            <a:ext cx="194767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默认关闭</a:t>
            </a:r>
            <a:endParaRPr lang="zh-CN" sz="12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首次开启有说明</a:t>
            </a:r>
            <a:endParaRPr lang="zh-CN" sz="1200" dirty="0"/>
          </a:p>
        </p:txBody>
      </p:sp>
      <p:sp>
        <p:nvSpPr>
          <p:cNvPr id="31" name="shape-27"/>
          <p:cNvSpPr txBox="1"/>
          <p:nvPr/>
        </p:nvSpPr>
        <p:spPr>
          <a:xfrm>
            <a:off x="2935224" y="3785616"/>
            <a:ext cx="194767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摘要与相关证据</a:t>
            </a:r>
            <a:endParaRPr lang="zh-CN" sz="12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减少重复追问</a:t>
            </a:r>
            <a:endParaRPr lang="zh-CN" sz="1200" dirty="0"/>
          </a:p>
        </p:txBody>
      </p:sp>
      <p:sp>
        <p:nvSpPr>
          <p:cNvPr id="32" name="shape-28"/>
          <p:cNvSpPr txBox="1"/>
          <p:nvPr/>
        </p:nvSpPr>
        <p:spPr>
          <a:xfrm>
            <a:off x="5193792" y="3785616"/>
            <a:ext cx="194767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最多 8 题</a:t>
            </a:r>
            <a:endParaRPr lang="zh-CN" sz="12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单选 / 多选 / 自由回答</a:t>
            </a:r>
            <a:endParaRPr lang="zh-CN" sz="1200" dirty="0"/>
          </a:p>
        </p:txBody>
      </p:sp>
      <p:sp>
        <p:nvSpPr>
          <p:cNvPr id="33" name="shape-29"/>
          <p:cNvSpPr txBox="1"/>
          <p:nvPr/>
        </p:nvSpPr>
        <p:spPr>
          <a:xfrm>
            <a:off x="7452360" y="3785616"/>
            <a:ext cx="194767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有效作答后点击</a:t>
            </a:r>
            <a:endParaRPr lang="zh-CN" sz="12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“生成最终提示词”</a:t>
            </a:r>
            <a:endParaRPr lang="zh-CN" sz="1200" dirty="0"/>
          </a:p>
        </p:txBody>
      </p:sp>
      <p:sp>
        <p:nvSpPr>
          <p:cNvPr id="34" name="shape-30"/>
          <p:cNvSpPr txBox="1"/>
          <p:nvPr/>
        </p:nvSpPr>
        <p:spPr>
          <a:xfrm>
            <a:off x="9710928" y="3785616"/>
            <a:ext cx="194767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带答案再检索</a:t>
            </a:r>
            <a:endParaRPr lang="zh-CN" sz="12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核对后生成结果</a:t>
            </a:r>
            <a:endParaRPr lang="zh-CN" sz="1200" dirty="0"/>
          </a:p>
        </p:txBody>
      </p:sp>
      <p:sp>
        <p:nvSpPr>
          <p:cNvPr id="35" name="shape-31"/>
          <p:cNvSpPr/>
          <p:nvPr/>
        </p:nvSpPr>
        <p:spPr>
          <a:xfrm>
            <a:off x="576072" y="5175504"/>
            <a:ext cx="11036808" cy="905256"/>
          </a:xfrm>
          <a:prstGeom prst="roundRect">
            <a:avLst>
              <a:gd name="adj" fmla="val 13131"/>
            </a:avLst>
          </a:prstGeom>
          <a:solidFill>
            <a:srgbClr val="FFFFFF">
              <a:alpha val="5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36" name="shape-32"/>
          <p:cNvSpPr txBox="1"/>
          <p:nvPr/>
        </p:nvSpPr>
        <p:spPr>
          <a:xfrm>
            <a:off x="859536" y="5404104"/>
            <a:ext cx="104973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zh-CN" altLang="en-US" sz="1400" dirty="0">
                <a:solidFill>
                  <a:srgbClr val="1D5FD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没有需要提问的内容时，直接进入最终生成。</a:t>
            </a:r>
            <a:endParaRPr lang="zh-CN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 name="Slide 9">
    <p:bg>
      <p:bgPr>
        <a:gradFill rotWithShape="1">
          <a:gsLst>
            <a:gs pos="0">
              <a:srgbClr val="E8F0FB"/>
            </a:gs>
            <a:gs pos="50000">
              <a:srgbClr val="F7FAFF"/>
            </a:gs>
            <a:gs pos="100000">
              <a:srgbClr val="EEF3FD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lob-top"/>
          <p:cNvSpPr/>
          <p:nvPr/>
        </p:nvSpPr>
        <p:spPr>
          <a:xfrm>
            <a:off x="7772400" y="-1234440"/>
            <a:ext cx="5120640" cy="4389120"/>
          </a:xfrm>
          <a:prstGeom prst="ellipse">
            <a:avLst/>
          </a:prstGeom>
          <a:gradFill rotWithShape="1">
            <a:gsLst>
              <a:gs pos="0">
                <a:srgbClr val="C3D6FB">
                  <a:alpha val="55000"/>
                </a:srgbClr>
              </a:gs>
              <a:gs pos="50000">
                <a:srgbClr val="C3D6FB">
                  <a:alpha val="16000"/>
                </a:srgbClr>
              </a:gs>
              <a:gs pos="100000">
                <a:srgbClr val="C3D6F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12700">
            <a:solidFill>
              <a:srgbClr val="333333">
                <a:alpha val="0"/>
              </a:srgbClr>
            </a:solidFill>
            <a:prstDash val="solid"/>
          </a:ln>
          <a:effectLst>
            <a:softEdge rad="825500"/>
          </a:effectLst>
        </p:spPr>
      </p:sp>
      <p:sp>
        <p:nvSpPr>
          <p:cNvPr id="4" name="blob-bottom"/>
          <p:cNvSpPr/>
          <p:nvPr/>
        </p:nvSpPr>
        <p:spPr>
          <a:xfrm>
            <a:off x="-1188720" y="4251960"/>
            <a:ext cx="4389120" cy="4023360"/>
          </a:xfrm>
          <a:prstGeom prst="ellipse">
            <a:avLst/>
          </a:prstGeom>
          <a:gradFill rotWithShape="1">
            <a:gsLst>
              <a:gs pos="0">
                <a:srgbClr val="DCD0FB">
                  <a:alpha val="55000"/>
                </a:srgbClr>
              </a:gs>
              <a:gs pos="50000">
                <a:srgbClr val="DCD0FB">
                  <a:alpha val="16000"/>
                </a:srgbClr>
              </a:gs>
              <a:gs pos="100000">
                <a:srgbClr val="DCD0F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12700">
            <a:solidFill>
              <a:srgbClr val="333333">
                <a:alpha val="0"/>
              </a:srgbClr>
            </a:solidFill>
            <a:prstDash val="solid"/>
          </a:ln>
          <a:effectLst>
            <a:softEdge rad="825500"/>
          </a:effectLst>
        </p:spPr>
      </p:sp>
      <p:sp>
        <p:nvSpPr>
          <p:cNvPr id="5" name="shape-1"/>
          <p:cNvSpPr/>
          <p:nvPr/>
        </p:nvSpPr>
        <p:spPr>
          <a:xfrm>
            <a:off x="457200" y="393192"/>
            <a:ext cx="3035808" cy="320040"/>
          </a:xfrm>
          <a:prstGeom prst="roundRect">
            <a:avLst>
              <a:gd name="adj" fmla="val 48571"/>
            </a:avLst>
          </a:prstGeom>
          <a:solidFill>
            <a:srgbClr val="4D6BFE">
              <a:alpha val="10000"/>
            </a:srgbClr>
          </a:solidFill>
          <a:ln w="12700">
            <a:solidFill>
              <a:srgbClr val="4D6BFE">
                <a:alpha val="28000"/>
              </a:srgbClr>
            </a:solidFill>
            <a:prstDash val="solid"/>
          </a:ln>
        </p:spPr>
      </p:sp>
      <p:sp>
        <p:nvSpPr>
          <p:cNvPr id="6" name="shape-2"/>
          <p:cNvSpPr txBox="1"/>
          <p:nvPr/>
        </p:nvSpPr>
        <p:spPr>
          <a:xfrm>
            <a:off x="548640" y="425196"/>
            <a:ext cx="28529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spc="200" kern="0" dirty="0">
                <a:solidFill>
                  <a:srgbClr val="4D6BFE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SLIDE 09 · CONFIRMATION</a:t>
            </a:r>
            <a:endParaRPr lang="zh-CN" sz="1100" dirty="0"/>
          </a:p>
        </p:txBody>
      </p:sp>
      <p:sp>
        <p:nvSpPr>
          <p:cNvPr id="7" name="shape-3"/>
          <p:cNvSpPr txBox="1"/>
          <p:nvPr/>
        </p:nvSpPr>
        <p:spPr>
          <a:xfrm>
            <a:off x="10771632" y="6391656"/>
            <a:ext cx="9418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17</a:t>
            </a:r>
            <a:endParaRPr lang="zh-CN" sz="1200" dirty="0"/>
          </a:p>
        </p:txBody>
      </p:sp>
      <p:sp>
        <p:nvSpPr>
          <p:cNvPr id="8" name="shape-4"/>
          <p:cNvSpPr txBox="1"/>
          <p:nvPr/>
        </p:nvSpPr>
        <p:spPr>
          <a:xfrm>
            <a:off x="457200" y="978408"/>
            <a:ext cx="11173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zh-CN" altLang="en-US" sz="3200" b="1" dirty="0">
                <a:solidFill>
                  <a:srgbClr val="1C254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答案由你确认，未知仍然保留</a:t>
            </a:r>
            <a:endParaRPr lang="zh-CN" sz="3200" dirty="0"/>
          </a:p>
        </p:txBody>
      </p:sp>
      <p:sp>
        <p:nvSpPr>
          <p:cNvPr id="9" name="shape-5"/>
          <p:cNvSpPr txBox="1"/>
          <p:nvPr/>
        </p:nvSpPr>
        <p:spPr>
          <a:xfrm>
            <a:off x="484632" y="1746504"/>
            <a:ext cx="110002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4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推荐项只是建议；你的选择才会成为本次确认答案。</a:t>
            </a:r>
            <a:endParaRPr lang="zh-CN" sz="1400" dirty="0"/>
          </a:p>
        </p:txBody>
      </p:sp>
      <p:sp>
        <p:nvSpPr>
          <p:cNvPr id="10" name="shape-6"/>
          <p:cNvSpPr txBox="1"/>
          <p:nvPr/>
        </p:nvSpPr>
        <p:spPr>
          <a:xfrm>
            <a:off x="475488" y="6419088"/>
            <a:ext cx="877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zh-CN" altLang="en-US" sz="10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CHAPTER 05</a:t>
            </a:r>
            <a:endParaRPr lang="zh-CN" sz="1000" dirty="0"/>
          </a:p>
        </p:txBody>
      </p:sp>
      <p:sp>
        <p:nvSpPr>
          <p:cNvPr id="11" name="shape-7"/>
          <p:cNvSpPr txBox="1"/>
          <p:nvPr/>
        </p:nvSpPr>
        <p:spPr>
          <a:xfrm>
            <a:off x="594360" y="258775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800" b="1" dirty="0">
                <a:solidFill>
                  <a:srgbClr val="1C254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主动选择</a:t>
            </a:r>
            <a:endParaRPr lang="zh-CN" sz="1800" dirty="0"/>
          </a:p>
        </p:txBody>
      </p:sp>
      <p:sp>
        <p:nvSpPr>
          <p:cNvPr id="12" name="shape-8"/>
          <p:cNvSpPr txBox="1"/>
          <p:nvPr/>
        </p:nvSpPr>
        <p:spPr>
          <a:xfrm>
            <a:off x="594360" y="3072384"/>
            <a:ext cx="54406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zh-CN" altLang="en-US" sz="14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推荐不会自动成为已确认答案。</a:t>
            </a:r>
            <a:endParaRPr lang="zh-CN" sz="1400" dirty="0"/>
          </a:p>
        </p:txBody>
      </p:sp>
      <p:sp>
        <p:nvSpPr>
          <p:cNvPr id="13" name="shape-9"/>
          <p:cNvSpPr txBox="1"/>
          <p:nvPr/>
        </p:nvSpPr>
        <p:spPr>
          <a:xfrm>
            <a:off x="594360" y="3648456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800" b="1" dirty="0">
                <a:solidFill>
                  <a:srgbClr val="1C254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可以修改</a:t>
            </a:r>
            <a:endParaRPr lang="zh-CN" sz="1800" dirty="0"/>
          </a:p>
        </p:txBody>
      </p:sp>
      <p:sp>
        <p:nvSpPr>
          <p:cNvPr id="14" name="shape-10"/>
          <p:cNvSpPr txBox="1"/>
          <p:nvPr/>
        </p:nvSpPr>
        <p:spPr>
          <a:xfrm>
            <a:off x="594360" y="4133088"/>
            <a:ext cx="54406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zh-CN" altLang="en-US" sz="14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回看并修改；允许时填写自定义回答。</a:t>
            </a:r>
            <a:endParaRPr lang="zh-CN" sz="1400" dirty="0"/>
          </a:p>
        </p:txBody>
      </p:sp>
      <p:sp>
        <p:nvSpPr>
          <p:cNvPr id="15" name="shape-11"/>
          <p:cNvSpPr txBox="1"/>
          <p:nvPr/>
        </p:nvSpPr>
        <p:spPr>
          <a:xfrm>
            <a:off x="594360" y="47091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800" b="1" dirty="0">
                <a:solidFill>
                  <a:srgbClr val="1C254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保留未知</a:t>
            </a:r>
            <a:endParaRPr lang="zh-CN" sz="1800" dirty="0"/>
          </a:p>
        </p:txBody>
      </p:sp>
      <p:sp>
        <p:nvSpPr>
          <p:cNvPr id="16" name="shape-12"/>
          <p:cNvSpPr txBox="1"/>
          <p:nvPr/>
        </p:nvSpPr>
        <p:spPr>
          <a:xfrm>
            <a:off x="594360" y="5193792"/>
            <a:ext cx="54406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zh-CN" altLang="en-US" sz="14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暂不确定或新冲突，仍作为待确认条件。</a:t>
            </a:r>
            <a:endParaRPr lang="zh-CN" sz="1400" dirty="0"/>
          </a:p>
        </p:txBody>
      </p:sp>
      <p:sp>
        <p:nvSpPr>
          <p:cNvPr id="17" name="shape-13"/>
          <p:cNvSpPr/>
          <p:nvPr/>
        </p:nvSpPr>
        <p:spPr>
          <a:xfrm>
            <a:off x="6519672" y="2404872"/>
            <a:ext cx="5111496" cy="3776472"/>
          </a:xfrm>
          <a:prstGeom prst="roundRect">
            <a:avLst>
              <a:gd name="adj" fmla="val 3148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18" name="shape-14"/>
          <p:cNvSpPr/>
          <p:nvPr/>
        </p:nvSpPr>
        <p:spPr>
          <a:xfrm>
            <a:off x="6839712" y="2697480"/>
            <a:ext cx="1389888" cy="320040"/>
          </a:xfrm>
          <a:prstGeom prst="roundRect">
            <a:avLst>
              <a:gd name="adj" fmla="val 48571"/>
            </a:avLst>
          </a:prstGeom>
          <a:solidFill>
            <a:srgbClr val="C2690A">
              <a:alpha val="10000"/>
            </a:srgbClr>
          </a:solidFill>
          <a:ln w="12700">
            <a:solidFill>
              <a:srgbClr val="C2690A">
                <a:alpha val="28000"/>
              </a:srgbClr>
            </a:solidFill>
            <a:prstDash val="solid"/>
          </a:ln>
        </p:spPr>
      </p:sp>
      <p:sp>
        <p:nvSpPr>
          <p:cNvPr id="19" name="shape-15"/>
          <p:cNvSpPr txBox="1"/>
          <p:nvPr/>
        </p:nvSpPr>
        <p:spPr>
          <a:xfrm>
            <a:off x="6931152" y="2729484"/>
            <a:ext cx="1207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dirty="0">
                <a:solidFill>
                  <a:srgbClr val="C2690A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示意样例</a:t>
            </a:r>
            <a:endParaRPr lang="zh-CN" sz="1100" dirty="0"/>
          </a:p>
        </p:txBody>
      </p:sp>
      <p:sp>
        <p:nvSpPr>
          <p:cNvPr id="20" name="shape-16"/>
          <p:cNvSpPr txBox="1"/>
          <p:nvPr/>
        </p:nvSpPr>
        <p:spPr>
          <a:xfrm>
            <a:off x="6839712" y="3227832"/>
            <a:ext cx="4443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2000" b="1" dirty="0">
                <a:solidFill>
                  <a:srgbClr val="1C254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是否允许越级升级？</a:t>
            </a:r>
            <a:endParaRPr lang="zh-CN" sz="2000" dirty="0"/>
          </a:p>
        </p:txBody>
      </p:sp>
      <p:sp>
        <p:nvSpPr>
          <p:cNvPr id="21" name="shape-17"/>
          <p:cNvSpPr/>
          <p:nvPr/>
        </p:nvSpPr>
        <p:spPr>
          <a:xfrm>
            <a:off x="6830568" y="3840480"/>
            <a:ext cx="4480560" cy="374904"/>
          </a:xfrm>
          <a:prstGeom prst="roundRect">
            <a:avLst>
              <a:gd name="adj" fmla="val 19512"/>
            </a:avLst>
          </a:prstGeom>
          <a:solidFill>
            <a:srgbClr val="4D6BFE">
              <a:alpha val="11000"/>
            </a:srgbClr>
          </a:solidFill>
          <a:ln w="12700">
            <a:solidFill>
              <a:srgbClr val="4D6BFE">
                <a:alpha val="40000"/>
              </a:srgbClr>
            </a:solidFill>
            <a:prstDash val="solid"/>
          </a:ln>
        </p:spPr>
      </p:sp>
      <p:sp>
        <p:nvSpPr>
          <p:cNvPr id="22" name="shape-18"/>
          <p:cNvSpPr txBox="1"/>
          <p:nvPr/>
        </p:nvSpPr>
        <p:spPr>
          <a:xfrm>
            <a:off x="7013448" y="3913632"/>
            <a:ext cx="413308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4D6BF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  仅逐级升级</a:t>
            </a:r>
            <a:endParaRPr lang="zh-CN" sz="1200" dirty="0"/>
          </a:p>
        </p:txBody>
      </p:sp>
      <p:sp>
        <p:nvSpPr>
          <p:cNvPr id="23" name="shape-19"/>
          <p:cNvSpPr/>
          <p:nvPr/>
        </p:nvSpPr>
        <p:spPr>
          <a:xfrm>
            <a:off x="6830568" y="4325112"/>
            <a:ext cx="4480560" cy="374904"/>
          </a:xfrm>
          <a:prstGeom prst="roundRect">
            <a:avLst>
              <a:gd name="adj" fmla="val 19512"/>
            </a:avLst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24" name="shape-20"/>
          <p:cNvSpPr txBox="1"/>
          <p:nvPr/>
        </p:nvSpPr>
        <p:spPr>
          <a:xfrm>
            <a:off x="7013448" y="4398264"/>
            <a:ext cx="413308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   允许越级升级</a:t>
            </a:r>
            <a:endParaRPr lang="zh-CN" sz="1200" dirty="0"/>
          </a:p>
        </p:txBody>
      </p:sp>
      <p:sp>
        <p:nvSpPr>
          <p:cNvPr id="25" name="shape-21"/>
          <p:cNvSpPr/>
          <p:nvPr/>
        </p:nvSpPr>
        <p:spPr>
          <a:xfrm>
            <a:off x="6830568" y="4809744"/>
            <a:ext cx="4480560" cy="374904"/>
          </a:xfrm>
          <a:prstGeom prst="roundRect">
            <a:avLst>
              <a:gd name="adj" fmla="val 19512"/>
            </a:avLst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26" name="shape-22"/>
          <p:cNvSpPr txBox="1"/>
          <p:nvPr/>
        </p:nvSpPr>
        <p:spPr>
          <a:xfrm>
            <a:off x="7013448" y="4882896"/>
            <a:ext cx="413308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   暂不确定</a:t>
            </a:r>
            <a:endParaRPr lang="zh-CN" sz="1200" dirty="0"/>
          </a:p>
        </p:txBody>
      </p:sp>
      <p:sp>
        <p:nvSpPr>
          <p:cNvPr id="27" name="shape-23"/>
          <p:cNvSpPr txBox="1"/>
          <p:nvPr/>
        </p:nvSpPr>
        <p:spPr>
          <a:xfrm>
            <a:off x="10497312" y="3931920"/>
            <a:ext cx="630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4D6BFE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已选</a:t>
            </a:r>
            <a:endParaRPr lang="zh-CN" sz="1100" dirty="0"/>
          </a:p>
        </p:txBody>
      </p:sp>
      <p:sp>
        <p:nvSpPr>
          <p:cNvPr id="28" name="shape-24"/>
          <p:cNvSpPr txBox="1"/>
          <p:nvPr/>
        </p:nvSpPr>
        <p:spPr>
          <a:xfrm>
            <a:off x="6894576" y="56144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返回修改</a:t>
            </a:r>
            <a:endParaRPr lang="zh-CN" sz="1200" dirty="0"/>
          </a:p>
        </p:txBody>
      </p:sp>
      <p:sp>
        <p:nvSpPr>
          <p:cNvPr id="29" name="shape-25"/>
          <p:cNvSpPr/>
          <p:nvPr/>
        </p:nvSpPr>
        <p:spPr>
          <a:xfrm>
            <a:off x="9144000" y="5532120"/>
            <a:ext cx="2157984" cy="429768"/>
          </a:xfrm>
          <a:prstGeom prst="roundRect">
            <a:avLst>
              <a:gd name="adj" fmla="val 42553"/>
            </a:avLst>
          </a:prstGeom>
          <a:solidFill>
            <a:srgbClr val="4D6B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-26"/>
          <p:cNvSpPr txBox="1"/>
          <p:nvPr/>
        </p:nvSpPr>
        <p:spPr>
          <a:xfrm>
            <a:off x="9244584" y="56418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生成最终提示词</a:t>
            </a:r>
            <a:endParaRPr lang="zh-CN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 name="Slide 10">
    <p:bg>
      <p:bgPr>
        <a:gradFill rotWithShape="1">
          <a:gsLst>
            <a:gs pos="0">
              <a:srgbClr val="E8F0FB"/>
            </a:gs>
            <a:gs pos="50000">
              <a:srgbClr val="F7FAFF"/>
            </a:gs>
            <a:gs pos="100000">
              <a:srgbClr val="EEF3FD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lob-top"/>
          <p:cNvSpPr/>
          <p:nvPr/>
        </p:nvSpPr>
        <p:spPr>
          <a:xfrm>
            <a:off x="7772400" y="-1234440"/>
            <a:ext cx="5120640" cy="4389120"/>
          </a:xfrm>
          <a:prstGeom prst="ellipse">
            <a:avLst/>
          </a:prstGeom>
          <a:gradFill rotWithShape="1">
            <a:gsLst>
              <a:gs pos="0">
                <a:srgbClr val="C3D6FB">
                  <a:alpha val="55000"/>
                </a:srgbClr>
              </a:gs>
              <a:gs pos="50000">
                <a:srgbClr val="C3D6FB">
                  <a:alpha val="16000"/>
                </a:srgbClr>
              </a:gs>
              <a:gs pos="100000">
                <a:srgbClr val="C3D6F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12700">
            <a:solidFill>
              <a:srgbClr val="333333">
                <a:alpha val="0"/>
              </a:srgbClr>
            </a:solidFill>
            <a:prstDash val="solid"/>
          </a:ln>
          <a:effectLst>
            <a:softEdge rad="825500"/>
          </a:effectLst>
        </p:spPr>
      </p:sp>
      <p:sp>
        <p:nvSpPr>
          <p:cNvPr id="4" name="blob-bottom"/>
          <p:cNvSpPr/>
          <p:nvPr/>
        </p:nvSpPr>
        <p:spPr>
          <a:xfrm>
            <a:off x="-1188720" y="4251960"/>
            <a:ext cx="4389120" cy="4023360"/>
          </a:xfrm>
          <a:prstGeom prst="ellipse">
            <a:avLst/>
          </a:prstGeom>
          <a:gradFill rotWithShape="1">
            <a:gsLst>
              <a:gs pos="0">
                <a:srgbClr val="C9E8F6">
                  <a:alpha val="55000"/>
                </a:srgbClr>
              </a:gs>
              <a:gs pos="50000">
                <a:srgbClr val="C9E8F6">
                  <a:alpha val="16000"/>
                </a:srgbClr>
              </a:gs>
              <a:gs pos="100000">
                <a:srgbClr val="C9E8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12700">
            <a:solidFill>
              <a:srgbClr val="333333">
                <a:alpha val="0"/>
              </a:srgbClr>
            </a:solidFill>
            <a:prstDash val="solid"/>
          </a:ln>
          <a:effectLst>
            <a:softEdge rad="825500"/>
          </a:effectLst>
        </p:spPr>
      </p:sp>
      <p:sp>
        <p:nvSpPr>
          <p:cNvPr id="5" name="shape-1"/>
          <p:cNvSpPr/>
          <p:nvPr/>
        </p:nvSpPr>
        <p:spPr>
          <a:xfrm>
            <a:off x="457200" y="393192"/>
            <a:ext cx="2606040" cy="320040"/>
          </a:xfrm>
          <a:prstGeom prst="roundRect">
            <a:avLst>
              <a:gd name="adj" fmla="val 48571"/>
            </a:avLst>
          </a:prstGeom>
          <a:solidFill>
            <a:srgbClr val="4D6BFE">
              <a:alpha val="10000"/>
            </a:srgbClr>
          </a:solidFill>
          <a:ln w="12700">
            <a:solidFill>
              <a:srgbClr val="4D6BFE">
                <a:alpha val="28000"/>
              </a:srgbClr>
            </a:solidFill>
            <a:prstDash val="solid"/>
          </a:ln>
        </p:spPr>
      </p:sp>
      <p:sp>
        <p:nvSpPr>
          <p:cNvPr id="6" name="shape-2"/>
          <p:cNvSpPr txBox="1"/>
          <p:nvPr/>
        </p:nvSpPr>
        <p:spPr>
          <a:xfrm>
            <a:off x="548640" y="425196"/>
            <a:ext cx="2423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spc="200" kern="0" dirty="0">
                <a:solidFill>
                  <a:srgbClr val="4D6BFE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SLIDE 10 · CONTEXT</a:t>
            </a:r>
            <a:endParaRPr lang="zh-CN" sz="1100" dirty="0"/>
          </a:p>
        </p:txBody>
      </p:sp>
      <p:sp>
        <p:nvSpPr>
          <p:cNvPr id="7" name="shape-3"/>
          <p:cNvSpPr txBox="1"/>
          <p:nvPr/>
        </p:nvSpPr>
        <p:spPr>
          <a:xfrm>
            <a:off x="10771632" y="6391656"/>
            <a:ext cx="9418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17</a:t>
            </a:r>
            <a:endParaRPr lang="zh-CN" sz="1200" dirty="0"/>
          </a:p>
        </p:txBody>
      </p:sp>
      <p:sp>
        <p:nvSpPr>
          <p:cNvPr id="8" name="shape-4"/>
          <p:cNvSpPr txBox="1"/>
          <p:nvPr/>
        </p:nvSpPr>
        <p:spPr>
          <a:xfrm>
            <a:off x="457200" y="978408"/>
            <a:ext cx="11173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zh-CN" altLang="en-US" sz="3200" b="1" dirty="0">
                <a:solidFill>
                  <a:srgbClr val="1C254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把已有材料，变成本次依据</a:t>
            </a:r>
            <a:endParaRPr lang="zh-CN" sz="3200" dirty="0"/>
          </a:p>
        </p:txBody>
      </p:sp>
      <p:sp>
        <p:nvSpPr>
          <p:cNvPr id="9" name="shape-5"/>
          <p:cNvSpPr txBox="1"/>
          <p:nvPr/>
        </p:nvSpPr>
        <p:spPr>
          <a:xfrm>
            <a:off x="484632" y="1746504"/>
            <a:ext cx="110002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4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项目上下文化，让模型看到与当前需求有关的内容。</a:t>
            </a:r>
            <a:endParaRPr lang="zh-CN" sz="1400" dirty="0"/>
          </a:p>
        </p:txBody>
      </p:sp>
      <p:sp>
        <p:nvSpPr>
          <p:cNvPr id="10" name="shape-6"/>
          <p:cNvSpPr txBox="1"/>
          <p:nvPr/>
        </p:nvSpPr>
        <p:spPr>
          <a:xfrm>
            <a:off x="475488" y="6419088"/>
            <a:ext cx="877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zh-CN" altLang="en-US" sz="10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CHAPTER 06</a:t>
            </a:r>
            <a:endParaRPr lang="zh-CN" sz="1000" dirty="0"/>
          </a:p>
        </p:txBody>
      </p:sp>
      <p:sp>
        <p:nvSpPr>
          <p:cNvPr id="11" name="shape-7"/>
          <p:cNvSpPr/>
          <p:nvPr/>
        </p:nvSpPr>
        <p:spPr>
          <a:xfrm>
            <a:off x="512064" y="2468880"/>
            <a:ext cx="5440680" cy="2505456"/>
          </a:xfrm>
          <a:prstGeom prst="roundRect">
            <a:avLst>
              <a:gd name="adj" fmla="val 4745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12" name="shape-8"/>
          <p:cNvSpPr/>
          <p:nvPr/>
        </p:nvSpPr>
        <p:spPr>
          <a:xfrm>
            <a:off x="6254496" y="2468880"/>
            <a:ext cx="5440680" cy="2505456"/>
          </a:xfrm>
          <a:prstGeom prst="roundRect">
            <a:avLst>
              <a:gd name="adj" fmla="val 4745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13" name="shape-9"/>
          <p:cNvSpPr/>
          <p:nvPr/>
        </p:nvSpPr>
        <p:spPr>
          <a:xfrm>
            <a:off x="832104" y="2779776"/>
            <a:ext cx="438912" cy="438912"/>
          </a:xfrm>
          <a:prstGeom prst="roundRect">
            <a:avLst>
              <a:gd name="adj" fmla="val 18750"/>
            </a:avLst>
          </a:prstGeom>
          <a:gradFill rotWithShape="1">
            <a:gsLst>
              <a:gs pos="0">
                <a:srgbClr val="4D6BFE"/>
              </a:gs>
              <a:gs pos="100000">
                <a:srgbClr val="8A5CF6"/>
              </a:gs>
            </a:gsLst>
            <a:lin ang="270000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-10"/>
          <p:cNvSpPr/>
          <p:nvPr/>
        </p:nvSpPr>
        <p:spPr>
          <a:xfrm>
            <a:off x="985723" y="2885115"/>
            <a:ext cx="-92172" cy="114117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15" name="shape-11"/>
          <p:cNvSpPr/>
          <p:nvPr/>
        </p:nvSpPr>
        <p:spPr>
          <a:xfrm>
            <a:off x="893552" y="2999232"/>
            <a:ext cx="92172" cy="114117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16" name="shape-12"/>
          <p:cNvSpPr/>
          <p:nvPr/>
        </p:nvSpPr>
        <p:spPr>
          <a:xfrm>
            <a:off x="1117397" y="2885115"/>
            <a:ext cx="92172" cy="114117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17" name="shape-13"/>
          <p:cNvSpPr/>
          <p:nvPr/>
        </p:nvSpPr>
        <p:spPr>
          <a:xfrm>
            <a:off x="1209568" y="2999232"/>
            <a:ext cx="-92172" cy="114117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18" name="shape-14"/>
          <p:cNvSpPr/>
          <p:nvPr/>
        </p:nvSpPr>
        <p:spPr>
          <a:xfrm>
            <a:off x="1082284" y="2867558"/>
            <a:ext cx="-61448" cy="263347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19" name="shape-15"/>
          <p:cNvSpPr txBox="1"/>
          <p:nvPr/>
        </p:nvSpPr>
        <p:spPr>
          <a:xfrm>
            <a:off x="1517904" y="2843784"/>
            <a:ext cx="4133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2000" b="1" dirty="0">
                <a:solidFill>
                  <a:srgbClr val="1C254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代码项目</a:t>
            </a:r>
            <a:endParaRPr lang="zh-CN" sz="2000" dirty="0"/>
          </a:p>
        </p:txBody>
      </p:sp>
      <p:sp>
        <p:nvSpPr>
          <p:cNvPr id="20" name="shape-16"/>
          <p:cNvSpPr txBox="1"/>
          <p:nvPr/>
        </p:nvSpPr>
        <p:spPr>
          <a:xfrm>
            <a:off x="841248" y="3630168"/>
            <a:ext cx="473659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80000"/>
              </a:lnSpc>
              <a:buNone/>
            </a:pPr>
            <a:r>
              <a:rPr lang="zh-CN" altLang="en-US" sz="14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用户选择目录 → 浏览器本地索引</a:t>
            </a:r>
            <a:endParaRPr lang="zh-CN" sz="1400" dirty="0"/>
          </a:p>
          <a:p>
            <a:pPr algn="l" indent="0" marL="0">
              <a:lnSpc>
                <a:spcPct val="180000"/>
              </a:lnSpc>
              <a:buNone/>
            </a:pPr>
            <a:r>
              <a:rPr lang="zh-CN" altLang="en-US" sz="14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围绕需求检索有限相关片段</a:t>
            </a:r>
            <a:endParaRPr lang="zh-CN" sz="1400" dirty="0"/>
          </a:p>
        </p:txBody>
      </p:sp>
      <p:sp>
        <p:nvSpPr>
          <p:cNvPr id="21" name="shape-17"/>
          <p:cNvSpPr/>
          <p:nvPr/>
        </p:nvSpPr>
        <p:spPr>
          <a:xfrm>
            <a:off x="6574536" y="2779776"/>
            <a:ext cx="438912" cy="438912"/>
          </a:xfrm>
          <a:prstGeom prst="roundRect">
            <a:avLst>
              <a:gd name="adj" fmla="val 18750"/>
            </a:avLst>
          </a:prstGeom>
          <a:gradFill rotWithShape="1">
            <a:gsLst>
              <a:gs pos="0">
                <a:srgbClr val="4D6BFE"/>
              </a:gs>
              <a:gs pos="100000">
                <a:srgbClr val="8A5CF6"/>
              </a:gs>
            </a:gsLst>
            <a:lin ang="270000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-18"/>
          <p:cNvSpPr/>
          <p:nvPr/>
        </p:nvSpPr>
        <p:spPr>
          <a:xfrm>
            <a:off x="6688653" y="2850002"/>
            <a:ext cx="210678" cy="298460"/>
          </a:xfrm>
          <a:prstGeom prst="roundRect">
            <a:avLst>
              <a:gd name="adj" fmla="val 8681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-19"/>
          <p:cNvSpPr/>
          <p:nvPr/>
        </p:nvSpPr>
        <p:spPr>
          <a:xfrm>
            <a:off x="6736933" y="2937784"/>
            <a:ext cx="109728" cy="0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24" name="shape-20"/>
          <p:cNvSpPr/>
          <p:nvPr/>
        </p:nvSpPr>
        <p:spPr>
          <a:xfrm>
            <a:off x="6736933" y="2999232"/>
            <a:ext cx="109728" cy="0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25" name="shape-21"/>
          <p:cNvSpPr/>
          <p:nvPr/>
        </p:nvSpPr>
        <p:spPr>
          <a:xfrm>
            <a:off x="6736933" y="3060680"/>
            <a:ext cx="109728" cy="0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26" name="shape-22"/>
          <p:cNvSpPr txBox="1"/>
          <p:nvPr/>
        </p:nvSpPr>
        <p:spPr>
          <a:xfrm>
            <a:off x="7260336" y="2843784"/>
            <a:ext cx="4133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2000" b="1" dirty="0">
                <a:solidFill>
                  <a:srgbClr val="1C254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文档材料</a:t>
            </a:r>
            <a:endParaRPr lang="zh-CN" sz="2000" dirty="0"/>
          </a:p>
        </p:txBody>
      </p:sp>
      <p:sp>
        <p:nvSpPr>
          <p:cNvPr id="27" name="shape-23"/>
          <p:cNvSpPr txBox="1"/>
          <p:nvPr/>
        </p:nvSpPr>
        <p:spPr>
          <a:xfrm>
            <a:off x="6583680" y="3630168"/>
            <a:ext cx="473659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80000"/>
              </a:lnSpc>
              <a:buNone/>
            </a:pPr>
            <a:r>
              <a:rPr lang="zh-CN" altLang="en-US" sz="14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确认上传 → 后端提取与临时索引</a:t>
            </a:r>
            <a:endParaRPr lang="zh-CN" sz="1400" dirty="0"/>
          </a:p>
          <a:p>
            <a:pPr algn="l" indent="0" marL="0">
              <a:lnSpc>
                <a:spcPct val="180000"/>
              </a:lnSpc>
              <a:buNone/>
            </a:pPr>
            <a:r>
              <a:rPr lang="zh-CN" altLang="en-US" sz="14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按任务选取文本片段</a:t>
            </a:r>
            <a:endParaRPr lang="zh-CN" sz="1400" dirty="0"/>
          </a:p>
        </p:txBody>
      </p:sp>
      <p:sp>
        <p:nvSpPr>
          <p:cNvPr id="28" name="shape-24"/>
          <p:cNvSpPr/>
          <p:nvPr/>
        </p:nvSpPr>
        <p:spPr>
          <a:xfrm>
            <a:off x="3227832" y="5129784"/>
            <a:ext cx="0" cy="329184"/>
          </a:xfrm>
          <a:prstGeom prst="line">
            <a:avLst/>
          </a:prstGeom>
          <a:noFill/>
          <a:ln w="15240">
            <a:solidFill>
              <a:srgbClr val="4D6BFE"/>
            </a:solidFill>
            <a:prstDash val="solid"/>
            <a:tailEnd type="triangle"/>
          </a:ln>
        </p:spPr>
      </p:sp>
      <p:sp>
        <p:nvSpPr>
          <p:cNvPr id="29" name="shape-25"/>
          <p:cNvSpPr/>
          <p:nvPr/>
        </p:nvSpPr>
        <p:spPr>
          <a:xfrm>
            <a:off x="8970264" y="5129784"/>
            <a:ext cx="0" cy="329184"/>
          </a:xfrm>
          <a:prstGeom prst="line">
            <a:avLst/>
          </a:prstGeom>
          <a:noFill/>
          <a:ln w="15240">
            <a:solidFill>
              <a:srgbClr val="4D6BFE"/>
            </a:solidFill>
            <a:prstDash val="solid"/>
            <a:tailEnd type="triangle"/>
          </a:ln>
        </p:spPr>
      </p:sp>
      <p:sp>
        <p:nvSpPr>
          <p:cNvPr id="30" name="shape-26"/>
          <p:cNvSpPr/>
          <p:nvPr/>
        </p:nvSpPr>
        <p:spPr>
          <a:xfrm>
            <a:off x="2295144" y="5586984"/>
            <a:ext cx="7616952" cy="512064"/>
          </a:xfrm>
          <a:prstGeom prst="roundRect">
            <a:avLst>
              <a:gd name="adj" fmla="val 23214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31" name="shape-27"/>
          <p:cNvSpPr txBox="1"/>
          <p:nvPr/>
        </p:nvSpPr>
        <p:spPr>
          <a:xfrm>
            <a:off x="2587752" y="5715000"/>
            <a:ext cx="70225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400" dirty="0">
                <a:solidFill>
                  <a:srgbClr val="1D5FD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本次相关片段  +  覆盖报告与警告</a:t>
            </a:r>
            <a:endParaRPr lang="zh-CN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 name="Slide 11">
    <p:bg>
      <p:bgPr>
        <a:gradFill rotWithShape="1">
          <a:gsLst>
            <a:gs pos="0">
              <a:srgbClr val="E8F0FB"/>
            </a:gs>
            <a:gs pos="50000">
              <a:srgbClr val="F7FAFF"/>
            </a:gs>
            <a:gs pos="100000">
              <a:srgbClr val="EEF3FD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lob-top"/>
          <p:cNvSpPr/>
          <p:nvPr/>
        </p:nvSpPr>
        <p:spPr>
          <a:xfrm>
            <a:off x="7772400" y="-1234440"/>
            <a:ext cx="5120640" cy="4389120"/>
          </a:xfrm>
          <a:prstGeom prst="ellipse">
            <a:avLst/>
          </a:prstGeom>
          <a:gradFill rotWithShape="1">
            <a:gsLst>
              <a:gs pos="0">
                <a:srgbClr val="C3D6FB">
                  <a:alpha val="55000"/>
                </a:srgbClr>
              </a:gs>
              <a:gs pos="50000">
                <a:srgbClr val="C3D6FB">
                  <a:alpha val="16000"/>
                </a:srgbClr>
              </a:gs>
              <a:gs pos="100000">
                <a:srgbClr val="C3D6F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12700">
            <a:solidFill>
              <a:srgbClr val="333333">
                <a:alpha val="0"/>
              </a:srgbClr>
            </a:solidFill>
            <a:prstDash val="solid"/>
          </a:ln>
          <a:effectLst>
            <a:softEdge rad="825500"/>
          </a:effectLst>
        </p:spPr>
      </p:sp>
      <p:sp>
        <p:nvSpPr>
          <p:cNvPr id="4" name="blob-bottom"/>
          <p:cNvSpPr/>
          <p:nvPr/>
        </p:nvSpPr>
        <p:spPr>
          <a:xfrm>
            <a:off x="-1188720" y="4251960"/>
            <a:ext cx="4389120" cy="4023360"/>
          </a:xfrm>
          <a:prstGeom prst="ellipse">
            <a:avLst/>
          </a:prstGeom>
          <a:gradFill rotWithShape="1">
            <a:gsLst>
              <a:gs pos="0">
                <a:srgbClr val="DCD0FB">
                  <a:alpha val="55000"/>
                </a:srgbClr>
              </a:gs>
              <a:gs pos="50000">
                <a:srgbClr val="DCD0FB">
                  <a:alpha val="16000"/>
                </a:srgbClr>
              </a:gs>
              <a:gs pos="100000">
                <a:srgbClr val="DCD0F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12700">
            <a:solidFill>
              <a:srgbClr val="333333">
                <a:alpha val="0"/>
              </a:srgbClr>
            </a:solidFill>
            <a:prstDash val="solid"/>
          </a:ln>
          <a:effectLst>
            <a:softEdge rad="825500"/>
          </a:effectLst>
        </p:spPr>
      </p:sp>
      <p:sp>
        <p:nvSpPr>
          <p:cNvPr id="5" name="shape-1"/>
          <p:cNvSpPr/>
          <p:nvPr/>
        </p:nvSpPr>
        <p:spPr>
          <a:xfrm>
            <a:off x="457200" y="393192"/>
            <a:ext cx="2651760" cy="320040"/>
          </a:xfrm>
          <a:prstGeom prst="roundRect">
            <a:avLst>
              <a:gd name="adj" fmla="val 48571"/>
            </a:avLst>
          </a:prstGeom>
          <a:solidFill>
            <a:srgbClr val="4D6BFE">
              <a:alpha val="10000"/>
            </a:srgbClr>
          </a:solidFill>
          <a:ln w="12700">
            <a:solidFill>
              <a:srgbClr val="4D6BFE">
                <a:alpha val="28000"/>
              </a:srgbClr>
            </a:solidFill>
            <a:prstDash val="solid"/>
          </a:ln>
        </p:spPr>
      </p:sp>
      <p:sp>
        <p:nvSpPr>
          <p:cNvPr id="6" name="shape-2"/>
          <p:cNvSpPr txBox="1"/>
          <p:nvPr/>
        </p:nvSpPr>
        <p:spPr>
          <a:xfrm>
            <a:off x="548640" y="425196"/>
            <a:ext cx="2468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spc="200" kern="0" dirty="0">
                <a:solidFill>
                  <a:srgbClr val="4D6BFE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SLIDE 11 · MATERIALS</a:t>
            </a:r>
            <a:endParaRPr lang="zh-CN" sz="1100" dirty="0"/>
          </a:p>
        </p:txBody>
      </p:sp>
      <p:sp>
        <p:nvSpPr>
          <p:cNvPr id="7" name="shape-3"/>
          <p:cNvSpPr txBox="1"/>
          <p:nvPr/>
        </p:nvSpPr>
        <p:spPr>
          <a:xfrm>
            <a:off x="10771632" y="6391656"/>
            <a:ext cx="9418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17</a:t>
            </a:r>
            <a:endParaRPr lang="zh-CN" sz="1200" dirty="0"/>
          </a:p>
        </p:txBody>
      </p:sp>
      <p:sp>
        <p:nvSpPr>
          <p:cNvPr id="8" name="shape-4"/>
          <p:cNvSpPr txBox="1"/>
          <p:nvPr/>
        </p:nvSpPr>
        <p:spPr>
          <a:xfrm>
            <a:off x="457200" y="978408"/>
            <a:ext cx="11173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zh-CN" altLang="en-US" sz="3200" b="1" dirty="0">
                <a:solidFill>
                  <a:srgbClr val="1C254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多种技术栈，多种资料入口</a:t>
            </a:r>
            <a:endParaRPr lang="zh-CN" sz="3200" dirty="0"/>
          </a:p>
        </p:txBody>
      </p:sp>
      <p:sp>
        <p:nvSpPr>
          <p:cNvPr id="9" name="shape-5"/>
          <p:cNvSpPr txBox="1"/>
          <p:nvPr/>
        </p:nvSpPr>
        <p:spPr>
          <a:xfrm>
            <a:off x="484632" y="1746504"/>
            <a:ext cx="110002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4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识别已有背景，帮助组织更贴近任务的提示词。</a:t>
            </a:r>
            <a:endParaRPr lang="zh-CN" sz="1400" dirty="0"/>
          </a:p>
        </p:txBody>
      </p:sp>
      <p:sp>
        <p:nvSpPr>
          <p:cNvPr id="10" name="shape-6"/>
          <p:cNvSpPr txBox="1"/>
          <p:nvPr/>
        </p:nvSpPr>
        <p:spPr>
          <a:xfrm>
            <a:off x="475488" y="6419088"/>
            <a:ext cx="877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zh-CN" altLang="en-US" sz="10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CHAPTER 06</a:t>
            </a:r>
            <a:endParaRPr lang="zh-CN" sz="1000" dirty="0"/>
          </a:p>
        </p:txBody>
      </p:sp>
      <p:sp>
        <p:nvSpPr>
          <p:cNvPr id="11" name="shape-7"/>
          <p:cNvSpPr/>
          <p:nvPr/>
        </p:nvSpPr>
        <p:spPr>
          <a:xfrm>
            <a:off x="512064" y="2450592"/>
            <a:ext cx="3474720" cy="3108960"/>
          </a:xfrm>
          <a:prstGeom prst="roundRect">
            <a:avLst>
              <a:gd name="adj" fmla="val 3824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12" name="shape-8"/>
          <p:cNvSpPr/>
          <p:nvPr/>
        </p:nvSpPr>
        <p:spPr>
          <a:xfrm>
            <a:off x="768096" y="2724912"/>
            <a:ext cx="438912" cy="438912"/>
          </a:xfrm>
          <a:prstGeom prst="roundRect">
            <a:avLst>
              <a:gd name="adj" fmla="val 18750"/>
            </a:avLst>
          </a:prstGeom>
          <a:gradFill rotWithShape="1">
            <a:gsLst>
              <a:gs pos="0">
                <a:srgbClr val="4D6BFE"/>
              </a:gs>
              <a:gs pos="100000">
                <a:srgbClr val="8A5CF6"/>
              </a:gs>
            </a:gsLst>
            <a:lin ang="270000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-9"/>
          <p:cNvSpPr/>
          <p:nvPr/>
        </p:nvSpPr>
        <p:spPr>
          <a:xfrm>
            <a:off x="921715" y="2830251"/>
            <a:ext cx="-92172" cy="114117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14" name="shape-10"/>
          <p:cNvSpPr/>
          <p:nvPr/>
        </p:nvSpPr>
        <p:spPr>
          <a:xfrm>
            <a:off x="829544" y="2944368"/>
            <a:ext cx="92172" cy="114117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15" name="shape-11"/>
          <p:cNvSpPr/>
          <p:nvPr/>
        </p:nvSpPr>
        <p:spPr>
          <a:xfrm>
            <a:off x="1053389" y="2830251"/>
            <a:ext cx="92172" cy="114117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16" name="shape-12"/>
          <p:cNvSpPr/>
          <p:nvPr/>
        </p:nvSpPr>
        <p:spPr>
          <a:xfrm>
            <a:off x="1145560" y="2944368"/>
            <a:ext cx="-92172" cy="114117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17" name="shape-13"/>
          <p:cNvSpPr/>
          <p:nvPr/>
        </p:nvSpPr>
        <p:spPr>
          <a:xfrm>
            <a:off x="1018276" y="2812694"/>
            <a:ext cx="-61448" cy="263347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18" name="shape-14"/>
          <p:cNvSpPr txBox="1"/>
          <p:nvPr/>
        </p:nvSpPr>
        <p:spPr>
          <a:xfrm>
            <a:off x="768096" y="3364992"/>
            <a:ext cx="296265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1500" b="1" dirty="0">
                <a:solidFill>
                  <a:srgbClr val="1C254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技术栈线索</a:t>
            </a:r>
            <a:endParaRPr lang="zh-CN" sz="1500" dirty="0"/>
          </a:p>
        </p:txBody>
      </p:sp>
      <p:sp>
        <p:nvSpPr>
          <p:cNvPr id="19" name="shape-15"/>
          <p:cNvSpPr txBox="1"/>
          <p:nvPr/>
        </p:nvSpPr>
        <p:spPr>
          <a:xfrm>
            <a:off x="768096" y="3895344"/>
            <a:ext cx="29626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Java / Spring Boot</a:t>
            </a:r>
            <a:endParaRPr lang="zh-CN" sz="12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Node.js / Vue / React</a:t>
            </a:r>
            <a:endParaRPr lang="zh-CN" sz="12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Python / Go / Rust 等</a:t>
            </a:r>
            <a:endParaRPr lang="zh-CN" sz="1200" dirty="0"/>
          </a:p>
        </p:txBody>
      </p:sp>
      <p:sp>
        <p:nvSpPr>
          <p:cNvPr id="20" name="shape-16"/>
          <p:cNvSpPr/>
          <p:nvPr/>
        </p:nvSpPr>
        <p:spPr>
          <a:xfrm>
            <a:off x="4370832" y="2450592"/>
            <a:ext cx="3474720" cy="3108960"/>
          </a:xfrm>
          <a:prstGeom prst="roundRect">
            <a:avLst>
              <a:gd name="adj" fmla="val 3824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21" name="shape-17"/>
          <p:cNvSpPr/>
          <p:nvPr/>
        </p:nvSpPr>
        <p:spPr>
          <a:xfrm>
            <a:off x="4626864" y="2724912"/>
            <a:ext cx="438912" cy="438912"/>
          </a:xfrm>
          <a:prstGeom prst="roundRect">
            <a:avLst>
              <a:gd name="adj" fmla="val 18750"/>
            </a:avLst>
          </a:prstGeom>
          <a:gradFill rotWithShape="1">
            <a:gsLst>
              <a:gs pos="0">
                <a:srgbClr val="4D6BFE"/>
              </a:gs>
              <a:gs pos="100000">
                <a:srgbClr val="8A5CF6"/>
              </a:gs>
            </a:gsLst>
            <a:lin ang="270000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-18"/>
          <p:cNvSpPr/>
          <p:nvPr/>
        </p:nvSpPr>
        <p:spPr>
          <a:xfrm>
            <a:off x="4736592" y="2834640"/>
            <a:ext cx="74615" cy="746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-19"/>
          <p:cNvSpPr/>
          <p:nvPr/>
        </p:nvSpPr>
        <p:spPr>
          <a:xfrm>
            <a:off x="4736592" y="2979481"/>
            <a:ext cx="74615" cy="746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-20"/>
          <p:cNvSpPr/>
          <p:nvPr/>
        </p:nvSpPr>
        <p:spPr>
          <a:xfrm>
            <a:off x="4881433" y="2834640"/>
            <a:ext cx="74615" cy="746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-21"/>
          <p:cNvSpPr/>
          <p:nvPr/>
        </p:nvSpPr>
        <p:spPr>
          <a:xfrm>
            <a:off x="4881433" y="2979481"/>
            <a:ext cx="74615" cy="746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-22"/>
          <p:cNvSpPr txBox="1"/>
          <p:nvPr/>
        </p:nvSpPr>
        <p:spPr>
          <a:xfrm>
            <a:off x="4626864" y="3364992"/>
            <a:ext cx="296265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1500" b="1" dirty="0">
                <a:solidFill>
                  <a:srgbClr val="1C254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工程依据</a:t>
            </a:r>
            <a:endParaRPr lang="zh-CN" sz="1500" dirty="0"/>
          </a:p>
        </p:txBody>
      </p:sp>
      <p:sp>
        <p:nvSpPr>
          <p:cNvPr id="27" name="shape-23"/>
          <p:cNvSpPr txBox="1"/>
          <p:nvPr/>
        </p:nvSpPr>
        <p:spPr>
          <a:xfrm>
            <a:off x="4626864" y="3895344"/>
            <a:ext cx="29626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依赖与配置</a:t>
            </a:r>
            <a:endParaRPr lang="zh-CN" sz="12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目录结构</a:t>
            </a:r>
            <a:endParaRPr lang="zh-CN" sz="12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相关代码片段</a:t>
            </a:r>
            <a:endParaRPr lang="zh-CN" sz="1200" dirty="0"/>
          </a:p>
        </p:txBody>
      </p:sp>
      <p:sp>
        <p:nvSpPr>
          <p:cNvPr id="28" name="shape-24"/>
          <p:cNvSpPr/>
          <p:nvPr/>
        </p:nvSpPr>
        <p:spPr>
          <a:xfrm>
            <a:off x="8229600" y="2450592"/>
            <a:ext cx="3474720" cy="3108960"/>
          </a:xfrm>
          <a:prstGeom prst="roundRect">
            <a:avLst>
              <a:gd name="adj" fmla="val 3824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29" name="shape-25"/>
          <p:cNvSpPr/>
          <p:nvPr/>
        </p:nvSpPr>
        <p:spPr>
          <a:xfrm>
            <a:off x="8485632" y="2724912"/>
            <a:ext cx="438912" cy="438912"/>
          </a:xfrm>
          <a:prstGeom prst="roundRect">
            <a:avLst>
              <a:gd name="adj" fmla="val 18750"/>
            </a:avLst>
          </a:prstGeom>
          <a:gradFill rotWithShape="1">
            <a:gsLst>
              <a:gs pos="0">
                <a:srgbClr val="4D6BFE"/>
              </a:gs>
              <a:gs pos="100000">
                <a:srgbClr val="8A5CF6"/>
              </a:gs>
            </a:gsLst>
            <a:lin ang="270000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-26"/>
          <p:cNvSpPr/>
          <p:nvPr/>
        </p:nvSpPr>
        <p:spPr>
          <a:xfrm>
            <a:off x="8599749" y="2795138"/>
            <a:ext cx="210678" cy="298460"/>
          </a:xfrm>
          <a:prstGeom prst="roundRect">
            <a:avLst>
              <a:gd name="adj" fmla="val 8681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-27"/>
          <p:cNvSpPr/>
          <p:nvPr/>
        </p:nvSpPr>
        <p:spPr>
          <a:xfrm>
            <a:off x="8648029" y="2882920"/>
            <a:ext cx="109728" cy="0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32" name="shape-28"/>
          <p:cNvSpPr/>
          <p:nvPr/>
        </p:nvSpPr>
        <p:spPr>
          <a:xfrm>
            <a:off x="8648029" y="2944368"/>
            <a:ext cx="109728" cy="0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33" name="shape-29"/>
          <p:cNvSpPr/>
          <p:nvPr/>
        </p:nvSpPr>
        <p:spPr>
          <a:xfrm>
            <a:off x="8648029" y="3005816"/>
            <a:ext cx="109728" cy="0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34" name="shape-30"/>
          <p:cNvSpPr txBox="1"/>
          <p:nvPr/>
        </p:nvSpPr>
        <p:spPr>
          <a:xfrm>
            <a:off x="8485632" y="3364992"/>
            <a:ext cx="296265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1500" b="1" dirty="0">
                <a:solidFill>
                  <a:srgbClr val="1C254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文档文本</a:t>
            </a:r>
            <a:endParaRPr lang="zh-CN" sz="1500" dirty="0"/>
          </a:p>
        </p:txBody>
      </p:sp>
      <p:sp>
        <p:nvSpPr>
          <p:cNvPr id="35" name="shape-31"/>
          <p:cNvSpPr txBox="1"/>
          <p:nvPr/>
        </p:nvSpPr>
        <p:spPr>
          <a:xfrm>
            <a:off x="8485632" y="3895344"/>
            <a:ext cx="29626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PDF 文字层</a:t>
            </a:r>
            <a:endParaRPr lang="zh-CN" sz="12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/ Excel</a:t>
            </a:r>
            <a:endParaRPr lang="zh-CN" sz="12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PowerPoint</a:t>
            </a:r>
            <a:endParaRPr lang="zh-CN" sz="1200" dirty="0"/>
          </a:p>
        </p:txBody>
      </p:sp>
      <p:sp>
        <p:nvSpPr>
          <p:cNvPr id="36" name="shape-32"/>
          <p:cNvSpPr/>
          <p:nvPr/>
        </p:nvSpPr>
        <p:spPr>
          <a:xfrm>
            <a:off x="585216" y="5934456"/>
            <a:ext cx="1371600" cy="320040"/>
          </a:xfrm>
          <a:prstGeom prst="roundRect">
            <a:avLst>
              <a:gd name="adj" fmla="val 48571"/>
            </a:avLst>
          </a:prstGeom>
          <a:solidFill>
            <a:srgbClr val="C2690A">
              <a:alpha val="10000"/>
            </a:srgbClr>
          </a:solidFill>
          <a:ln w="12700">
            <a:solidFill>
              <a:srgbClr val="C2690A">
                <a:alpha val="28000"/>
              </a:srgbClr>
            </a:solidFill>
            <a:prstDash val="solid"/>
          </a:ln>
        </p:spPr>
      </p:sp>
      <p:sp>
        <p:nvSpPr>
          <p:cNvPr id="37" name="shape-33"/>
          <p:cNvSpPr txBox="1"/>
          <p:nvPr/>
        </p:nvSpPr>
        <p:spPr>
          <a:xfrm>
            <a:off x="676656" y="5966460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dirty="0">
                <a:solidFill>
                  <a:srgbClr val="C2690A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当前边界</a:t>
            </a:r>
            <a:endParaRPr lang="zh-CN" sz="1100" dirty="0"/>
          </a:p>
        </p:txBody>
      </p:sp>
      <p:sp>
        <p:nvSpPr>
          <p:cNvPr id="38" name="shape-34"/>
          <p:cNvSpPr txBox="1"/>
          <p:nvPr/>
        </p:nvSpPr>
        <p:spPr>
          <a:xfrm>
            <a:off x="2194560" y="5943600"/>
            <a:ext cx="9326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3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无图片语义识别、扫描 PDF OCR 或自动代码执行。</a:t>
            </a:r>
            <a:endParaRPr lang="zh-CN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2">
    <p:bg>
      <p:bgPr>
        <a:gradFill rotWithShape="1">
          <a:gsLst>
            <a:gs pos="0">
              <a:srgbClr val="E8F0FB"/>
            </a:gs>
            <a:gs pos="50000">
              <a:srgbClr val="F7FAFF"/>
            </a:gs>
            <a:gs pos="100000">
              <a:srgbClr val="EEF3FD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lob-top"/>
          <p:cNvSpPr/>
          <p:nvPr/>
        </p:nvSpPr>
        <p:spPr>
          <a:xfrm>
            <a:off x="7772400" y="-1234440"/>
            <a:ext cx="5120640" cy="4389120"/>
          </a:xfrm>
          <a:prstGeom prst="ellipse">
            <a:avLst/>
          </a:prstGeom>
          <a:gradFill rotWithShape="1">
            <a:gsLst>
              <a:gs pos="0">
                <a:srgbClr val="C3D6FB">
                  <a:alpha val="55000"/>
                </a:srgbClr>
              </a:gs>
              <a:gs pos="50000">
                <a:srgbClr val="C3D6FB">
                  <a:alpha val="16000"/>
                </a:srgbClr>
              </a:gs>
              <a:gs pos="100000">
                <a:srgbClr val="C3D6F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12700">
            <a:solidFill>
              <a:srgbClr val="333333">
                <a:alpha val="0"/>
              </a:srgbClr>
            </a:solidFill>
            <a:prstDash val="solid"/>
          </a:ln>
          <a:effectLst>
            <a:softEdge rad="825500"/>
          </a:effectLst>
        </p:spPr>
      </p:sp>
      <p:sp>
        <p:nvSpPr>
          <p:cNvPr id="4" name="shape-1"/>
          <p:cNvSpPr/>
          <p:nvPr/>
        </p:nvSpPr>
        <p:spPr>
          <a:xfrm>
            <a:off x="457200" y="393192"/>
            <a:ext cx="2651760" cy="320040"/>
          </a:xfrm>
          <a:prstGeom prst="roundRect">
            <a:avLst>
              <a:gd name="adj" fmla="val 48571"/>
            </a:avLst>
          </a:prstGeom>
          <a:solidFill>
            <a:srgbClr val="4D6BFE">
              <a:alpha val="10000"/>
            </a:srgbClr>
          </a:solidFill>
          <a:ln w="12700">
            <a:solidFill>
              <a:srgbClr val="4D6BFE">
                <a:alpha val="28000"/>
              </a:srgbClr>
            </a:solidFill>
            <a:prstDash val="solid"/>
          </a:ln>
        </p:spPr>
      </p:sp>
      <p:sp>
        <p:nvSpPr>
          <p:cNvPr id="5" name="shape-2"/>
          <p:cNvSpPr txBox="1"/>
          <p:nvPr/>
        </p:nvSpPr>
        <p:spPr>
          <a:xfrm>
            <a:off x="548640" y="425196"/>
            <a:ext cx="2468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spc="200" kern="0" dirty="0">
                <a:solidFill>
                  <a:srgbClr val="4D6BFE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SLIDE 12 · WORKBENCH</a:t>
            </a:r>
            <a:endParaRPr lang="zh-CN" sz="1100" dirty="0"/>
          </a:p>
        </p:txBody>
      </p:sp>
      <p:sp>
        <p:nvSpPr>
          <p:cNvPr id="6" name="shape-3"/>
          <p:cNvSpPr txBox="1"/>
          <p:nvPr/>
        </p:nvSpPr>
        <p:spPr>
          <a:xfrm>
            <a:off x="10771632" y="6391656"/>
            <a:ext cx="9418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17</a:t>
            </a:r>
            <a:endParaRPr lang="zh-CN" sz="1200" dirty="0"/>
          </a:p>
        </p:txBody>
      </p:sp>
      <p:sp>
        <p:nvSpPr>
          <p:cNvPr id="7" name="shape-4"/>
          <p:cNvSpPr txBox="1"/>
          <p:nvPr/>
        </p:nvSpPr>
        <p:spPr>
          <a:xfrm>
            <a:off x="457200" y="978408"/>
            <a:ext cx="11173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zh-CN" altLang="en-US" sz="3200" b="1" dirty="0">
                <a:solidFill>
                  <a:srgbClr val="1C254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三栏工作台，一眼看清输入与结果</a:t>
            </a:r>
            <a:endParaRPr lang="zh-CN" sz="3200" dirty="0"/>
          </a:p>
        </p:txBody>
      </p:sp>
      <p:sp>
        <p:nvSpPr>
          <p:cNvPr id="8" name="shape-5"/>
          <p:cNvSpPr txBox="1"/>
          <p:nvPr/>
        </p:nvSpPr>
        <p:spPr>
          <a:xfrm>
            <a:off x="484632" y="1746504"/>
            <a:ext cx="110002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4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真实界面截图 · 示意样例数据 · 未调用真实模型</a:t>
            </a:r>
            <a:endParaRPr lang="zh-CN" sz="1400" dirty="0"/>
          </a:p>
        </p:txBody>
      </p:sp>
      <p:sp>
        <p:nvSpPr>
          <p:cNvPr id="9" name="shape-6"/>
          <p:cNvSpPr txBox="1"/>
          <p:nvPr/>
        </p:nvSpPr>
        <p:spPr>
          <a:xfrm>
            <a:off x="475488" y="6419088"/>
            <a:ext cx="877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zh-CN" altLang="en-US" sz="10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CHAPTER 07</a:t>
            </a:r>
            <a:endParaRPr lang="zh-CN" sz="1000" dirty="0"/>
          </a:p>
        </p:txBody>
      </p:sp>
      <p:sp>
        <p:nvSpPr>
          <p:cNvPr id="10" name="shape-7"/>
          <p:cNvSpPr/>
          <p:nvPr/>
        </p:nvSpPr>
        <p:spPr>
          <a:xfrm>
            <a:off x="1371600" y="2194560"/>
            <a:ext cx="9445752" cy="4005072"/>
          </a:xfrm>
          <a:prstGeom prst="roundRect">
            <a:avLst>
              <a:gd name="adj" fmla="val 2968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pic>
        <p:nvPicPr>
          <p:cNvPr id="11" name="shape-8" descr="当前工作台三栏界面，人工示意数据，全部业务请求已隔离，未调用真实模型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7904" y="2322576"/>
            <a:ext cx="9144000" cy="3752603"/>
          </a:xfrm>
          <a:prstGeom prst="rect">
            <a:avLst/>
          </a:prstGeom>
        </p:spPr>
      </p:pic>
      <p:sp>
        <p:nvSpPr>
          <p:cNvPr id="12" name="shape-9"/>
          <p:cNvSpPr txBox="1"/>
          <p:nvPr/>
        </p:nvSpPr>
        <p:spPr>
          <a:xfrm>
            <a:off x="1792224" y="6254496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4D6B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zh-CN" sz="1200" dirty="0"/>
          </a:p>
        </p:txBody>
      </p:sp>
      <p:sp>
        <p:nvSpPr>
          <p:cNvPr id="13" name="shape-10"/>
          <p:cNvSpPr txBox="1"/>
          <p:nvPr/>
        </p:nvSpPr>
        <p:spPr>
          <a:xfrm>
            <a:off x="2231136" y="6254496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上下文</a:t>
            </a:r>
            <a:endParaRPr lang="zh-CN" sz="1200" dirty="0"/>
          </a:p>
        </p:txBody>
      </p:sp>
      <p:sp>
        <p:nvSpPr>
          <p:cNvPr id="14" name="shape-11"/>
          <p:cNvSpPr txBox="1"/>
          <p:nvPr/>
        </p:nvSpPr>
        <p:spPr>
          <a:xfrm>
            <a:off x="4690872" y="6254496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4D6B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zh-CN" sz="1200" dirty="0"/>
          </a:p>
        </p:txBody>
      </p:sp>
      <p:sp>
        <p:nvSpPr>
          <p:cNvPr id="15" name="shape-12"/>
          <p:cNvSpPr txBox="1"/>
          <p:nvPr/>
        </p:nvSpPr>
        <p:spPr>
          <a:xfrm>
            <a:off x="5129784" y="6254496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原始提示词</a:t>
            </a:r>
            <a:endParaRPr lang="zh-CN" sz="1200" dirty="0"/>
          </a:p>
        </p:txBody>
      </p:sp>
      <p:sp>
        <p:nvSpPr>
          <p:cNvPr id="16" name="shape-13"/>
          <p:cNvSpPr txBox="1"/>
          <p:nvPr/>
        </p:nvSpPr>
        <p:spPr>
          <a:xfrm>
            <a:off x="8375904" y="6254496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4D6B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zh-CN" sz="1200" dirty="0"/>
          </a:p>
        </p:txBody>
      </p:sp>
      <p:sp>
        <p:nvSpPr>
          <p:cNvPr id="17" name="shape-14"/>
          <p:cNvSpPr txBox="1"/>
          <p:nvPr/>
        </p:nvSpPr>
        <p:spPr>
          <a:xfrm>
            <a:off x="8814816" y="6254496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审阅结果</a:t>
            </a:r>
            <a:endParaRPr lang="zh-CN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>
  <p:cSld name="Slide 13">
    <p:bg>
      <p:bgPr>
        <a:gradFill rotWithShape="1">
          <a:gsLst>
            <a:gs pos="0">
              <a:srgbClr val="E8F0FB"/>
            </a:gs>
            <a:gs pos="50000">
              <a:srgbClr val="F7FAFF"/>
            </a:gs>
            <a:gs pos="100000">
              <a:srgbClr val="EEF3FD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lob-top"/>
          <p:cNvSpPr/>
          <p:nvPr/>
        </p:nvSpPr>
        <p:spPr>
          <a:xfrm>
            <a:off x="7772400" y="-1234440"/>
            <a:ext cx="5120640" cy="4389120"/>
          </a:xfrm>
          <a:prstGeom prst="ellipse">
            <a:avLst/>
          </a:prstGeom>
          <a:gradFill rotWithShape="1">
            <a:gsLst>
              <a:gs pos="0">
                <a:srgbClr val="C3D6FB">
                  <a:alpha val="55000"/>
                </a:srgbClr>
              </a:gs>
              <a:gs pos="50000">
                <a:srgbClr val="C3D6FB">
                  <a:alpha val="16000"/>
                </a:srgbClr>
              </a:gs>
              <a:gs pos="100000">
                <a:srgbClr val="C3D6F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12700">
            <a:solidFill>
              <a:srgbClr val="333333">
                <a:alpha val="0"/>
              </a:srgbClr>
            </a:solidFill>
            <a:prstDash val="solid"/>
          </a:ln>
          <a:effectLst>
            <a:softEdge rad="825500"/>
          </a:effectLst>
        </p:spPr>
      </p:sp>
      <p:sp>
        <p:nvSpPr>
          <p:cNvPr id="4" name="blob-bottom"/>
          <p:cNvSpPr/>
          <p:nvPr/>
        </p:nvSpPr>
        <p:spPr>
          <a:xfrm>
            <a:off x="-1188720" y="4251960"/>
            <a:ext cx="4389120" cy="4023360"/>
          </a:xfrm>
          <a:prstGeom prst="ellipse">
            <a:avLst/>
          </a:prstGeom>
          <a:gradFill rotWithShape="1">
            <a:gsLst>
              <a:gs pos="0">
                <a:srgbClr val="DCD0FB">
                  <a:alpha val="55000"/>
                </a:srgbClr>
              </a:gs>
              <a:gs pos="50000">
                <a:srgbClr val="DCD0FB">
                  <a:alpha val="16000"/>
                </a:srgbClr>
              </a:gs>
              <a:gs pos="100000">
                <a:srgbClr val="DCD0F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12700">
            <a:solidFill>
              <a:srgbClr val="333333">
                <a:alpha val="0"/>
              </a:srgbClr>
            </a:solidFill>
            <a:prstDash val="solid"/>
          </a:ln>
          <a:effectLst>
            <a:softEdge rad="825500"/>
          </a:effectLst>
        </p:spPr>
      </p:sp>
      <p:sp>
        <p:nvSpPr>
          <p:cNvPr id="5" name="shape-1"/>
          <p:cNvSpPr/>
          <p:nvPr/>
        </p:nvSpPr>
        <p:spPr>
          <a:xfrm>
            <a:off x="457200" y="393192"/>
            <a:ext cx="2907792" cy="320040"/>
          </a:xfrm>
          <a:prstGeom prst="roundRect">
            <a:avLst>
              <a:gd name="adj" fmla="val 48571"/>
            </a:avLst>
          </a:prstGeom>
          <a:solidFill>
            <a:srgbClr val="4D6BFE">
              <a:alpha val="10000"/>
            </a:srgbClr>
          </a:solidFill>
          <a:ln w="12700">
            <a:solidFill>
              <a:srgbClr val="4D6BFE">
                <a:alpha val="28000"/>
              </a:srgbClr>
            </a:solidFill>
            <a:prstDash val="solid"/>
          </a:ln>
        </p:spPr>
      </p:sp>
      <p:sp>
        <p:nvSpPr>
          <p:cNvPr id="6" name="shape-2"/>
          <p:cNvSpPr txBox="1"/>
          <p:nvPr/>
        </p:nvSpPr>
        <p:spPr>
          <a:xfrm>
            <a:off x="548640" y="425196"/>
            <a:ext cx="2724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spc="200" kern="0" dirty="0">
                <a:solidFill>
                  <a:srgbClr val="4D6BFE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SLIDE 13 · DEMO SAMPLE</a:t>
            </a:r>
            <a:endParaRPr lang="zh-CN" sz="1100" dirty="0"/>
          </a:p>
        </p:txBody>
      </p:sp>
      <p:sp>
        <p:nvSpPr>
          <p:cNvPr id="7" name="shape-3"/>
          <p:cNvSpPr txBox="1"/>
          <p:nvPr/>
        </p:nvSpPr>
        <p:spPr>
          <a:xfrm>
            <a:off x="10771632" y="6391656"/>
            <a:ext cx="9418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17</a:t>
            </a:r>
            <a:endParaRPr lang="zh-CN" sz="1200" dirty="0"/>
          </a:p>
        </p:txBody>
      </p:sp>
      <p:sp>
        <p:nvSpPr>
          <p:cNvPr id="8" name="shape-4"/>
          <p:cNvSpPr txBox="1"/>
          <p:nvPr/>
        </p:nvSpPr>
        <p:spPr>
          <a:xfrm>
            <a:off x="457200" y="978408"/>
            <a:ext cx="11173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zh-CN" altLang="en-US" sz="3200" b="1" dirty="0">
                <a:solidFill>
                  <a:srgbClr val="1C254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把一句写作需求，变成可核对的任务</a:t>
            </a:r>
            <a:endParaRPr lang="zh-CN" sz="3200" dirty="0"/>
          </a:p>
        </p:txBody>
      </p:sp>
      <p:sp>
        <p:nvSpPr>
          <p:cNvPr id="9" name="shape-5"/>
          <p:cNvSpPr txBox="1"/>
          <p:nvPr/>
        </p:nvSpPr>
        <p:spPr>
          <a:xfrm>
            <a:off x="484632" y="1746504"/>
            <a:ext cx="110002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4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示意样例 · 人工编写 · 结构节选，不代表真实模型或客户成果</a:t>
            </a:r>
            <a:endParaRPr lang="zh-CN" sz="1400" dirty="0"/>
          </a:p>
        </p:txBody>
      </p:sp>
      <p:sp>
        <p:nvSpPr>
          <p:cNvPr id="10" name="shape-6"/>
          <p:cNvSpPr txBox="1"/>
          <p:nvPr/>
        </p:nvSpPr>
        <p:spPr>
          <a:xfrm>
            <a:off x="475488" y="6419088"/>
            <a:ext cx="877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zh-CN" altLang="en-US" sz="10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CHAPTER 07</a:t>
            </a:r>
            <a:endParaRPr lang="zh-CN" sz="1000" dirty="0"/>
          </a:p>
        </p:txBody>
      </p:sp>
      <p:sp>
        <p:nvSpPr>
          <p:cNvPr id="11" name="shape-7"/>
          <p:cNvSpPr/>
          <p:nvPr/>
        </p:nvSpPr>
        <p:spPr>
          <a:xfrm>
            <a:off x="530352" y="2441448"/>
            <a:ext cx="3685032" cy="3648456"/>
          </a:xfrm>
          <a:prstGeom prst="roundRect">
            <a:avLst>
              <a:gd name="adj" fmla="val 3258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12" name="shape-8"/>
          <p:cNvSpPr/>
          <p:nvPr/>
        </p:nvSpPr>
        <p:spPr>
          <a:xfrm>
            <a:off x="804672" y="2752344"/>
            <a:ext cx="1810512" cy="320040"/>
          </a:xfrm>
          <a:prstGeom prst="roundRect">
            <a:avLst>
              <a:gd name="adj" fmla="val 48571"/>
            </a:avLst>
          </a:prstGeom>
          <a:solidFill>
            <a:srgbClr val="1D5FD6">
              <a:alpha val="10000"/>
            </a:srgbClr>
          </a:solidFill>
          <a:ln w="12700">
            <a:solidFill>
              <a:srgbClr val="1D5FD6">
                <a:alpha val="28000"/>
              </a:srgbClr>
            </a:solidFill>
            <a:prstDash val="solid"/>
          </a:ln>
        </p:spPr>
      </p:sp>
      <p:sp>
        <p:nvSpPr>
          <p:cNvPr id="13" name="shape-9"/>
          <p:cNvSpPr txBox="1"/>
          <p:nvPr/>
        </p:nvSpPr>
        <p:spPr>
          <a:xfrm>
            <a:off x="896112" y="2784348"/>
            <a:ext cx="16276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dirty="0">
                <a:solidFill>
                  <a:srgbClr val="1D5FD6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原始提示词</a:t>
            </a:r>
            <a:endParaRPr lang="zh-CN" sz="1100" dirty="0"/>
          </a:p>
        </p:txBody>
      </p:sp>
      <p:sp>
        <p:nvSpPr>
          <p:cNvPr id="14" name="shape-10"/>
          <p:cNvSpPr txBox="1"/>
          <p:nvPr/>
        </p:nvSpPr>
        <p:spPr>
          <a:xfrm>
            <a:off x="804672" y="3438144"/>
            <a:ext cx="313639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80000"/>
              </a:lnSpc>
              <a:buNone/>
            </a:pPr>
            <a:r>
              <a:rPr lang="zh-CN" altLang="en-US" sz="16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根据活动资料，写一篇</a:t>
            </a:r>
            <a:endParaRPr lang="zh-CN" sz="1600" dirty="0"/>
          </a:p>
          <a:p>
            <a:pPr algn="l" indent="0" marL="0">
              <a:lnSpc>
                <a:spcPct val="180000"/>
              </a:lnSpc>
              <a:buNone/>
            </a:pPr>
            <a:r>
              <a:rPr lang="zh-CN" altLang="en-US" sz="16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面向初学者的公众号预告，</a:t>
            </a:r>
            <a:endParaRPr lang="zh-CN" sz="1600" dirty="0"/>
          </a:p>
          <a:p>
            <a:pPr algn="l" indent="0" marL="0">
              <a:lnSpc>
                <a:spcPct val="180000"/>
              </a:lnSpc>
              <a:buNone/>
            </a:pPr>
            <a:r>
              <a:rPr lang="zh-CN" altLang="en-US" sz="16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约 300 字，语气亲切。</a:t>
            </a:r>
            <a:endParaRPr lang="zh-CN" sz="1600" dirty="0"/>
          </a:p>
        </p:txBody>
      </p:sp>
      <p:sp>
        <p:nvSpPr>
          <p:cNvPr id="15" name="shape-11"/>
          <p:cNvSpPr txBox="1"/>
          <p:nvPr/>
        </p:nvSpPr>
        <p:spPr>
          <a:xfrm>
            <a:off x="813816" y="53035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材料：用户提供的活动资料</a:t>
            </a:r>
            <a:endParaRPr lang="zh-CN" sz="1200" dirty="0"/>
          </a:p>
        </p:txBody>
      </p:sp>
      <p:sp>
        <p:nvSpPr>
          <p:cNvPr id="16" name="shape-12"/>
          <p:cNvSpPr/>
          <p:nvPr/>
        </p:nvSpPr>
        <p:spPr>
          <a:xfrm>
            <a:off x="4416552" y="4215384"/>
            <a:ext cx="429768" cy="0"/>
          </a:xfrm>
          <a:prstGeom prst="line">
            <a:avLst/>
          </a:prstGeom>
          <a:noFill/>
          <a:ln w="20320">
            <a:solidFill>
              <a:srgbClr val="4D6BFE"/>
            </a:solidFill>
            <a:prstDash val="solid"/>
            <a:tailEnd type="triangle"/>
          </a:ln>
        </p:spPr>
      </p:sp>
      <p:sp>
        <p:nvSpPr>
          <p:cNvPr id="17" name="shape-13"/>
          <p:cNvSpPr/>
          <p:nvPr/>
        </p:nvSpPr>
        <p:spPr>
          <a:xfrm>
            <a:off x="5056632" y="2441448"/>
            <a:ext cx="6601968" cy="3648456"/>
          </a:xfrm>
          <a:prstGeom prst="roundRect">
            <a:avLst>
              <a:gd name="adj" fmla="val 3258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18" name="shape-14"/>
          <p:cNvSpPr txBox="1"/>
          <p:nvPr/>
        </p:nvSpPr>
        <p:spPr>
          <a:xfrm>
            <a:off x="5358384" y="2798064"/>
            <a:ext cx="136245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zh-CN" altLang="en-US" sz="1300" b="1" dirty="0">
                <a:solidFill>
                  <a:srgbClr val="4D6BF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背景</a:t>
            </a:r>
            <a:endParaRPr lang="zh-CN" sz="1300" dirty="0"/>
          </a:p>
        </p:txBody>
      </p:sp>
      <p:sp>
        <p:nvSpPr>
          <p:cNvPr id="19" name="shape-15"/>
          <p:cNvSpPr txBox="1"/>
          <p:nvPr/>
        </p:nvSpPr>
        <p:spPr>
          <a:xfrm>
            <a:off x="6885432" y="2798064"/>
            <a:ext cx="4453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zh-CN" altLang="en-US" sz="13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依据活动资料，面向初学者。</a:t>
            </a:r>
            <a:endParaRPr lang="zh-CN" sz="1300" dirty="0"/>
          </a:p>
        </p:txBody>
      </p:sp>
      <p:sp>
        <p:nvSpPr>
          <p:cNvPr id="20" name="shape-16"/>
          <p:cNvSpPr txBox="1"/>
          <p:nvPr/>
        </p:nvSpPr>
        <p:spPr>
          <a:xfrm>
            <a:off x="5358384" y="3529584"/>
            <a:ext cx="136245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zh-CN" altLang="en-US" sz="1300" b="1" dirty="0">
                <a:solidFill>
                  <a:srgbClr val="4D6BF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任务与输出</a:t>
            </a:r>
            <a:endParaRPr lang="zh-CN" sz="1300" dirty="0"/>
          </a:p>
        </p:txBody>
      </p:sp>
      <p:sp>
        <p:nvSpPr>
          <p:cNvPr id="21" name="shape-17"/>
          <p:cNvSpPr txBox="1"/>
          <p:nvPr/>
        </p:nvSpPr>
        <p:spPr>
          <a:xfrm>
            <a:off x="6885432" y="3529584"/>
            <a:ext cx="4453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zh-CN" altLang="en-US" sz="13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提炼主题与参与方式，约 300 字公众号预告，语气亲切。</a:t>
            </a:r>
            <a:endParaRPr lang="zh-CN" sz="1300" dirty="0"/>
          </a:p>
        </p:txBody>
      </p:sp>
      <p:sp>
        <p:nvSpPr>
          <p:cNvPr id="22" name="shape-18"/>
          <p:cNvSpPr txBox="1"/>
          <p:nvPr/>
        </p:nvSpPr>
        <p:spPr>
          <a:xfrm>
            <a:off x="5358384" y="4261104"/>
            <a:ext cx="136245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zh-CN" altLang="en-US" sz="1300" b="1" dirty="0">
                <a:solidFill>
                  <a:srgbClr val="4D6BF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约束</a:t>
            </a:r>
            <a:endParaRPr lang="zh-CN" sz="1300" dirty="0"/>
          </a:p>
        </p:txBody>
      </p:sp>
      <p:sp>
        <p:nvSpPr>
          <p:cNvPr id="23" name="shape-19"/>
          <p:cNvSpPr txBox="1"/>
          <p:nvPr/>
        </p:nvSpPr>
        <p:spPr>
          <a:xfrm>
            <a:off x="6885432" y="4261104"/>
            <a:ext cx="4453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zh-CN" altLang="en-US" sz="13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仅使用可核实事实，不编造时间、费用或讲师经历。</a:t>
            </a:r>
            <a:endParaRPr lang="zh-CN" sz="1300" dirty="0"/>
          </a:p>
        </p:txBody>
      </p:sp>
      <p:sp>
        <p:nvSpPr>
          <p:cNvPr id="24" name="shape-20"/>
          <p:cNvSpPr txBox="1"/>
          <p:nvPr/>
        </p:nvSpPr>
        <p:spPr>
          <a:xfrm>
            <a:off x="5358384" y="4992624"/>
            <a:ext cx="136245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zh-CN" altLang="en-US" sz="1300" b="1" dirty="0">
                <a:solidFill>
                  <a:srgbClr val="C2690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发布前确认</a:t>
            </a:r>
            <a:endParaRPr lang="zh-CN" sz="1300" dirty="0"/>
          </a:p>
        </p:txBody>
      </p:sp>
      <p:sp>
        <p:nvSpPr>
          <p:cNvPr id="25" name="shape-21"/>
          <p:cNvSpPr txBox="1"/>
          <p:nvPr/>
        </p:nvSpPr>
        <p:spPr>
          <a:xfrm>
            <a:off x="6885432" y="4992624"/>
            <a:ext cx="4453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zh-CN" altLang="en-US" sz="13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报名方式缺失时，先补充并核对。</a:t>
            </a:r>
            <a:endParaRPr lang="zh-CN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>
  <p:cSld name="Slide 14">
    <p:bg>
      <p:bgPr>
        <a:gradFill rotWithShape="1">
          <a:gsLst>
            <a:gs pos="0">
              <a:srgbClr val="E8F0FB"/>
            </a:gs>
            <a:gs pos="50000">
              <a:srgbClr val="F7FAFF"/>
            </a:gs>
            <a:gs pos="100000">
              <a:srgbClr val="EEF3FD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lob-top"/>
          <p:cNvSpPr/>
          <p:nvPr/>
        </p:nvSpPr>
        <p:spPr>
          <a:xfrm>
            <a:off x="7772400" y="-1234440"/>
            <a:ext cx="5120640" cy="4389120"/>
          </a:xfrm>
          <a:prstGeom prst="ellipse">
            <a:avLst/>
          </a:prstGeom>
          <a:gradFill rotWithShape="1">
            <a:gsLst>
              <a:gs pos="0">
                <a:srgbClr val="C3D6FB">
                  <a:alpha val="55000"/>
                </a:srgbClr>
              </a:gs>
              <a:gs pos="50000">
                <a:srgbClr val="C3D6FB">
                  <a:alpha val="16000"/>
                </a:srgbClr>
              </a:gs>
              <a:gs pos="100000">
                <a:srgbClr val="C3D6F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12700">
            <a:solidFill>
              <a:srgbClr val="333333">
                <a:alpha val="0"/>
              </a:srgbClr>
            </a:solidFill>
            <a:prstDash val="solid"/>
          </a:ln>
          <a:effectLst>
            <a:softEdge rad="825500"/>
          </a:effectLst>
        </p:spPr>
      </p:sp>
      <p:sp>
        <p:nvSpPr>
          <p:cNvPr id="4" name="blob-bottom"/>
          <p:cNvSpPr/>
          <p:nvPr/>
        </p:nvSpPr>
        <p:spPr>
          <a:xfrm>
            <a:off x="-1188720" y="4251960"/>
            <a:ext cx="4389120" cy="4023360"/>
          </a:xfrm>
          <a:prstGeom prst="ellipse">
            <a:avLst/>
          </a:prstGeom>
          <a:gradFill rotWithShape="1">
            <a:gsLst>
              <a:gs pos="0">
                <a:srgbClr val="C9E8F6">
                  <a:alpha val="55000"/>
                </a:srgbClr>
              </a:gs>
              <a:gs pos="50000">
                <a:srgbClr val="C9E8F6">
                  <a:alpha val="16000"/>
                </a:srgbClr>
              </a:gs>
              <a:gs pos="100000">
                <a:srgbClr val="C9E8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12700">
            <a:solidFill>
              <a:srgbClr val="333333">
                <a:alpha val="0"/>
              </a:srgbClr>
            </a:solidFill>
            <a:prstDash val="solid"/>
          </a:ln>
          <a:effectLst>
            <a:softEdge rad="825500"/>
          </a:effectLst>
        </p:spPr>
      </p:sp>
      <p:sp>
        <p:nvSpPr>
          <p:cNvPr id="5" name="shape-1"/>
          <p:cNvSpPr/>
          <p:nvPr/>
        </p:nvSpPr>
        <p:spPr>
          <a:xfrm>
            <a:off x="457200" y="393192"/>
            <a:ext cx="3035808" cy="320040"/>
          </a:xfrm>
          <a:prstGeom prst="roundRect">
            <a:avLst>
              <a:gd name="adj" fmla="val 48571"/>
            </a:avLst>
          </a:prstGeom>
          <a:solidFill>
            <a:srgbClr val="4D6BFE">
              <a:alpha val="10000"/>
            </a:srgbClr>
          </a:solidFill>
          <a:ln w="12700">
            <a:solidFill>
              <a:srgbClr val="4D6BFE">
                <a:alpha val="28000"/>
              </a:srgbClr>
            </a:solidFill>
            <a:prstDash val="solid"/>
          </a:ln>
        </p:spPr>
      </p:sp>
      <p:sp>
        <p:nvSpPr>
          <p:cNvPr id="6" name="shape-2"/>
          <p:cNvSpPr txBox="1"/>
          <p:nvPr/>
        </p:nvSpPr>
        <p:spPr>
          <a:xfrm>
            <a:off x="548640" y="425196"/>
            <a:ext cx="28529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spc="200" kern="0" dirty="0">
                <a:solidFill>
                  <a:srgbClr val="4D6BFE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SLIDE 14 · ARCHITECTURE</a:t>
            </a:r>
            <a:endParaRPr lang="zh-CN" sz="1100" dirty="0"/>
          </a:p>
        </p:txBody>
      </p:sp>
      <p:sp>
        <p:nvSpPr>
          <p:cNvPr id="7" name="shape-3"/>
          <p:cNvSpPr txBox="1"/>
          <p:nvPr/>
        </p:nvSpPr>
        <p:spPr>
          <a:xfrm>
            <a:off x="10771632" y="6391656"/>
            <a:ext cx="9418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17</a:t>
            </a:r>
            <a:endParaRPr lang="zh-CN" sz="1200" dirty="0"/>
          </a:p>
        </p:txBody>
      </p:sp>
      <p:sp>
        <p:nvSpPr>
          <p:cNvPr id="8" name="shape-4"/>
          <p:cNvSpPr txBox="1"/>
          <p:nvPr/>
        </p:nvSpPr>
        <p:spPr>
          <a:xfrm>
            <a:off x="457200" y="978408"/>
            <a:ext cx="11173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zh-CN" altLang="en-US" sz="3200" b="1" dirty="0">
                <a:solidFill>
                  <a:srgbClr val="1C254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技术各司其职，让过程更可控</a:t>
            </a:r>
            <a:endParaRPr lang="zh-CN" sz="3200" dirty="0"/>
          </a:p>
        </p:txBody>
      </p:sp>
      <p:sp>
        <p:nvSpPr>
          <p:cNvPr id="9" name="shape-5"/>
          <p:cNvSpPr txBox="1"/>
          <p:nvPr/>
        </p:nvSpPr>
        <p:spPr>
          <a:xfrm>
            <a:off x="484632" y="1746504"/>
            <a:ext cx="110002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4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一张架构图：材料、生成、记录与模型接入分别负责什么。</a:t>
            </a:r>
            <a:endParaRPr lang="zh-CN" sz="1400" dirty="0"/>
          </a:p>
        </p:txBody>
      </p:sp>
      <p:sp>
        <p:nvSpPr>
          <p:cNvPr id="10" name="shape-6"/>
          <p:cNvSpPr txBox="1"/>
          <p:nvPr/>
        </p:nvSpPr>
        <p:spPr>
          <a:xfrm>
            <a:off x="475488" y="6419088"/>
            <a:ext cx="877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zh-CN" altLang="en-US" sz="10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CHAPTER 08</a:t>
            </a:r>
            <a:endParaRPr lang="zh-CN" sz="1000" dirty="0"/>
          </a:p>
        </p:txBody>
      </p:sp>
      <p:sp>
        <p:nvSpPr>
          <p:cNvPr id="11" name="shape-7"/>
          <p:cNvSpPr/>
          <p:nvPr/>
        </p:nvSpPr>
        <p:spPr>
          <a:xfrm>
            <a:off x="548640" y="2414016"/>
            <a:ext cx="8129016" cy="685800"/>
          </a:xfrm>
          <a:prstGeom prst="roundRect">
            <a:avLst>
              <a:gd name="adj" fmla="val 17333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12" name="shape-8"/>
          <p:cNvSpPr txBox="1"/>
          <p:nvPr/>
        </p:nvSpPr>
        <p:spPr>
          <a:xfrm>
            <a:off x="813816" y="256946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500" b="1" dirty="0">
                <a:solidFill>
                  <a:srgbClr val="1C254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浏览器工作台</a:t>
            </a:r>
            <a:endParaRPr lang="zh-CN" sz="1500" dirty="0"/>
          </a:p>
        </p:txBody>
      </p:sp>
      <p:sp>
        <p:nvSpPr>
          <p:cNvPr id="13" name="shape-9"/>
          <p:cNvSpPr txBox="1"/>
          <p:nvPr/>
        </p:nvSpPr>
        <p:spPr>
          <a:xfrm>
            <a:off x="2916936" y="2633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Vue 3 · TypeScript · Element Plus · Pinia · Worker</a:t>
            </a:r>
            <a:endParaRPr lang="zh-CN" sz="1200" dirty="0"/>
          </a:p>
        </p:txBody>
      </p:sp>
      <p:sp>
        <p:nvSpPr>
          <p:cNvPr id="14" name="shape-10"/>
          <p:cNvSpPr/>
          <p:nvPr/>
        </p:nvSpPr>
        <p:spPr>
          <a:xfrm>
            <a:off x="4572000" y="3163824"/>
            <a:ext cx="0" cy="320040"/>
          </a:xfrm>
          <a:prstGeom prst="line">
            <a:avLst/>
          </a:prstGeom>
          <a:noFill/>
          <a:ln w="15240">
            <a:solidFill>
              <a:srgbClr val="4D6BFE"/>
            </a:solidFill>
            <a:prstDash val="solid"/>
            <a:tailEnd type="triangle"/>
          </a:ln>
        </p:spPr>
      </p:sp>
      <p:sp>
        <p:nvSpPr>
          <p:cNvPr id="15" name="shape-11"/>
          <p:cNvSpPr txBox="1"/>
          <p:nvPr/>
        </p:nvSpPr>
        <p:spPr>
          <a:xfrm>
            <a:off x="4800600" y="3182112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zh-CN" altLang="en-US" sz="1100" dirty="0">
                <a:solidFill>
                  <a:srgbClr val="6B7A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</a:t>
            </a:r>
            <a:endParaRPr lang="zh-CN" sz="1100" dirty="0"/>
          </a:p>
        </p:txBody>
      </p:sp>
      <p:sp>
        <p:nvSpPr>
          <p:cNvPr id="16" name="shape-12"/>
          <p:cNvSpPr/>
          <p:nvPr/>
        </p:nvSpPr>
        <p:spPr>
          <a:xfrm>
            <a:off x="548640" y="3611880"/>
            <a:ext cx="8129016" cy="1408176"/>
          </a:xfrm>
          <a:prstGeom prst="roundRect">
            <a:avLst>
              <a:gd name="adj" fmla="val 8442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17" name="shape-13"/>
          <p:cNvSpPr txBox="1"/>
          <p:nvPr/>
        </p:nvSpPr>
        <p:spPr>
          <a:xfrm>
            <a:off x="822960" y="3785616"/>
            <a:ext cx="75163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400" b="1" dirty="0">
                <a:solidFill>
                  <a:srgbClr val="1C254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Java 21 + Spring Boot 3  ·  模块化单体</a:t>
            </a:r>
            <a:endParaRPr lang="zh-CN" sz="1400" dirty="0"/>
          </a:p>
        </p:txBody>
      </p:sp>
      <p:sp>
        <p:nvSpPr>
          <p:cNvPr id="18" name="shape-14"/>
          <p:cNvSpPr/>
          <p:nvPr/>
        </p:nvSpPr>
        <p:spPr>
          <a:xfrm>
            <a:off x="813816" y="4224528"/>
            <a:ext cx="1188720" cy="530352"/>
          </a:xfrm>
          <a:prstGeom prst="roundRect">
            <a:avLst>
              <a:gd name="adj" fmla="val 15517"/>
            </a:avLst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5000"/>
              </a:srgbClr>
            </a:solidFill>
            <a:prstDash val="solid"/>
          </a:ln>
        </p:spPr>
      </p:sp>
      <p:sp>
        <p:nvSpPr>
          <p:cNvPr id="19" name="shape-15"/>
          <p:cNvSpPr txBox="1"/>
          <p:nvPr/>
        </p:nvSpPr>
        <p:spPr>
          <a:xfrm>
            <a:off x="859536" y="4325112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000" dirty="0">
                <a:solidFill>
                  <a:srgbClr val="4D6B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enhancement</a:t>
            </a:r>
            <a:endParaRPr lang="zh-CN" sz="1000" dirty="0"/>
          </a:p>
        </p:txBody>
      </p:sp>
      <p:sp>
        <p:nvSpPr>
          <p:cNvPr id="20" name="shape-16"/>
          <p:cNvSpPr txBox="1"/>
          <p:nvPr/>
        </p:nvSpPr>
        <p:spPr>
          <a:xfrm>
            <a:off x="850392" y="4553712"/>
            <a:ext cx="11155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增强编排</a:t>
            </a:r>
            <a:endParaRPr lang="zh-CN" sz="1200" dirty="0"/>
          </a:p>
        </p:txBody>
      </p:sp>
      <p:sp>
        <p:nvSpPr>
          <p:cNvPr id="21" name="shape-17"/>
          <p:cNvSpPr/>
          <p:nvPr/>
        </p:nvSpPr>
        <p:spPr>
          <a:xfrm>
            <a:off x="2103120" y="4224528"/>
            <a:ext cx="1188720" cy="530352"/>
          </a:xfrm>
          <a:prstGeom prst="roundRect">
            <a:avLst>
              <a:gd name="adj" fmla="val 15517"/>
            </a:avLst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5000"/>
              </a:srgbClr>
            </a:solidFill>
            <a:prstDash val="solid"/>
          </a:ln>
        </p:spPr>
      </p:sp>
      <p:sp>
        <p:nvSpPr>
          <p:cNvPr id="22" name="shape-18"/>
          <p:cNvSpPr txBox="1"/>
          <p:nvPr/>
        </p:nvSpPr>
        <p:spPr>
          <a:xfrm>
            <a:off x="2148840" y="4325112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000" dirty="0">
                <a:solidFill>
                  <a:srgbClr val="4D6B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</a:t>
            </a:r>
            <a:endParaRPr lang="zh-CN" sz="1000" dirty="0"/>
          </a:p>
        </p:txBody>
      </p:sp>
      <p:sp>
        <p:nvSpPr>
          <p:cNvPr id="23" name="shape-19"/>
          <p:cNvSpPr txBox="1"/>
          <p:nvPr/>
        </p:nvSpPr>
        <p:spPr>
          <a:xfrm>
            <a:off x="2139696" y="4553712"/>
            <a:ext cx="11155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上下文</a:t>
            </a:r>
            <a:endParaRPr lang="zh-CN" sz="1200" dirty="0"/>
          </a:p>
        </p:txBody>
      </p:sp>
      <p:sp>
        <p:nvSpPr>
          <p:cNvPr id="24" name="shape-20"/>
          <p:cNvSpPr/>
          <p:nvPr/>
        </p:nvSpPr>
        <p:spPr>
          <a:xfrm>
            <a:off x="3392424" y="4224528"/>
            <a:ext cx="1188720" cy="530352"/>
          </a:xfrm>
          <a:prstGeom prst="roundRect">
            <a:avLst>
              <a:gd name="adj" fmla="val 15517"/>
            </a:avLst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5000"/>
              </a:srgbClr>
            </a:solidFill>
            <a:prstDash val="solid"/>
          </a:ln>
        </p:spPr>
      </p:sp>
      <p:sp>
        <p:nvSpPr>
          <p:cNvPr id="25" name="shape-21"/>
          <p:cNvSpPr txBox="1"/>
          <p:nvPr/>
        </p:nvSpPr>
        <p:spPr>
          <a:xfrm>
            <a:off x="3438144" y="4325112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000" dirty="0">
                <a:solidFill>
                  <a:srgbClr val="4D6B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policy</a:t>
            </a:r>
            <a:endParaRPr lang="zh-CN" sz="1000" dirty="0"/>
          </a:p>
        </p:txBody>
      </p:sp>
      <p:sp>
        <p:nvSpPr>
          <p:cNvPr id="26" name="shape-22"/>
          <p:cNvSpPr txBox="1"/>
          <p:nvPr/>
        </p:nvSpPr>
        <p:spPr>
          <a:xfrm>
            <a:off x="3429000" y="4553712"/>
            <a:ext cx="11155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权限红线</a:t>
            </a:r>
            <a:endParaRPr lang="zh-CN" sz="1200" dirty="0"/>
          </a:p>
        </p:txBody>
      </p:sp>
      <p:sp>
        <p:nvSpPr>
          <p:cNvPr id="27" name="shape-23"/>
          <p:cNvSpPr/>
          <p:nvPr/>
        </p:nvSpPr>
        <p:spPr>
          <a:xfrm>
            <a:off x="4681728" y="4224528"/>
            <a:ext cx="1188720" cy="530352"/>
          </a:xfrm>
          <a:prstGeom prst="roundRect">
            <a:avLst>
              <a:gd name="adj" fmla="val 15517"/>
            </a:avLst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5000"/>
              </a:srgbClr>
            </a:solidFill>
            <a:prstDash val="solid"/>
          </a:ln>
        </p:spPr>
      </p:sp>
      <p:sp>
        <p:nvSpPr>
          <p:cNvPr id="28" name="shape-24"/>
          <p:cNvSpPr txBox="1"/>
          <p:nvPr/>
        </p:nvSpPr>
        <p:spPr>
          <a:xfrm>
            <a:off x="4727448" y="4325112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000" dirty="0">
                <a:solidFill>
                  <a:srgbClr val="4D6B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</a:t>
            </a:r>
            <a:endParaRPr lang="zh-CN" sz="1000" dirty="0"/>
          </a:p>
        </p:txBody>
      </p:sp>
      <p:sp>
        <p:nvSpPr>
          <p:cNvPr id="29" name="shape-25"/>
          <p:cNvSpPr txBox="1"/>
          <p:nvPr/>
        </p:nvSpPr>
        <p:spPr>
          <a:xfrm>
            <a:off x="4718304" y="4553712"/>
            <a:ext cx="11155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模型调用</a:t>
            </a:r>
            <a:endParaRPr lang="zh-CN" sz="1200" dirty="0"/>
          </a:p>
        </p:txBody>
      </p:sp>
      <p:sp>
        <p:nvSpPr>
          <p:cNvPr id="30" name="shape-26"/>
          <p:cNvSpPr/>
          <p:nvPr/>
        </p:nvSpPr>
        <p:spPr>
          <a:xfrm>
            <a:off x="5971032" y="4224528"/>
            <a:ext cx="1188720" cy="530352"/>
          </a:xfrm>
          <a:prstGeom prst="roundRect">
            <a:avLst>
              <a:gd name="adj" fmla="val 15517"/>
            </a:avLst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5000"/>
              </a:srgbClr>
            </a:solidFill>
            <a:prstDash val="solid"/>
          </a:ln>
        </p:spPr>
      </p:sp>
      <p:sp>
        <p:nvSpPr>
          <p:cNvPr id="31" name="shape-27"/>
          <p:cNvSpPr txBox="1"/>
          <p:nvPr/>
        </p:nvSpPr>
        <p:spPr>
          <a:xfrm>
            <a:off x="6016752" y="4325112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000" dirty="0">
                <a:solidFill>
                  <a:srgbClr val="4D6B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history</a:t>
            </a:r>
            <a:endParaRPr lang="zh-CN" sz="1000" dirty="0"/>
          </a:p>
        </p:txBody>
      </p:sp>
      <p:sp>
        <p:nvSpPr>
          <p:cNvPr id="32" name="shape-28"/>
          <p:cNvSpPr txBox="1"/>
          <p:nvPr/>
        </p:nvSpPr>
        <p:spPr>
          <a:xfrm>
            <a:off x="6007608" y="4553712"/>
            <a:ext cx="11155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优化记录</a:t>
            </a:r>
            <a:endParaRPr lang="zh-CN" sz="1200" dirty="0"/>
          </a:p>
        </p:txBody>
      </p:sp>
      <p:sp>
        <p:nvSpPr>
          <p:cNvPr id="33" name="shape-29"/>
          <p:cNvSpPr/>
          <p:nvPr/>
        </p:nvSpPr>
        <p:spPr>
          <a:xfrm>
            <a:off x="7260336" y="4224528"/>
            <a:ext cx="1188720" cy="530352"/>
          </a:xfrm>
          <a:prstGeom prst="roundRect">
            <a:avLst>
              <a:gd name="adj" fmla="val 15517"/>
            </a:avLst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5000"/>
              </a:srgbClr>
            </a:solidFill>
            <a:prstDash val="solid"/>
          </a:ln>
        </p:spPr>
      </p:sp>
      <p:sp>
        <p:nvSpPr>
          <p:cNvPr id="34" name="shape-30"/>
          <p:cNvSpPr txBox="1"/>
          <p:nvPr/>
        </p:nvSpPr>
        <p:spPr>
          <a:xfrm>
            <a:off x="7306056" y="4325112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000" dirty="0">
                <a:solidFill>
                  <a:srgbClr val="4D6B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identity</a:t>
            </a:r>
            <a:endParaRPr lang="zh-CN" sz="1000" dirty="0"/>
          </a:p>
        </p:txBody>
      </p:sp>
      <p:sp>
        <p:nvSpPr>
          <p:cNvPr id="35" name="shape-31"/>
          <p:cNvSpPr txBox="1"/>
          <p:nvPr/>
        </p:nvSpPr>
        <p:spPr>
          <a:xfrm>
            <a:off x="7296912" y="4553712"/>
            <a:ext cx="11155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身份范围</a:t>
            </a:r>
            <a:endParaRPr lang="zh-CN" sz="1200" dirty="0"/>
          </a:p>
        </p:txBody>
      </p:sp>
      <p:sp>
        <p:nvSpPr>
          <p:cNvPr id="36" name="shape-32"/>
          <p:cNvSpPr/>
          <p:nvPr/>
        </p:nvSpPr>
        <p:spPr>
          <a:xfrm>
            <a:off x="2532888" y="5138928"/>
            <a:ext cx="0" cy="283464"/>
          </a:xfrm>
          <a:prstGeom prst="line">
            <a:avLst/>
          </a:prstGeom>
          <a:noFill/>
          <a:ln w="19050">
            <a:solidFill>
              <a:srgbClr val="4D6BFE"/>
            </a:solidFill>
            <a:prstDash val="solid"/>
            <a:tailEnd type="triangle"/>
          </a:ln>
        </p:spPr>
      </p:sp>
      <p:sp>
        <p:nvSpPr>
          <p:cNvPr id="37" name="shape-33"/>
          <p:cNvSpPr/>
          <p:nvPr/>
        </p:nvSpPr>
        <p:spPr>
          <a:xfrm>
            <a:off x="6592824" y="5138928"/>
            <a:ext cx="0" cy="283464"/>
          </a:xfrm>
          <a:prstGeom prst="line">
            <a:avLst/>
          </a:prstGeom>
          <a:noFill/>
          <a:ln w="19050">
            <a:solidFill>
              <a:srgbClr val="4D6BFE"/>
            </a:solidFill>
            <a:prstDash val="solid"/>
            <a:tailEnd type="triangle"/>
          </a:ln>
        </p:spPr>
      </p:sp>
      <p:sp>
        <p:nvSpPr>
          <p:cNvPr id="38" name="shape-34"/>
          <p:cNvSpPr/>
          <p:nvPr/>
        </p:nvSpPr>
        <p:spPr>
          <a:xfrm>
            <a:off x="548640" y="5550408"/>
            <a:ext cx="3895344" cy="512064"/>
          </a:xfrm>
          <a:prstGeom prst="roundRect">
            <a:avLst>
              <a:gd name="adj" fmla="val 23214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39" name="shape-35"/>
          <p:cNvSpPr txBox="1"/>
          <p:nvPr/>
        </p:nvSpPr>
        <p:spPr>
          <a:xfrm>
            <a:off x="795528" y="5696712"/>
            <a:ext cx="34015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PostgreSQL 16  ·  业务记录</a:t>
            </a:r>
            <a:endParaRPr lang="zh-CN" sz="1200" dirty="0"/>
          </a:p>
        </p:txBody>
      </p:sp>
      <p:sp>
        <p:nvSpPr>
          <p:cNvPr id="40" name="shape-36"/>
          <p:cNvSpPr/>
          <p:nvPr/>
        </p:nvSpPr>
        <p:spPr>
          <a:xfrm>
            <a:off x="4736592" y="5550408"/>
            <a:ext cx="3941064" cy="512064"/>
          </a:xfrm>
          <a:prstGeom prst="roundRect">
            <a:avLst>
              <a:gd name="adj" fmla="val 23214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41" name="shape-37"/>
          <p:cNvSpPr txBox="1"/>
          <p:nvPr/>
        </p:nvSpPr>
        <p:spPr>
          <a:xfrm>
            <a:off x="4974336" y="5696712"/>
            <a:ext cx="34564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Redis 7  ·  短时状态 / 并发</a:t>
            </a:r>
            <a:endParaRPr lang="zh-CN" sz="1200" dirty="0"/>
          </a:p>
        </p:txBody>
      </p:sp>
      <p:sp>
        <p:nvSpPr>
          <p:cNvPr id="42" name="shape-38"/>
          <p:cNvSpPr/>
          <p:nvPr/>
        </p:nvSpPr>
        <p:spPr>
          <a:xfrm>
            <a:off x="9244584" y="2414016"/>
            <a:ext cx="2377440" cy="3648456"/>
          </a:xfrm>
          <a:prstGeom prst="roundRect">
            <a:avLst>
              <a:gd name="adj" fmla="val 5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43" name="shape-39"/>
          <p:cNvSpPr/>
          <p:nvPr/>
        </p:nvSpPr>
        <p:spPr>
          <a:xfrm>
            <a:off x="9555480" y="2734056"/>
            <a:ext cx="438912" cy="438912"/>
          </a:xfrm>
          <a:prstGeom prst="roundRect">
            <a:avLst>
              <a:gd name="adj" fmla="val 18750"/>
            </a:avLst>
          </a:prstGeom>
          <a:gradFill rotWithShape="1">
            <a:gsLst>
              <a:gs pos="0">
                <a:srgbClr val="4D6BFE"/>
              </a:gs>
              <a:gs pos="100000">
                <a:srgbClr val="8A5CF6"/>
              </a:gs>
            </a:gsLst>
            <a:lin ang="270000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-40"/>
          <p:cNvSpPr/>
          <p:nvPr/>
        </p:nvSpPr>
        <p:spPr>
          <a:xfrm>
            <a:off x="9669597" y="2804282"/>
            <a:ext cx="210678" cy="298460"/>
          </a:xfrm>
          <a:prstGeom prst="roundRect">
            <a:avLst>
              <a:gd name="adj" fmla="val 8681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-41"/>
          <p:cNvSpPr/>
          <p:nvPr/>
        </p:nvSpPr>
        <p:spPr>
          <a:xfrm>
            <a:off x="9717877" y="2892064"/>
            <a:ext cx="109728" cy="0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46" name="shape-42"/>
          <p:cNvSpPr/>
          <p:nvPr/>
        </p:nvSpPr>
        <p:spPr>
          <a:xfrm>
            <a:off x="9717877" y="2953512"/>
            <a:ext cx="109728" cy="0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47" name="shape-43"/>
          <p:cNvSpPr/>
          <p:nvPr/>
        </p:nvSpPr>
        <p:spPr>
          <a:xfrm>
            <a:off x="9717877" y="3014960"/>
            <a:ext cx="109728" cy="0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48" name="shape-44"/>
          <p:cNvSpPr txBox="1"/>
          <p:nvPr/>
        </p:nvSpPr>
        <p:spPr>
          <a:xfrm>
            <a:off x="9555480" y="3520440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800" b="1" dirty="0">
                <a:solidFill>
                  <a:srgbClr val="1C254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模型接入</a:t>
            </a:r>
            <a:endParaRPr lang="zh-CN" sz="1800" dirty="0"/>
          </a:p>
        </p:txBody>
      </p:sp>
      <p:sp>
        <p:nvSpPr>
          <p:cNvPr id="49" name="shape-45"/>
          <p:cNvSpPr txBox="1"/>
          <p:nvPr/>
        </p:nvSpPr>
        <p:spPr>
          <a:xfrm>
            <a:off x="9555480" y="4096512"/>
            <a:ext cx="1801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Mock</a:t>
            </a:r>
            <a:endParaRPr lang="zh-CN" sz="12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OpenAI 兼容路由</a:t>
            </a:r>
            <a:endParaRPr lang="zh-CN" sz="1200" dirty="0"/>
          </a:p>
        </p:txBody>
      </p:sp>
      <p:sp>
        <p:nvSpPr>
          <p:cNvPr id="50" name="shape-46"/>
          <p:cNvSpPr txBox="1"/>
          <p:nvPr/>
        </p:nvSpPr>
        <p:spPr>
          <a:xfrm>
            <a:off x="9555480" y="5065776"/>
            <a:ext cx="180136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密钥留在服务端</a:t>
            </a:r>
            <a:endParaRPr lang="zh-CN" sz="12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zh-CN" altLang="en-US" sz="12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用户选择已发布模型</a:t>
            </a:r>
            <a:endParaRPr lang="zh-CN" sz="1200" dirty="0"/>
          </a:p>
        </p:txBody>
      </p:sp>
      <p:sp>
        <p:nvSpPr>
          <p:cNvPr id="51" name="shape-47"/>
          <p:cNvSpPr/>
          <p:nvPr/>
        </p:nvSpPr>
        <p:spPr>
          <a:xfrm>
            <a:off x="8723376" y="4315968"/>
            <a:ext cx="457200" cy="0"/>
          </a:xfrm>
          <a:prstGeom prst="line">
            <a:avLst/>
          </a:prstGeom>
          <a:noFill/>
          <a:ln w="15240">
            <a:solidFill>
              <a:srgbClr val="4D6BFE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>
  <p:cSld name="Slide 15">
    <p:bg>
      <p:bgPr>
        <a:gradFill rotWithShape="1">
          <a:gsLst>
            <a:gs pos="0">
              <a:srgbClr val="E8F0FB"/>
            </a:gs>
            <a:gs pos="50000">
              <a:srgbClr val="F7FAFF"/>
            </a:gs>
            <a:gs pos="100000">
              <a:srgbClr val="EEF3FD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lob-top"/>
          <p:cNvSpPr/>
          <p:nvPr/>
        </p:nvSpPr>
        <p:spPr>
          <a:xfrm>
            <a:off x="7772400" y="-1234440"/>
            <a:ext cx="5120640" cy="4389120"/>
          </a:xfrm>
          <a:prstGeom prst="ellipse">
            <a:avLst/>
          </a:prstGeom>
          <a:gradFill rotWithShape="1">
            <a:gsLst>
              <a:gs pos="0">
                <a:srgbClr val="C3D6FB">
                  <a:alpha val="55000"/>
                </a:srgbClr>
              </a:gs>
              <a:gs pos="50000">
                <a:srgbClr val="C3D6FB">
                  <a:alpha val="16000"/>
                </a:srgbClr>
              </a:gs>
              <a:gs pos="100000">
                <a:srgbClr val="C3D6F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12700">
            <a:solidFill>
              <a:srgbClr val="333333">
                <a:alpha val="0"/>
              </a:srgbClr>
            </a:solidFill>
            <a:prstDash val="solid"/>
          </a:ln>
          <a:effectLst>
            <a:softEdge rad="825500"/>
          </a:effectLst>
        </p:spPr>
      </p:sp>
      <p:sp>
        <p:nvSpPr>
          <p:cNvPr id="4" name="blob-bottom"/>
          <p:cNvSpPr/>
          <p:nvPr/>
        </p:nvSpPr>
        <p:spPr>
          <a:xfrm>
            <a:off x="-1188720" y="4251960"/>
            <a:ext cx="4389120" cy="4023360"/>
          </a:xfrm>
          <a:prstGeom prst="ellipse">
            <a:avLst/>
          </a:prstGeom>
          <a:gradFill rotWithShape="1">
            <a:gsLst>
              <a:gs pos="0">
                <a:srgbClr val="DCD0FB">
                  <a:alpha val="55000"/>
                </a:srgbClr>
              </a:gs>
              <a:gs pos="50000">
                <a:srgbClr val="DCD0FB">
                  <a:alpha val="16000"/>
                </a:srgbClr>
              </a:gs>
              <a:gs pos="100000">
                <a:srgbClr val="DCD0F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12700">
            <a:solidFill>
              <a:srgbClr val="333333">
                <a:alpha val="0"/>
              </a:srgbClr>
            </a:solidFill>
            <a:prstDash val="solid"/>
          </a:ln>
          <a:effectLst>
            <a:softEdge rad="825500"/>
          </a:effectLst>
        </p:spPr>
      </p:sp>
      <p:sp>
        <p:nvSpPr>
          <p:cNvPr id="5" name="shape-1"/>
          <p:cNvSpPr/>
          <p:nvPr/>
        </p:nvSpPr>
        <p:spPr>
          <a:xfrm>
            <a:off x="457200" y="393192"/>
            <a:ext cx="3035808" cy="320040"/>
          </a:xfrm>
          <a:prstGeom prst="roundRect">
            <a:avLst>
              <a:gd name="adj" fmla="val 48571"/>
            </a:avLst>
          </a:prstGeom>
          <a:solidFill>
            <a:srgbClr val="4D6BFE">
              <a:alpha val="10000"/>
            </a:srgbClr>
          </a:solidFill>
          <a:ln w="12700">
            <a:solidFill>
              <a:srgbClr val="4D6BFE">
                <a:alpha val="28000"/>
              </a:srgbClr>
            </a:solidFill>
            <a:prstDash val="solid"/>
          </a:ln>
        </p:spPr>
      </p:sp>
      <p:sp>
        <p:nvSpPr>
          <p:cNvPr id="6" name="shape-2"/>
          <p:cNvSpPr txBox="1"/>
          <p:nvPr/>
        </p:nvSpPr>
        <p:spPr>
          <a:xfrm>
            <a:off x="548640" y="425196"/>
            <a:ext cx="28529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spc="200" kern="0" dirty="0">
                <a:solidFill>
                  <a:srgbClr val="4D6BFE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SLIDE 15 · REQUEST FLOW</a:t>
            </a:r>
            <a:endParaRPr lang="zh-CN" sz="1100" dirty="0"/>
          </a:p>
        </p:txBody>
      </p:sp>
      <p:sp>
        <p:nvSpPr>
          <p:cNvPr id="7" name="shape-3"/>
          <p:cNvSpPr txBox="1"/>
          <p:nvPr/>
        </p:nvSpPr>
        <p:spPr>
          <a:xfrm>
            <a:off x="10771632" y="6391656"/>
            <a:ext cx="9418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17</a:t>
            </a:r>
            <a:endParaRPr lang="zh-CN" sz="1200" dirty="0"/>
          </a:p>
        </p:txBody>
      </p:sp>
      <p:sp>
        <p:nvSpPr>
          <p:cNvPr id="8" name="shape-4"/>
          <p:cNvSpPr txBox="1"/>
          <p:nvPr/>
        </p:nvSpPr>
        <p:spPr>
          <a:xfrm>
            <a:off x="457200" y="978408"/>
            <a:ext cx="11173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zh-CN" altLang="en-US" sz="3200" b="1" dirty="0">
                <a:solidFill>
                  <a:srgbClr val="1C254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一次增强，经过哪些检查</a:t>
            </a:r>
            <a:endParaRPr lang="zh-CN" sz="3200" dirty="0"/>
          </a:p>
        </p:txBody>
      </p:sp>
      <p:sp>
        <p:nvSpPr>
          <p:cNvPr id="9" name="shape-5"/>
          <p:cNvSpPr txBox="1"/>
          <p:nvPr/>
        </p:nvSpPr>
        <p:spPr>
          <a:xfrm>
            <a:off x="484632" y="1746504"/>
            <a:ext cx="110002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4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一张请求流程图：从点击按钮到拿到可复制结果。</a:t>
            </a:r>
            <a:endParaRPr lang="zh-CN" sz="1400" dirty="0"/>
          </a:p>
        </p:txBody>
      </p:sp>
      <p:sp>
        <p:nvSpPr>
          <p:cNvPr id="10" name="shape-6"/>
          <p:cNvSpPr txBox="1"/>
          <p:nvPr/>
        </p:nvSpPr>
        <p:spPr>
          <a:xfrm>
            <a:off x="475488" y="6419088"/>
            <a:ext cx="877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zh-CN" altLang="en-US" sz="10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CHAPTER 08</a:t>
            </a:r>
            <a:endParaRPr lang="zh-CN" sz="1000" dirty="0"/>
          </a:p>
        </p:txBody>
      </p:sp>
      <p:sp>
        <p:nvSpPr>
          <p:cNvPr id="11" name="shape-7"/>
          <p:cNvSpPr/>
          <p:nvPr/>
        </p:nvSpPr>
        <p:spPr>
          <a:xfrm>
            <a:off x="548640" y="2450592"/>
            <a:ext cx="2514600" cy="2395728"/>
          </a:xfrm>
          <a:prstGeom prst="roundRect">
            <a:avLst>
              <a:gd name="adj" fmla="val 4962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12" name="shape-8"/>
          <p:cNvSpPr/>
          <p:nvPr/>
        </p:nvSpPr>
        <p:spPr>
          <a:xfrm>
            <a:off x="758952" y="2734056"/>
            <a:ext cx="356616" cy="356616"/>
          </a:xfrm>
          <a:prstGeom prst="ellipse">
            <a:avLst/>
          </a:prstGeom>
          <a:solidFill>
            <a:srgbClr val="4D6B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shape-9"/>
          <p:cNvSpPr txBox="1"/>
          <p:nvPr/>
        </p:nvSpPr>
        <p:spPr>
          <a:xfrm>
            <a:off x="758952" y="2788920"/>
            <a:ext cx="35661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zh-CN" sz="1200" dirty="0"/>
          </a:p>
        </p:txBody>
      </p:sp>
      <p:sp>
        <p:nvSpPr>
          <p:cNvPr id="14" name="shape-10"/>
          <p:cNvSpPr txBox="1"/>
          <p:nvPr/>
        </p:nvSpPr>
        <p:spPr>
          <a:xfrm>
            <a:off x="758952" y="3282696"/>
            <a:ext cx="2112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1500" b="1" dirty="0">
                <a:solidFill>
                  <a:srgbClr val="1C254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选择材料</a:t>
            </a:r>
            <a:endParaRPr lang="zh-CN" sz="1500" dirty="0"/>
          </a:p>
        </p:txBody>
      </p:sp>
      <p:sp>
        <p:nvSpPr>
          <p:cNvPr id="15" name="shape-11"/>
          <p:cNvSpPr txBox="1"/>
          <p:nvPr/>
        </p:nvSpPr>
        <p:spPr>
          <a:xfrm>
            <a:off x="758952" y="3831336"/>
            <a:ext cx="2093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检索本次相关片段</a:t>
            </a:r>
            <a:endParaRPr lang="zh-CN" sz="1200" dirty="0"/>
          </a:p>
        </p:txBody>
      </p:sp>
      <p:sp>
        <p:nvSpPr>
          <p:cNvPr id="16" name="shape-12"/>
          <p:cNvSpPr txBox="1"/>
          <p:nvPr/>
        </p:nvSpPr>
        <p:spPr>
          <a:xfrm>
            <a:off x="758952" y="443484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zh-CN" altLang="en-US" sz="1200" dirty="0">
                <a:solidFill>
                  <a:srgbClr val="1D5FD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减少无关背景</a:t>
            </a:r>
            <a:endParaRPr lang="zh-CN" sz="1200" dirty="0"/>
          </a:p>
        </p:txBody>
      </p:sp>
      <p:sp>
        <p:nvSpPr>
          <p:cNvPr id="17" name="shape-13"/>
          <p:cNvSpPr/>
          <p:nvPr/>
        </p:nvSpPr>
        <p:spPr>
          <a:xfrm>
            <a:off x="3145536" y="3575304"/>
            <a:ext cx="210312" cy="0"/>
          </a:xfrm>
          <a:prstGeom prst="line">
            <a:avLst/>
          </a:prstGeom>
          <a:noFill/>
          <a:ln w="15240">
            <a:solidFill>
              <a:srgbClr val="4D6BFE"/>
            </a:solidFill>
            <a:prstDash val="solid"/>
            <a:tailEnd type="triangle"/>
          </a:ln>
        </p:spPr>
      </p:sp>
      <p:sp>
        <p:nvSpPr>
          <p:cNvPr id="18" name="shape-14"/>
          <p:cNvSpPr/>
          <p:nvPr/>
        </p:nvSpPr>
        <p:spPr>
          <a:xfrm>
            <a:off x="3438144" y="2450592"/>
            <a:ext cx="2514600" cy="2395728"/>
          </a:xfrm>
          <a:prstGeom prst="roundRect">
            <a:avLst>
              <a:gd name="adj" fmla="val 4962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19" name="shape-15"/>
          <p:cNvSpPr/>
          <p:nvPr/>
        </p:nvSpPr>
        <p:spPr>
          <a:xfrm>
            <a:off x="3648456" y="2734056"/>
            <a:ext cx="356616" cy="356616"/>
          </a:xfrm>
          <a:prstGeom prst="ellipse">
            <a:avLst/>
          </a:prstGeom>
          <a:solidFill>
            <a:srgbClr val="4D6B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shape-16"/>
          <p:cNvSpPr txBox="1"/>
          <p:nvPr/>
        </p:nvSpPr>
        <p:spPr>
          <a:xfrm>
            <a:off x="3648456" y="2788920"/>
            <a:ext cx="35661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zh-CN" sz="1200" dirty="0"/>
          </a:p>
        </p:txBody>
      </p:sp>
      <p:sp>
        <p:nvSpPr>
          <p:cNvPr id="21" name="shape-17"/>
          <p:cNvSpPr txBox="1"/>
          <p:nvPr/>
        </p:nvSpPr>
        <p:spPr>
          <a:xfrm>
            <a:off x="3648456" y="3282696"/>
            <a:ext cx="2112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1500" b="1" dirty="0">
                <a:solidFill>
                  <a:srgbClr val="1C254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校验身份与规则</a:t>
            </a:r>
            <a:endParaRPr lang="zh-CN" sz="1500" dirty="0"/>
          </a:p>
        </p:txBody>
      </p:sp>
      <p:sp>
        <p:nvSpPr>
          <p:cNvPr id="22" name="shape-18"/>
          <p:cNvSpPr txBox="1"/>
          <p:nvPr/>
        </p:nvSpPr>
        <p:spPr>
          <a:xfrm>
            <a:off x="3648456" y="3831336"/>
            <a:ext cx="2093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安全过滤、上下文分析</a:t>
            </a:r>
            <a:endParaRPr lang="zh-CN" sz="1200" dirty="0"/>
          </a:p>
        </p:txBody>
      </p:sp>
      <p:sp>
        <p:nvSpPr>
          <p:cNvPr id="23" name="shape-19"/>
          <p:cNvSpPr txBox="1"/>
          <p:nvPr/>
        </p:nvSpPr>
        <p:spPr>
          <a:xfrm>
            <a:off x="3648456" y="443484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zh-CN" altLang="en-US" sz="1200" dirty="0">
                <a:solidFill>
                  <a:srgbClr val="1D5FD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明确本次访问与材料范围</a:t>
            </a:r>
            <a:endParaRPr lang="zh-CN" sz="1200" dirty="0"/>
          </a:p>
        </p:txBody>
      </p:sp>
      <p:sp>
        <p:nvSpPr>
          <p:cNvPr id="24" name="shape-20"/>
          <p:cNvSpPr/>
          <p:nvPr/>
        </p:nvSpPr>
        <p:spPr>
          <a:xfrm>
            <a:off x="6035040" y="3575304"/>
            <a:ext cx="210312" cy="0"/>
          </a:xfrm>
          <a:prstGeom prst="line">
            <a:avLst/>
          </a:prstGeom>
          <a:noFill/>
          <a:ln w="15240">
            <a:solidFill>
              <a:srgbClr val="4D6BFE"/>
            </a:solidFill>
            <a:prstDash val="solid"/>
            <a:tailEnd type="triangle"/>
          </a:ln>
        </p:spPr>
      </p:sp>
      <p:sp>
        <p:nvSpPr>
          <p:cNvPr id="25" name="shape-21"/>
          <p:cNvSpPr/>
          <p:nvPr/>
        </p:nvSpPr>
        <p:spPr>
          <a:xfrm>
            <a:off x="6327648" y="2450592"/>
            <a:ext cx="2514600" cy="2395728"/>
          </a:xfrm>
          <a:prstGeom prst="roundRect">
            <a:avLst>
              <a:gd name="adj" fmla="val 4962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26" name="shape-22"/>
          <p:cNvSpPr/>
          <p:nvPr/>
        </p:nvSpPr>
        <p:spPr>
          <a:xfrm>
            <a:off x="6537960" y="2734056"/>
            <a:ext cx="356616" cy="356616"/>
          </a:xfrm>
          <a:prstGeom prst="ellipse">
            <a:avLst/>
          </a:prstGeom>
          <a:solidFill>
            <a:srgbClr val="4D6B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7" name="shape-23"/>
          <p:cNvSpPr txBox="1"/>
          <p:nvPr/>
        </p:nvSpPr>
        <p:spPr>
          <a:xfrm>
            <a:off x="6537960" y="2788920"/>
            <a:ext cx="35661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zh-CN" sz="1200" dirty="0"/>
          </a:p>
        </p:txBody>
      </p:sp>
      <p:sp>
        <p:nvSpPr>
          <p:cNvPr id="28" name="shape-24"/>
          <p:cNvSpPr txBox="1"/>
          <p:nvPr/>
        </p:nvSpPr>
        <p:spPr>
          <a:xfrm>
            <a:off x="6537960" y="3282696"/>
            <a:ext cx="2112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1500" b="1" dirty="0">
                <a:solidFill>
                  <a:srgbClr val="1C254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调用模型</a:t>
            </a:r>
            <a:endParaRPr lang="zh-CN" sz="1500" dirty="0"/>
          </a:p>
        </p:txBody>
      </p:sp>
      <p:sp>
        <p:nvSpPr>
          <p:cNvPr id="29" name="shape-25"/>
          <p:cNvSpPr txBox="1"/>
          <p:nvPr/>
        </p:nvSpPr>
        <p:spPr>
          <a:xfrm>
            <a:off x="6537960" y="3831336"/>
            <a:ext cx="2093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任务策略、并发与超时</a:t>
            </a:r>
            <a:endParaRPr lang="zh-CN" sz="1200" dirty="0"/>
          </a:p>
        </p:txBody>
      </p:sp>
      <p:sp>
        <p:nvSpPr>
          <p:cNvPr id="30" name="shape-26"/>
          <p:cNvSpPr txBox="1"/>
          <p:nvPr/>
        </p:nvSpPr>
        <p:spPr>
          <a:xfrm>
            <a:off x="6537960" y="443484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zh-CN" altLang="en-US" sz="1200" dirty="0">
                <a:solidFill>
                  <a:srgbClr val="1D5FD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限制资源占用</a:t>
            </a:r>
            <a:endParaRPr lang="zh-CN" sz="1200" dirty="0"/>
          </a:p>
        </p:txBody>
      </p:sp>
      <p:sp>
        <p:nvSpPr>
          <p:cNvPr id="31" name="shape-27"/>
          <p:cNvSpPr/>
          <p:nvPr/>
        </p:nvSpPr>
        <p:spPr>
          <a:xfrm>
            <a:off x="8924544" y="3575304"/>
            <a:ext cx="210312" cy="0"/>
          </a:xfrm>
          <a:prstGeom prst="line">
            <a:avLst/>
          </a:prstGeom>
          <a:noFill/>
          <a:ln w="15240">
            <a:solidFill>
              <a:srgbClr val="4D6BFE"/>
            </a:solidFill>
            <a:prstDash val="solid"/>
            <a:tailEnd type="triangle"/>
          </a:ln>
        </p:spPr>
      </p:sp>
      <p:sp>
        <p:nvSpPr>
          <p:cNvPr id="32" name="shape-28"/>
          <p:cNvSpPr/>
          <p:nvPr/>
        </p:nvSpPr>
        <p:spPr>
          <a:xfrm>
            <a:off x="9217152" y="2450592"/>
            <a:ext cx="2514600" cy="2395728"/>
          </a:xfrm>
          <a:prstGeom prst="roundRect">
            <a:avLst>
              <a:gd name="adj" fmla="val 4962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33" name="shape-29"/>
          <p:cNvSpPr/>
          <p:nvPr/>
        </p:nvSpPr>
        <p:spPr>
          <a:xfrm>
            <a:off x="9427464" y="2734056"/>
            <a:ext cx="356616" cy="356616"/>
          </a:xfrm>
          <a:prstGeom prst="ellipse">
            <a:avLst/>
          </a:prstGeom>
          <a:solidFill>
            <a:srgbClr val="4D6B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4" name="shape-30"/>
          <p:cNvSpPr txBox="1"/>
          <p:nvPr/>
        </p:nvSpPr>
        <p:spPr>
          <a:xfrm>
            <a:off x="9427464" y="2788920"/>
            <a:ext cx="35661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zh-CN" sz="1200" dirty="0"/>
          </a:p>
        </p:txBody>
      </p:sp>
      <p:sp>
        <p:nvSpPr>
          <p:cNvPr id="35" name="shape-31"/>
          <p:cNvSpPr txBox="1"/>
          <p:nvPr/>
        </p:nvSpPr>
        <p:spPr>
          <a:xfrm>
            <a:off x="9427464" y="3282696"/>
            <a:ext cx="2112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1500" b="1" dirty="0">
                <a:solidFill>
                  <a:srgbClr val="1C254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校验并保存结果</a:t>
            </a:r>
            <a:endParaRPr lang="zh-CN" sz="1500" dirty="0"/>
          </a:p>
        </p:txBody>
      </p:sp>
      <p:sp>
        <p:nvSpPr>
          <p:cNvPr id="36" name="shape-32"/>
          <p:cNvSpPr txBox="1"/>
          <p:nvPr/>
        </p:nvSpPr>
        <p:spPr>
          <a:xfrm>
            <a:off x="9427464" y="3831336"/>
            <a:ext cx="2093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结构检查、规则检查、历史</a:t>
            </a:r>
            <a:endParaRPr lang="zh-CN" sz="1200" dirty="0"/>
          </a:p>
        </p:txBody>
      </p:sp>
      <p:sp>
        <p:nvSpPr>
          <p:cNvPr id="37" name="shape-33"/>
          <p:cNvSpPr txBox="1"/>
          <p:nvPr/>
        </p:nvSpPr>
        <p:spPr>
          <a:xfrm>
            <a:off x="9427464" y="443484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zh-CN" altLang="en-US" sz="1200" dirty="0">
                <a:solidFill>
                  <a:srgbClr val="1D5FD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结果更容易核对与回看</a:t>
            </a:r>
            <a:endParaRPr lang="zh-CN" sz="1200" dirty="0"/>
          </a:p>
        </p:txBody>
      </p:sp>
      <p:sp>
        <p:nvSpPr>
          <p:cNvPr id="38" name="shape-34"/>
          <p:cNvSpPr/>
          <p:nvPr/>
        </p:nvSpPr>
        <p:spPr>
          <a:xfrm>
            <a:off x="548640" y="5276088"/>
            <a:ext cx="11155680" cy="850392"/>
          </a:xfrm>
          <a:prstGeom prst="roundRect">
            <a:avLst>
              <a:gd name="adj" fmla="val 13978"/>
            </a:avLst>
          </a:prstGeom>
          <a:solidFill>
            <a:srgbClr val="FFFFFF">
              <a:alpha val="5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39" name="shape-35"/>
          <p:cNvSpPr/>
          <p:nvPr/>
        </p:nvSpPr>
        <p:spPr>
          <a:xfrm>
            <a:off x="804672" y="5513832"/>
            <a:ext cx="2075688" cy="320040"/>
          </a:xfrm>
          <a:prstGeom prst="roundRect">
            <a:avLst>
              <a:gd name="adj" fmla="val 48571"/>
            </a:avLst>
          </a:prstGeom>
          <a:solidFill>
            <a:srgbClr val="1D5FD6">
              <a:alpha val="10000"/>
            </a:srgbClr>
          </a:solidFill>
          <a:ln w="12700">
            <a:solidFill>
              <a:srgbClr val="1D5FD6">
                <a:alpha val="28000"/>
              </a:srgbClr>
            </a:solidFill>
            <a:prstDash val="solid"/>
          </a:ln>
        </p:spPr>
      </p:sp>
      <p:sp>
        <p:nvSpPr>
          <p:cNvPr id="40" name="shape-36"/>
          <p:cNvSpPr txBox="1"/>
          <p:nvPr/>
        </p:nvSpPr>
        <p:spPr>
          <a:xfrm>
            <a:off x="896112" y="5545836"/>
            <a:ext cx="1892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dirty="0">
                <a:solidFill>
                  <a:srgbClr val="1D5FD6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Plan 前置分支</a:t>
            </a:r>
            <a:endParaRPr lang="zh-CN" sz="1100" dirty="0"/>
          </a:p>
        </p:txBody>
      </p:sp>
      <p:sp>
        <p:nvSpPr>
          <p:cNvPr id="41" name="shape-37"/>
          <p:cNvSpPr txBox="1"/>
          <p:nvPr/>
        </p:nvSpPr>
        <p:spPr>
          <a:xfrm>
            <a:off x="3145536" y="5522976"/>
            <a:ext cx="8238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14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准备摘要 → 提问 → 用户确认 → 再检索 → 最终生成</a:t>
            </a:r>
            <a:endParaRPr lang="zh-CN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>
  <p:cSld name="Slide 16">
    <p:bg>
      <p:bgPr>
        <a:gradFill rotWithShape="1">
          <a:gsLst>
            <a:gs pos="0">
              <a:srgbClr val="E8F0FB"/>
            </a:gs>
            <a:gs pos="50000">
              <a:srgbClr val="F7FAFF"/>
            </a:gs>
            <a:gs pos="100000">
              <a:srgbClr val="EEF3FD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lob-top"/>
          <p:cNvSpPr/>
          <p:nvPr/>
        </p:nvSpPr>
        <p:spPr>
          <a:xfrm>
            <a:off x="7772400" y="-1234440"/>
            <a:ext cx="5120640" cy="4389120"/>
          </a:xfrm>
          <a:prstGeom prst="ellipse">
            <a:avLst/>
          </a:prstGeom>
          <a:gradFill rotWithShape="1">
            <a:gsLst>
              <a:gs pos="0">
                <a:srgbClr val="C3D6FB">
                  <a:alpha val="55000"/>
                </a:srgbClr>
              </a:gs>
              <a:gs pos="50000">
                <a:srgbClr val="C3D6FB">
                  <a:alpha val="16000"/>
                </a:srgbClr>
              </a:gs>
              <a:gs pos="100000">
                <a:srgbClr val="C3D6F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12700">
            <a:solidFill>
              <a:srgbClr val="333333">
                <a:alpha val="0"/>
              </a:srgbClr>
            </a:solidFill>
            <a:prstDash val="solid"/>
          </a:ln>
          <a:effectLst>
            <a:softEdge rad="825500"/>
          </a:effectLst>
        </p:spPr>
      </p:sp>
      <p:sp>
        <p:nvSpPr>
          <p:cNvPr id="4" name="blob-bottom"/>
          <p:cNvSpPr/>
          <p:nvPr/>
        </p:nvSpPr>
        <p:spPr>
          <a:xfrm>
            <a:off x="-1188720" y="4251960"/>
            <a:ext cx="4389120" cy="4023360"/>
          </a:xfrm>
          <a:prstGeom prst="ellipse">
            <a:avLst/>
          </a:prstGeom>
          <a:gradFill rotWithShape="1">
            <a:gsLst>
              <a:gs pos="0">
                <a:srgbClr val="C9E8F6">
                  <a:alpha val="55000"/>
                </a:srgbClr>
              </a:gs>
              <a:gs pos="50000">
                <a:srgbClr val="C9E8F6">
                  <a:alpha val="16000"/>
                </a:srgbClr>
              </a:gs>
              <a:gs pos="100000">
                <a:srgbClr val="C9E8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12700">
            <a:solidFill>
              <a:srgbClr val="333333">
                <a:alpha val="0"/>
              </a:srgbClr>
            </a:solidFill>
            <a:prstDash val="solid"/>
          </a:ln>
          <a:effectLst>
            <a:softEdge rad="825500"/>
          </a:effectLst>
        </p:spPr>
      </p:sp>
      <p:sp>
        <p:nvSpPr>
          <p:cNvPr id="5" name="shape-1"/>
          <p:cNvSpPr/>
          <p:nvPr/>
        </p:nvSpPr>
        <p:spPr>
          <a:xfrm>
            <a:off x="457200" y="393192"/>
            <a:ext cx="2779776" cy="320040"/>
          </a:xfrm>
          <a:prstGeom prst="roundRect">
            <a:avLst>
              <a:gd name="adj" fmla="val 48571"/>
            </a:avLst>
          </a:prstGeom>
          <a:solidFill>
            <a:srgbClr val="4D6BFE">
              <a:alpha val="10000"/>
            </a:srgbClr>
          </a:solidFill>
          <a:ln w="12700">
            <a:solidFill>
              <a:srgbClr val="4D6BFE">
                <a:alpha val="28000"/>
              </a:srgbClr>
            </a:solidFill>
            <a:prstDash val="solid"/>
          </a:ln>
        </p:spPr>
      </p:sp>
      <p:sp>
        <p:nvSpPr>
          <p:cNvPr id="6" name="shape-2"/>
          <p:cNvSpPr txBox="1"/>
          <p:nvPr/>
        </p:nvSpPr>
        <p:spPr>
          <a:xfrm>
            <a:off x="548640" y="425196"/>
            <a:ext cx="2596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spc="200" kern="0" dirty="0">
                <a:solidFill>
                  <a:srgbClr val="4D6BFE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SLIDE 16 · BOUNDARIES</a:t>
            </a:r>
            <a:endParaRPr lang="zh-CN" sz="1100" dirty="0"/>
          </a:p>
        </p:txBody>
      </p:sp>
      <p:sp>
        <p:nvSpPr>
          <p:cNvPr id="7" name="shape-3"/>
          <p:cNvSpPr txBox="1"/>
          <p:nvPr/>
        </p:nvSpPr>
        <p:spPr>
          <a:xfrm>
            <a:off x="10771632" y="6391656"/>
            <a:ext cx="9418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17</a:t>
            </a:r>
            <a:endParaRPr lang="zh-CN" sz="1200" dirty="0"/>
          </a:p>
        </p:txBody>
      </p:sp>
      <p:sp>
        <p:nvSpPr>
          <p:cNvPr id="8" name="shape-4"/>
          <p:cNvSpPr txBox="1"/>
          <p:nvPr/>
        </p:nvSpPr>
        <p:spPr>
          <a:xfrm>
            <a:off x="457200" y="978408"/>
            <a:ext cx="11173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zh-CN" altLang="en-US" sz="3200" b="1" dirty="0">
                <a:solidFill>
                  <a:srgbClr val="1C254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知道能做什么，也知道边界在哪里</a:t>
            </a:r>
            <a:endParaRPr lang="zh-CN" sz="3200" dirty="0"/>
          </a:p>
        </p:txBody>
      </p:sp>
      <p:sp>
        <p:nvSpPr>
          <p:cNvPr id="9" name="shape-5"/>
          <p:cNvSpPr txBox="1"/>
          <p:nvPr/>
        </p:nvSpPr>
        <p:spPr>
          <a:xfrm>
            <a:off x="484632" y="1746504"/>
            <a:ext cx="110002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zh-CN" altLang="en-US" sz="14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安全规则贯穿生成过程；最终事实和执行仍需用户确认。</a:t>
            </a:r>
            <a:endParaRPr lang="zh-CN" sz="1400" dirty="0"/>
          </a:p>
        </p:txBody>
      </p:sp>
      <p:sp>
        <p:nvSpPr>
          <p:cNvPr id="10" name="shape-6"/>
          <p:cNvSpPr txBox="1"/>
          <p:nvPr/>
        </p:nvSpPr>
        <p:spPr>
          <a:xfrm>
            <a:off x="475488" y="6419088"/>
            <a:ext cx="877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zh-CN" altLang="en-US" sz="10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CHAPTER 09</a:t>
            </a:r>
            <a:endParaRPr lang="zh-CN" sz="1000" dirty="0"/>
          </a:p>
        </p:txBody>
      </p:sp>
      <p:sp>
        <p:nvSpPr>
          <p:cNvPr id="11" name="shape-7"/>
          <p:cNvSpPr/>
          <p:nvPr/>
        </p:nvSpPr>
        <p:spPr>
          <a:xfrm>
            <a:off x="512064" y="2468880"/>
            <a:ext cx="3447288" cy="2944368"/>
          </a:xfrm>
          <a:prstGeom prst="roundRect">
            <a:avLst>
              <a:gd name="adj" fmla="val 4037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12" name="shape-8"/>
          <p:cNvSpPr/>
          <p:nvPr/>
        </p:nvSpPr>
        <p:spPr>
          <a:xfrm>
            <a:off x="758952" y="2761488"/>
            <a:ext cx="2139696" cy="320040"/>
          </a:xfrm>
          <a:prstGeom prst="roundRect">
            <a:avLst>
              <a:gd name="adj" fmla="val 48571"/>
            </a:avLst>
          </a:prstGeom>
          <a:solidFill>
            <a:srgbClr val="0E9F6E">
              <a:alpha val="10000"/>
            </a:srgbClr>
          </a:solidFill>
          <a:ln w="12700">
            <a:solidFill>
              <a:srgbClr val="0E9F6E">
                <a:alpha val="28000"/>
              </a:srgbClr>
            </a:solidFill>
            <a:prstDash val="solid"/>
          </a:ln>
        </p:spPr>
      </p:sp>
      <p:sp>
        <p:nvSpPr>
          <p:cNvPr id="13" name="shape-9"/>
          <p:cNvSpPr txBox="1"/>
          <p:nvPr/>
        </p:nvSpPr>
        <p:spPr>
          <a:xfrm>
            <a:off x="850392" y="2793492"/>
            <a:ext cx="19568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dirty="0">
                <a:solidFill>
                  <a:srgbClr val="0E9F6E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已实现的保护</a:t>
            </a:r>
            <a:endParaRPr lang="zh-CN" sz="1100" dirty="0"/>
          </a:p>
        </p:txBody>
      </p:sp>
      <p:sp>
        <p:nvSpPr>
          <p:cNvPr id="14" name="shape-10"/>
          <p:cNvSpPr txBox="1"/>
          <p:nvPr/>
        </p:nvSpPr>
        <p:spPr>
          <a:xfrm>
            <a:off x="758952" y="3511296"/>
            <a:ext cx="295351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80000"/>
              </a:lnSpc>
              <a:buNone/>
            </a:pPr>
            <a:r>
              <a:rPr lang="zh-CN" altLang="en-US" sz="13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默认受保护路径</a:t>
            </a:r>
            <a:endParaRPr lang="zh-CN" sz="1300" dirty="0"/>
          </a:p>
          <a:p>
            <a:pPr algn="l" indent="0" marL="0">
              <a:lnSpc>
                <a:spcPct val="180000"/>
              </a:lnSpc>
              <a:buNone/>
            </a:pPr>
            <a:r>
              <a:rPr lang="zh-CN" altLang="en-US" sz="13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敏感内容检测或脱敏</a:t>
            </a:r>
            <a:endParaRPr lang="zh-CN" sz="1300" dirty="0"/>
          </a:p>
          <a:p>
            <a:pPr algn="l" indent="0" marL="0">
              <a:lnSpc>
                <a:spcPct val="180000"/>
              </a:lnSpc>
              <a:buNone/>
            </a:pPr>
            <a:r>
              <a:rPr lang="zh-CN" altLang="en-US" sz="13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服务端身份与范围校验</a:t>
            </a:r>
            <a:endParaRPr lang="zh-CN" sz="1300" dirty="0"/>
          </a:p>
        </p:txBody>
      </p:sp>
      <p:sp>
        <p:nvSpPr>
          <p:cNvPr id="15" name="shape-11"/>
          <p:cNvSpPr/>
          <p:nvPr/>
        </p:nvSpPr>
        <p:spPr>
          <a:xfrm>
            <a:off x="4379976" y="2468880"/>
            <a:ext cx="3447288" cy="2944368"/>
          </a:xfrm>
          <a:prstGeom prst="roundRect">
            <a:avLst>
              <a:gd name="adj" fmla="val 4037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16" name="shape-12"/>
          <p:cNvSpPr/>
          <p:nvPr/>
        </p:nvSpPr>
        <p:spPr>
          <a:xfrm>
            <a:off x="4626864" y="2761488"/>
            <a:ext cx="2139696" cy="320040"/>
          </a:xfrm>
          <a:prstGeom prst="roundRect">
            <a:avLst>
              <a:gd name="adj" fmla="val 48571"/>
            </a:avLst>
          </a:prstGeom>
          <a:solidFill>
            <a:srgbClr val="1D5FD6">
              <a:alpha val="10000"/>
            </a:srgbClr>
          </a:solidFill>
          <a:ln w="12700">
            <a:solidFill>
              <a:srgbClr val="1D5FD6">
                <a:alpha val="28000"/>
              </a:srgbClr>
            </a:solidFill>
            <a:prstDash val="solid"/>
          </a:ln>
        </p:spPr>
      </p:sp>
      <p:sp>
        <p:nvSpPr>
          <p:cNvPr id="17" name="shape-13"/>
          <p:cNvSpPr txBox="1"/>
          <p:nvPr/>
        </p:nvSpPr>
        <p:spPr>
          <a:xfrm>
            <a:off x="4718304" y="2793492"/>
            <a:ext cx="19568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dirty="0">
                <a:solidFill>
                  <a:srgbClr val="1D5FD6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使用时的边界</a:t>
            </a:r>
            <a:endParaRPr lang="zh-CN" sz="1100" dirty="0"/>
          </a:p>
        </p:txBody>
      </p:sp>
      <p:sp>
        <p:nvSpPr>
          <p:cNvPr id="18" name="shape-14"/>
          <p:cNvSpPr txBox="1"/>
          <p:nvPr/>
        </p:nvSpPr>
        <p:spPr>
          <a:xfrm>
            <a:off x="4626864" y="3511296"/>
            <a:ext cx="295351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80000"/>
              </a:lnSpc>
              <a:buNone/>
            </a:pPr>
            <a:r>
              <a:rPr lang="zh-CN" altLang="en-US" sz="13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材料由用户主动提供</a:t>
            </a:r>
            <a:endParaRPr lang="zh-CN" sz="1300" dirty="0"/>
          </a:p>
          <a:p>
            <a:pPr algn="l" indent="0" marL="0">
              <a:lnSpc>
                <a:spcPct val="180000"/>
              </a:lnSpc>
              <a:buNone/>
            </a:pPr>
            <a:r>
              <a:rPr lang="zh-CN" altLang="en-US" sz="13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相关内容经后端发送给供应商</a:t>
            </a:r>
            <a:endParaRPr lang="zh-CN" sz="1300" dirty="0"/>
          </a:p>
          <a:p>
            <a:pPr algn="l" indent="0" marL="0">
              <a:lnSpc>
                <a:spcPct val="180000"/>
              </a:lnSpc>
              <a:buNone/>
            </a:pPr>
            <a:r>
              <a:rPr lang="zh-CN" altLang="en-US" sz="13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平台只生成优化提示词</a:t>
            </a:r>
            <a:endParaRPr lang="zh-CN" sz="1300" dirty="0"/>
          </a:p>
        </p:txBody>
      </p:sp>
      <p:sp>
        <p:nvSpPr>
          <p:cNvPr id="19" name="shape-15"/>
          <p:cNvSpPr/>
          <p:nvPr/>
        </p:nvSpPr>
        <p:spPr>
          <a:xfrm>
            <a:off x="8247888" y="2468880"/>
            <a:ext cx="3447288" cy="2944368"/>
          </a:xfrm>
          <a:prstGeom prst="roundRect">
            <a:avLst>
              <a:gd name="adj" fmla="val 4037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20" name="shape-16"/>
          <p:cNvSpPr/>
          <p:nvPr/>
        </p:nvSpPr>
        <p:spPr>
          <a:xfrm>
            <a:off x="8494776" y="2761488"/>
            <a:ext cx="2606040" cy="320040"/>
          </a:xfrm>
          <a:prstGeom prst="roundRect">
            <a:avLst>
              <a:gd name="adj" fmla="val 48571"/>
            </a:avLst>
          </a:prstGeom>
          <a:solidFill>
            <a:srgbClr val="C2690A">
              <a:alpha val="10000"/>
            </a:srgbClr>
          </a:solidFill>
          <a:ln w="12700">
            <a:solidFill>
              <a:srgbClr val="C2690A">
                <a:alpha val="28000"/>
              </a:srgbClr>
            </a:solidFill>
            <a:prstDash val="solid"/>
          </a:ln>
        </p:spPr>
      </p:sp>
      <p:sp>
        <p:nvSpPr>
          <p:cNvPr id="21" name="shape-17"/>
          <p:cNvSpPr txBox="1"/>
          <p:nvPr/>
        </p:nvSpPr>
        <p:spPr>
          <a:xfrm>
            <a:off x="8586216" y="2793492"/>
            <a:ext cx="2423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dirty="0">
                <a:solidFill>
                  <a:srgbClr val="C2690A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尚未开放 / 规划</a:t>
            </a:r>
            <a:endParaRPr lang="zh-CN" sz="1100" dirty="0"/>
          </a:p>
        </p:txBody>
      </p:sp>
      <p:sp>
        <p:nvSpPr>
          <p:cNvPr id="22" name="shape-18"/>
          <p:cNvSpPr txBox="1"/>
          <p:nvPr/>
        </p:nvSpPr>
        <p:spPr>
          <a:xfrm>
            <a:off x="8494776" y="3511296"/>
            <a:ext cx="295351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80000"/>
              </a:lnSpc>
              <a:buNone/>
            </a:pPr>
            <a:r>
              <a:rPr lang="zh-CN" altLang="en-US" sz="13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扫描 PDF OCR、图片语义</a:t>
            </a:r>
            <a:endParaRPr lang="zh-CN" sz="1300" dirty="0"/>
          </a:p>
          <a:p>
            <a:pPr algn="l" indent="0" marL="0">
              <a:lnSpc>
                <a:spcPct val="180000"/>
              </a:lnSpc>
              <a:buNone/>
            </a:pPr>
            <a:r>
              <a:rPr lang="zh-CN" altLang="en-US" sz="13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浏览器 / IDE 插件</a:t>
            </a:r>
            <a:endParaRPr lang="zh-CN" sz="1300" dirty="0"/>
          </a:p>
          <a:p>
            <a:pPr algn="l" indent="0" marL="0">
              <a:lnSpc>
                <a:spcPct val="180000"/>
              </a:lnSpc>
              <a:buNone/>
            </a:pPr>
            <a:r>
              <a:rPr lang="zh-CN" altLang="en-US" sz="13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团队协作、额度计费</a:t>
            </a:r>
            <a:endParaRPr lang="zh-CN" sz="1300" dirty="0"/>
          </a:p>
        </p:txBody>
      </p:sp>
      <p:sp>
        <p:nvSpPr>
          <p:cNvPr id="23" name="shape-19"/>
          <p:cNvSpPr txBox="1"/>
          <p:nvPr/>
        </p:nvSpPr>
        <p:spPr>
          <a:xfrm>
            <a:off x="603504" y="5696712"/>
            <a:ext cx="10963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1400" b="1" dirty="0">
                <a:solidFill>
                  <a:srgbClr val="1C254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当前阶段：MVP 本地联调与内部试用</a:t>
            </a:r>
            <a:endParaRPr lang="zh-CN" sz="1400" dirty="0"/>
          </a:p>
        </p:txBody>
      </p:sp>
      <p:sp>
        <p:nvSpPr>
          <p:cNvPr id="24" name="shape-20"/>
          <p:cNvSpPr txBox="1"/>
          <p:nvPr/>
        </p:nvSpPr>
        <p:spPr>
          <a:xfrm>
            <a:off x="603504" y="614476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2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正式上线仍需拟开放模型真实业务验收、双人评审和目标部署验收。</a:t>
            </a:r>
            <a:endParaRPr lang="zh-CN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ns3="http://schemas.microsoft.com/office/drawing/2018/hyperlinkcolor" xmlns:p="http://schemas.openxmlformats.org/presentationml/2006/main" xmlns:r="http://schemas.openxmlformats.org/officeDocument/2006/relationships">
  <p:cSld name="Slide 17">
    <p:bg>
      <p:bgPr>
        <a:gradFill rotWithShape="1">
          <a:gsLst>
            <a:gs pos="0">
              <a:srgbClr val="E8F0FB"/>
            </a:gs>
            <a:gs pos="50000">
              <a:srgbClr val="F7FAFF"/>
            </a:gs>
            <a:gs pos="100000">
              <a:srgbClr val="EEF3FD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lob-top"/>
          <p:cNvSpPr/>
          <p:nvPr/>
        </p:nvSpPr>
        <p:spPr>
          <a:xfrm>
            <a:off x="8321040" y="3931920"/>
            <a:ext cx="4389120" cy="4389120"/>
          </a:xfrm>
          <a:prstGeom prst="ellipse">
            <a:avLst/>
          </a:prstGeom>
          <a:gradFill rotWithShape="1">
            <a:gsLst>
              <a:gs pos="0">
                <a:srgbClr val="C9E8F6">
                  <a:alpha val="55000"/>
                </a:srgbClr>
              </a:gs>
              <a:gs pos="50000">
                <a:srgbClr val="C9E8F6">
                  <a:alpha val="16000"/>
                </a:srgbClr>
              </a:gs>
              <a:gs pos="100000">
                <a:srgbClr val="C9E8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12700">
            <a:solidFill>
              <a:srgbClr val="333333">
                <a:alpha val="0"/>
              </a:srgbClr>
            </a:solidFill>
            <a:prstDash val="solid"/>
          </a:ln>
          <a:effectLst>
            <a:softEdge rad="825500"/>
          </a:effectLst>
        </p:spPr>
      </p:sp>
      <p:sp>
        <p:nvSpPr>
          <p:cNvPr id="4" name="shape-1"/>
          <p:cNvSpPr/>
          <p:nvPr/>
        </p:nvSpPr>
        <p:spPr>
          <a:xfrm>
            <a:off x="457200" y="393192"/>
            <a:ext cx="3291840" cy="320040"/>
          </a:xfrm>
          <a:prstGeom prst="roundRect">
            <a:avLst>
              <a:gd name="adj" fmla="val 48571"/>
            </a:avLst>
          </a:prstGeom>
          <a:solidFill>
            <a:srgbClr val="4D6BFE">
              <a:alpha val="10000"/>
            </a:srgbClr>
          </a:solidFill>
          <a:ln w="12700">
            <a:solidFill>
              <a:srgbClr val="4D6BFE">
                <a:alpha val="28000"/>
              </a:srgbClr>
            </a:solidFill>
            <a:prstDash val="solid"/>
          </a:ln>
        </p:spPr>
      </p:sp>
      <p:sp>
        <p:nvSpPr>
          <p:cNvPr id="5" name="shape-2"/>
          <p:cNvSpPr txBox="1"/>
          <p:nvPr/>
        </p:nvSpPr>
        <p:spPr>
          <a:xfrm>
            <a:off x="548640" y="425196"/>
            <a:ext cx="3108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100" spc="200" kern="0" dirty="0">
                <a:solidFill>
                  <a:srgbClr val="4D6BFE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SLIDE 17 · TRY &amp; FEEDBACK</a:t>
            </a:r>
            <a:endParaRPr lang="zh-CN" sz="1100" dirty="0"/>
          </a:p>
        </p:txBody>
      </p:sp>
      <p:sp>
        <p:nvSpPr>
          <p:cNvPr id="6" name="shape-3"/>
          <p:cNvSpPr txBox="1"/>
          <p:nvPr/>
        </p:nvSpPr>
        <p:spPr>
          <a:xfrm>
            <a:off x="10771632" y="6391656"/>
            <a:ext cx="9418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zh-CN" altLang="en-US" sz="12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17</a:t>
            </a:r>
            <a:endParaRPr lang="zh-CN" sz="1200" dirty="0"/>
          </a:p>
        </p:txBody>
      </p:sp>
      <p:sp>
        <p:nvSpPr>
          <p:cNvPr id="7" name="shape-4"/>
          <p:cNvSpPr txBox="1"/>
          <p:nvPr/>
        </p:nvSpPr>
        <p:spPr>
          <a:xfrm>
            <a:off x="1042416" y="1618488"/>
            <a:ext cx="10104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8000"/>
              </a:lnSpc>
              <a:buNone/>
            </a:pPr>
            <a:r>
              <a:rPr lang="zh-CN" altLang="en-US" sz="4400" b="1" dirty="0">
                <a:gradFill rotWithShape="1">
                  <a:gsLst>
                    <a:gs pos="0">
                      <a:srgbClr val="4D6BFE"/>
                    </a:gs>
                    <a:gs pos="100000">
                      <a:srgbClr val="8A5CF6"/>
                    </a:gs>
                  </a:gsLst>
                  <a:lin ang="0" scaled="1"/>
                </a:gra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带一个真实需求</a:t>
            </a:r>
            <a:endParaRPr lang="zh-CN" sz="4400" dirty="0"/>
          </a:p>
          <a:p>
            <a:pPr algn="ctr" indent="0" marL="0">
              <a:lnSpc>
                <a:spcPct val="128000"/>
              </a:lnSpc>
              <a:buNone/>
            </a:pPr>
            <a:r>
              <a:rPr lang="zh-CN" altLang="en-US" sz="4400" b="1" dirty="0">
                <a:gradFill rotWithShape="1">
                  <a:gsLst>
                    <a:gs pos="0">
                      <a:srgbClr val="4D6BFE"/>
                    </a:gs>
                    <a:gs pos="100000">
                      <a:srgbClr val="8A5CF6"/>
                    </a:gs>
                  </a:gsLst>
                  <a:lin ang="0" scaled="1"/>
                </a:gra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试一次更清晰的表达</a:t>
            </a:r>
            <a:endParaRPr lang="zh-CN" sz="4400" dirty="0"/>
          </a:p>
        </p:txBody>
      </p:sp>
      <p:sp>
        <p:nvSpPr>
          <p:cNvPr id="8" name="shape-5"/>
          <p:cNvSpPr txBox="1"/>
          <p:nvPr/>
        </p:nvSpPr>
        <p:spPr>
          <a:xfrm>
            <a:off x="1005840" y="3593592"/>
            <a:ext cx="10149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zh-CN" altLang="en-US" sz="1800" dirty="0">
                <a:solidFill>
                  <a:srgbClr val="5B6B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从一个脱敏的小任务开始。</a:t>
            </a:r>
            <a:endParaRPr lang="zh-CN" sz="1800" dirty="0"/>
          </a:p>
        </p:txBody>
      </p:sp>
      <p:sp>
        <p:nvSpPr>
          <p:cNvPr id="9" name="shape-6"/>
          <p:cNvSpPr/>
          <p:nvPr/>
        </p:nvSpPr>
        <p:spPr>
          <a:xfrm>
            <a:off x="4215384" y="4361688"/>
            <a:ext cx="3749040" cy="594360"/>
          </a:xfrm>
          <a:prstGeom prst="roundRect">
            <a:avLst>
              <a:gd name="adj" fmla="val 49231"/>
            </a:avLst>
          </a:prstGeom>
          <a:solidFill>
            <a:srgbClr val="4D6BFE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508000" dist="203200" dir="5400000">
              <a:srgbClr val="465aa0">
                <a:alpha val="16000"/>
              </a:srgbClr>
            </a:outerShdw>
          </a:effectLst>
        </p:spPr>
      </p:sp>
      <p:sp>
        <p:nvSpPr>
          <p:cNvPr id="10" name="shape-7">
            <a:hlinkClick r:id="rId1" tooltip="" action="ppaction://hlinksldjump"/>
          </p:cNvPr>
          <p:cNvSpPr txBox="1"/>
          <p:nvPr/>
        </p:nvSpPr>
        <p:spPr>
          <a:xfrm>
            <a:off x="4398264" y="452628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600" u="sng" dirty="0">
                <a:solidFill>
                  <a:srgbClr val="FFFFFF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  <a:hlinkClick r:id="rId1" action="ppaction://hlinksldjump" tooltip="">
                  <a:extLst>
                    <a:ext uri="{A12FA001-AC4F-418D-AE19-62706E023703}">
                      <ns3:hlinkClr val="tx"/>
                    </a:ext>
                  </a:extLst>
                </a:hlinkClick>
              </a:rPr>
              <a:t>回看示意案例</a:t>
            </a:r>
            <a:endParaRPr lang="zh-CN" sz="1600" dirty="0"/>
          </a:p>
        </p:txBody>
      </p:sp>
      <p:sp>
        <p:nvSpPr>
          <p:cNvPr id="11" name="shape-8"/>
          <p:cNvSpPr txBox="1"/>
          <p:nvPr/>
        </p:nvSpPr>
        <p:spPr>
          <a:xfrm>
            <a:off x="1097280" y="5385816"/>
            <a:ext cx="10003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zh-CN" altLang="en-US" sz="1400" dirty="0">
                <a:solidFill>
                  <a:srgbClr val="3A476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反馈：哪里更清楚，哪里仍需要解释？</a:t>
            </a:r>
            <a:endParaRPr lang="zh-CN" sz="1400" dirty="0"/>
          </a:p>
        </p:txBody>
      </p:sp>
      <p:sp>
        <p:nvSpPr>
          <p:cNvPr id="12" name="shape-9"/>
          <p:cNvSpPr txBox="1"/>
          <p:nvPr/>
        </p:nvSpPr>
        <p:spPr>
          <a:xfrm>
            <a:off x="1097280" y="5907024"/>
            <a:ext cx="1000353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zh-CN" altLang="en-US" sz="1200" dirty="0">
                <a:solidFill>
                  <a:srgbClr val="6B7A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个人开发者项目 · MVP 本地联调与内部试用</a:t>
            </a:r>
            <a:endParaRPr lang="zh-CN" sz="1200" dirty="0"/>
          </a:p>
        </p:txBody>
      </p:sp>
      <p:sp>
        <p:nvSpPr>
          <p:cNvPr id="13" name="shape-10"/>
          <p:cNvSpPr txBox="1"/>
          <p:nvPr/>
        </p:nvSpPr>
        <p:spPr>
          <a:xfrm>
            <a:off x="484632" y="6400800"/>
            <a:ext cx="99029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zh-CN" altLang="en-US" sz="1000" dirty="0">
                <a:solidFill>
                  <a:srgbClr val="8A97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Copyright © 2026 QingNiao0x  ·  PolyForm Noncommercial 1.0.0</a:t>
            </a:r>
            <a:endParaRPr lang="zh-CN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Prompt Optimizer Platform｜用户介绍</dc:title>
  <dc:subject>个人开发者项目 · MVP 本地联调与内部试用</dc:subject>
  <dc:creator>QingNiao0x</dc:creator>
  <cp:lastModifiedBy>QingNiao0x</cp:lastModifiedBy>
  <cp:revision>1</cp:revision>
  <dcterms:created xsi:type="dcterms:W3CDTF">2026-10-03T19:41:48Z</dcterms:created>
  <dcterms:modified xsi:type="dcterms:W3CDTF">2026-10-03T19:41:48Z</dcterms:modified>
</cp:coreProperties>
</file>