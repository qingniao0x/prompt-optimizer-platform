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embeddedFontLst>
    <p:embeddedFont>
      <p:font typeface="Noto Sans SC" pitchFamily="34" charset="-122"/>
      <p:regular r:id="rId100"/>
      <p:bold r:id="rId101"/>
    </p:embeddedFont>
    <p:embeddedFont>
      <p:font typeface="Noto Sans SC Medium" pitchFamily="34" charset="-122"/>
      <p:regular r:id="rId102"/>
    </p:embeddedFont>
    <p:embeddedFont>
      <p:font typeface="Noto Serif SC" pitchFamily="34" charset="-122"/>
      <p:bold r:id="rId10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notesMaster" Target="notesMasters/notesMaster1.xml" /><Relationship Id="rId20" Type="http://schemas.openxmlformats.org/officeDocument/2006/relationships/presProps" Target="presProps.xml" /><Relationship Id="rId21" Type="http://schemas.openxmlformats.org/officeDocument/2006/relationships/viewProps" Target="viewProps.xml" /><Relationship Id="rId22" Type="http://schemas.openxmlformats.org/officeDocument/2006/relationships/theme" Target="theme/theme1.xml" /><Relationship Id="rId23" Type="http://schemas.openxmlformats.org/officeDocument/2006/relationships/tableStyles" Target="tableStyles.xml" /><Relationship Id="rId100" Type="http://schemas.openxmlformats.org/officeDocument/2006/relationships/font" Target="fonts/NotoSansSC-400.fntdata" /><Relationship Id="rId101" Type="http://schemas.openxmlformats.org/officeDocument/2006/relationships/font" Target="fonts/NotoSansSC-700.fntdata" /><Relationship Id="rId102" Type="http://schemas.openxmlformats.org/officeDocument/2006/relationships/font" Target="fonts/NotoSansSC-500.fntdata" /><Relationship Id="rId103" Type="http://schemas.openxmlformats.org/officeDocument/2006/relationships/font" Target="fonts/NotoSerifSC-900.fntdata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ns2="http://schemas.microsoft.com/office/powerpoint/2010/main" xmlns:p="http://schemas.openxmlformats.org/presentationml/2006/main" xmlns:po="urn:prompt-optimizer-platform:presentation:design-notes:v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4777FA47-1B4A-47DB-91B9-FED87D1A1DA4}">
      <po:masterNotes>母版设计备注 / MASTER DESIGN NOTES
交付主题：浅蓝 Glassmorphism（整册统一）；16:9，13.333 × 7.5 in。
浅色：背景 #e8f0fb → #f7faff → #eef3fd；蓝 #4d6bfe；紫 #8a5cf6（仅与蓝渐变）；标题 #1c2541；正文 #3a4763 / #5b6b8c；弱化 #6b7a99 / #8a97b5 / #98a4c0；绿 #0e9f6e；橙 #c2690a；信息蓝 #1d5fd6；粉 #c2256f，语义底色为 10% 不透明。
深色备选（本册未使用）：背景 #0b1120；标题 #e9eef8；正文 #a9b6cf；弱化 #8797b5；蓝 #6b85ff；绿 #34d399；橙 #fbbf24；信息蓝 #60a5fa；粉 #f472b6；卡片 rgba(18,24,44,0.5)，白边 14% 不透明。
卡片：白色 38% 透明，白边 1pt / 15% 透明，外圆角约 0.13in；内卡白色 50% 透明、0.09in。阴影 #465aa0 / 16% 不透明，模糊 40pt、偏移 16pt、90°。
色球：#c3d6fb / #dcd0fb / #c9e8f6；45–48% 透明；柔化边缘 65pt；位于内容底层，每页不超过两个。
字体：Noto Serif SC 900（静态 Black 字重）；Noto Sans SC 400/500/700；Consolas 数字参数。标题 44/32pt；正文 14pt，行距 1.8；卡片 12pt，行距 1.7；卡题 15pt；标签 11pt，字距约 2pt；参数 10–12pt。
所有文字和图形原生可编辑；第 8、9、12 页的实际 Plan 提问、答案核对和工作台截图使用 PNG。截图均为隔离接口的人工示意样例，正文不作为整页图像。新增图文页右上标注“示意样例”，沿用原浅蓝视觉，不新增第三套字体或配色。</po:masterNotes>
    </p:ext>
  </p:extLst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页｜让想法更清晰，让 AI 更好理解
封面 / 导览 / 结尾
建议时长：45 秒
核心文案
个人开发者项目
MVP 本地联调与内部试用
把需求与材料，整理成可审阅、可复制的优化提示词。
演讲备注
大家好，这是我个人开发的 Prompt Optimizer Platform。很多时候，我们知道自己想做什么，却还没有把目标、背景和限制说完整，就把任务交给了 AI。这个平台把需求整理这一步放在前面，帮助我们形成一份可以检查和修改的优化提示词。今天介绍的是 MVP 本地联调与内部试用版本。我会带大家看清它的价值、实际操作过程，以及目前的能力边界。
演示动作建议
展示封面，直接说明个人开发者身份与当前阶段；不加入公司标识、客户名单、商业认证或上线规模。
视觉与版式
左对齐封面；两行 44pt 衬线渐变标题；右侧叠放可编辑的原始想法与清晰任务玻璃卡片；右上淡蓝色球。
事实依据（核对日期 2026-10-05）
README.md
定位：项目简介、核心能力、Plan Mode 增强方法、项目定位与边界
说明：面向人群、产品路径和 MVP 本地联调与内部试用定位。
AGENTS.md
定位：项目上下文、执行与完成、业务数据删除约束
说明：个人项目的协作边界、只生成提示词及逻辑删除约束。
材料属性：宣传讲解材料；人工案例不是客户成果，不将测试结果表述为商业效果。</a:t>
            </a:r>
            <a:endParaRPr lang="en-US" dirty="0"/>
          </a:p>
          <a:p>
            <a:r>
              <a:rPr lang="zh-CN" sz="1200"/>
              <a:t/>
            </a:r>
          </a:p>
          <a:p>
            <a:r>
              <a:rPr lang="zh-CN" sz="1200"/>
              <a:t>母版设计备注 / MASTER DESIGN NOTES</a:t>
            </a:r>
          </a:p>
          <a:p>
            <a:r>
              <a:rPr lang="zh-CN" sz="1200"/>
              <a:t>交付主题：浅蓝 Glassmorphism（整册统一）；16:9，13.333 × 7.5 in。</a:t>
            </a:r>
          </a:p>
          <a:p>
            <a:r>
              <a:rPr lang="zh-CN" sz="1200"/>
              <a:t>浅色：背景 #e8f0fb → #f7faff → #eef3fd；蓝 #4d6bfe；紫 #8a5cf6（仅与蓝渐变）；标题 #1c2541；正文 #3a4763 / #5b6b8c；弱化 #6b7a99 / #8a97b5 / #98a4c0；绿 #0e9f6e；橙 #c2690a；信息蓝 #1d5fd6；粉 #c2256f，语义底色为 10% 不透明。</a:t>
            </a:r>
          </a:p>
          <a:p>
            <a:r>
              <a:rPr lang="zh-CN" sz="1200"/>
              <a:t>深色备选（本册未使用）：背景 #0b1120；标题 #e9eef8；正文 #a9b6cf；弱化 #8797b5；蓝 #6b85ff；绿 #34d399；橙 #fbbf24；信息蓝 #60a5fa；粉 #f472b6；卡片 rgba(18,24,44,0.5)，白边 14% 不透明。</a:t>
            </a:r>
          </a:p>
          <a:p>
            <a:r>
              <a:rPr lang="zh-CN" sz="1200"/>
              <a:t>卡片：白色 38% 透明，白边 1pt / 15% 透明，外圆角约 0.13in；内卡白色 50% 透明、0.09in。阴影 #465aa0 / 16% 不透明，模糊 40pt、偏移 16pt、90°。</a:t>
            </a:r>
          </a:p>
          <a:p>
            <a:r>
              <a:rPr lang="zh-CN" sz="1200"/>
              <a:t>色球：#c3d6fb / #dcd0fb / #c9e8f6；45–48% 透明；柔化边缘 65pt；位于内容底层，每页不超过两个。</a:t>
            </a:r>
          </a:p>
          <a:p>
            <a:r>
              <a:rPr lang="zh-CN" sz="1200"/>
              <a:t>字体：Noto Serif SC 900（静态 Black 字重）；Noto Sans SC 400/500/700；Consolas 数字参数。标题 44/32pt；正文 14pt，行距 1.8；卡片 12pt，行距 1.7；卡题 15pt；标签 11pt，字距约 2pt；参数 10–12pt。</a:t>
            </a:r>
          </a:p>
          <a:p>
            <a:r>
              <a:rPr lang="zh-CN" sz="1200"/>
              <a:t>所有文字和图形原生可编辑；第 8、9、12 页的实际 Plan 提问、答案核对和工作台截图使用 PNG。截图均为隔离接口的人工示意样例，正文不作为整页图像。新增图文页右上标注“示意样例”，沿用原浅蓝视觉，不新增第三套字体或配色。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页｜从一个想法，走到一份清晰任务
封面 / 导览 / 结尾
建议时长：30 秒
核心文案
项目简介与产品定位
用户痛点与业务价值
目标用户与典型场景
一键增强与结构化输出
Plan Mode：先确认，再生成
项目上下文与多技术栈支持
工作台体验与案例演示
技术架构与关键实现
安全、隐私与能力边界
演讲备注
这次介绍围绕九个章节展开。前面先回答适合谁、解决什么问题，中间重点演示一键增强、Plan 确认和项目上下文，后面用两张图说明这些设计如何帮助用户，最后明确安全和能力边界。所有案例都会标注为示意样例，便于大家理解操作，不作为真实客户成果。
演示动作建议
概览九章；HTML 可点击章节跳转。技术章节明确为一张架构图和一张请求流程图，不增加未来规划章节。
视觉与版式
三列分组目录，每列三章；九章序号使用品牌蓝与等宽字体；玻璃大容器统一留白。
事实依据（核对日期 2026-10-05）
README.md
定位：项目简介、核心能力、Plan Mode 增强方法、项目定位与边界
说明：面向人群、产品路径和 MVP 本地联调与内部试用定位。
docs/presentations/2026-10-04/glassmorphism/source/原版母版设计规范.md
定位：原交付包中的母版设计规范快照
说明：原版浅蓝 Glassmorphism 的字体、色值、卡片、页码和可编辑性参数；新增配图继续遵守这些规范。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页｜把模糊想法，整理成清晰任务
章节 1：项目简介与产品定位
建议时长：80 秒
核心文案
输入想法：用自然语言描述目标，按需补充资料。
整理要求：明确任务、交付形式、约束与待确认事项。
审阅后使用：编辑并复制优化提示词，交给你选择的 AI。
个人开发者项目；MVP 本地联调与内部试用。
示意样例：平台交付提示词，文章、报告和代码由后续工具生成。
演讲备注
可以把这个平台理解成一个帮助整理任务说明的工作台。你不必先学会复杂的提示词技巧，先用自己的话说想做什么，再按需提供资料。平台把任务、交付形式和限制整理得更清楚，你来检查，再复制给选择的 AI。比如“帮我写一篇预告”，还需要说明写给谁、在哪里发布、哪些信息有依据。它的价值是让这些要求变得看得见、可核对，而不是替你做未经确认的决定。今天所有示意样例都用于讲解。项目由我个人开发，当前是 MVP 本地联调与内部试用，交付的是优化提示词，不会直接替你写完报告、执行代码或发布文章。
演示动作建议
从左到右指出想法、整理、交给 AI 三个环节；让听众用一句日常语言描述任务。强调最后一张卡是可复制的任务说明，不是已完成的文章。
视觉与版式
三段横向任务整理图。想法卡用气泡图标、平台卡用三项核对条、交付卡用文档图标；浅蓝玻璃与语义蓝/橙；页面右上统一“示意样例”标记。底部保留个人身份和 MVP 阶段。
事实依据（核对日期 2026-10-05）
README.md
定位：项目简介、核心能力、Plan Mode 增强方法、项目定位与边界
说明：面向人群、产品路径和 MVP 本地联调与内部试用定位。
CONTEXT.md
定位：领域术语与权限红线
说明：统一原始提示词、优化提示词、项目上下文、工作区和租户等术语。
docs/01-产品与范围.md
定位：核心价值、目标用户、MVP 范围（设计草案）
说明：采用痛点与价值框架；模型选择、记录保存、输出结构等与代码不一致之处按当前实现修正。
C:/Users/Administrator/Desktop/Prompt Optimizer项目介绍.zip
定位：Prompt Optimizer项目介绍.md：使用 AI 遇到的问题、解决方案、写作与研究示例
说明：优先采用用户提供素材的痛点叙述。删除直接生成生产级代码或调查报告、瞬间完成、效率飞跃等未经支持的主张。
apps/web/src/pages/PromptWorkbenchPage.vue
定位：beginEnhancement、runPlannedEnhancement、runDirectEnhancement、generateFinalPrompt、prepareContextTransmission、workbench-grid
说明：直接增强/Plan 分支、上下文发送确认与三栏工作台。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页｜为什么反复改，还是用不上？
章节 2：用户痛点与业务价值
建议时长：90 秒
核心文案
目标模糊：“写得专业一点”——受众和用途不明，容易反复换说法。
格式不清：“整理一下记录”——需要表格却得到长文，还要手动重排。
背景缺失：“照项目情况来”——缺少材料依据，结果难以贴合实际。
关键条件未定：“你看着办”——日期、范围或规则被猜错，就要返工。
示意样例：明确目标与格式、带入材料、确认关键决定，让偏差更早被发现。
演讲备注
先看四种熟悉的情况。你说“专业一点”，却没说给谁看，结果就可能过于深奥或过于空泛；你要的是行动清单，收到的却是一篇长文，还要自己重排；你希望贴合项目，却没有提供背景，便要反复补材料；关键条件尚未确定时，AI 还可能替你猜一个答案，后面的内容就得重做。这些问题不应全部归咎于用户，模型本身也可能理解错误。平台想帮助我们把要求和缺口提前摆出来：哪些要说清，哪些要补资料，哪些要自己决定。它为减少重复沟通提供帮助，但不保证一次生成就正确，也没有对外宣称节省多少时间。
演示动作建议
指向四张示意卡，邀请听众选择最常遇到的一类；再沿卡片底部指出对应整理方式。用“更早看见偏差”解释价值，不用“一次到位”或虚构效率数字。
视觉与版式
借鉴参考图的解释性图文组织，采用四张浅色玻璃痛点卡：用户原话、返工成本、解决入口。卡内配气泡、清单、资料与选择图标；保留规范字体，不照搬手写字体或强效果承诺。
事实依据（核对日期 2026-10-05）
C:/Users/Administrator/Desktop/Prompt Optimizer项目介绍.zip
定位：Prompt Optimizer项目介绍.md：使用 AI 遇到的问题、解决方案、写作与研究示例
说明：优先采用用户提供素材的痛点叙述。删除直接生成生产级代码或调查报告、瞬间完成、效率飞跃等未经支持的主张。
docs/01-产品与范围.md
定位：核心价值、目标用户、MVP 范围（设计草案）
说明：采用痛点与价值框架；模型选择、记录保存、输出结构等与代码不一致之处按当前实现修正。
README.md
定位：项目简介、核心能力、Plan Mode 增强方法、项目定位与边界
说明：面向人群、产品路径和 MVP 本地联调与内部试用定位。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页｜同一工作台，适配不同任务
章节 3：目标用户与典型场景
建议时长：80 秒
核心文案
开发者：整理功能、排错或测试要求；带入已有技术栈和行为规则。
文案创作者：明确读者、渠道、语气和篇幅；保留资料中的事实。
学生与研究人员：明确研究口径、时间范围和来源；不编造数据与引用。
办公用户：把会议整理需求说清，区分已确认决议与待定负责人、期限。
示意样例：这些是同一工作台的使用方式，不代表已完成各领域质量验收。
演讲备注
这里没有要求大家都会写代码。开发者可以带着项目资料整理一个功能需求；创作者可以整理活动预告、文章改写或选题要求；学生和研究人员可以先确认要研究什么、用什么口径和哪些材料；办公用户可以说明纪要需要哪些字段。桌面素材中有“调查 AI 使用行业”的例子，最先要明确的是“最多”按采用率还是频次衡量、覆盖什么时间和地区。平台整理的是这份调研任务说明，并不会自动查到全球数据、完成报告或替你核验所有引用。四种场景共享当前工作台，专业结论仍需人工复核。
演示动作建议
开发、写作、研究、办公各用一句话带过；优先选听众熟悉的“活动预告”作为后续演示主线。所有卡片为人工示意样例。
视觉与版式
保留四张场景卡结构，补充“原始想法 / 需要明确”的对应关系；图标仍用原生可编辑图形，右上统一示意标记。
事实依据（核对日期 2026-10-05）
README.md
定位：项目简介、核心能力、Plan Mode 增强方法、项目定位与边界
说明：面向人群、产品路径和 MVP 本地联调与内部试用定位。
C:/Users/Administrator/Desktop/Prompt Optimizer项目介绍.zip
定位：Prompt Optimizer项目介绍.md：使用 AI 遇到的问题、解决方案、写作与研究示例
说明：优先采用用户提供素材的痛点叙述。删除直接生成生产级代码或调查报告、瞬间完成、效率飞跃等未经支持的主张。
docs/01-产品与范围.md
定位：核心价值、目标用户、MVP 范围（设计草案）
说明：采用痛点与价值框架；模型选择、记录保存、输出结构等与代码不一致之处按当前实现修正。
services/api/src/main/java/com/promptoptimizer/enhancement/service/impl/OptimizationResultAssembler.java
定位：BACKGROUND/TASK/OUTPUT/CONSTRAINTS、ACCEPTANCE、includeExamples、executionPrerequisites
说明：四要素必需；验收标准当前补齐；示例按开关；未决条件进入正文。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页｜一键开始，把要求整理得更具体
章节 4：一键增强与结构化输出
建议时长：85 秒
核心文案
直接增强：输入原始提示词，按需添加资料，点击“直接增强提示词”。
一键增强 → 帮助把目标与格式组织清楚。
Plan Mode 确认 → 对影响结果的关键决定先提问。
项目上下文化 → 把用户提供的相关材料作为依据。
生成后：用户审阅、编辑、复制；也可用当前结果再次增强。
示意样例：没有给定的日期、数据或规则，不能当作已知事实补齐。
演讲备注
“一键”说的是启动方式简单，不是对结果正确性的保证。已有明确要求时，用默认的直接增强即可。比如写活动预告，不只是把“帮我写”扩成一大段话，而是整理出读者是谁、文章放在哪里、要多长、哪些事实不能编。三个能力可以配合使用：一键增强组织表达，Plan 确认处理需要你选择的关键决定，项目上下文提供材料依据。没有材料或没有确认的信息仍应保留为缺口。生成后你可以编辑、复制，或者用当前结果再次增强；再次增强仍遵循当前 Plan 开关。
演示动作建议
沿上方三个能力卡说明各自解决什么问题；关闭 Plan 演示直接增强，再展示如何审阅输出。现场若没有可用模型，就使用标明示意的静态流程，不把截图当成实测结果。
视觉与版式
上方三张能力卡对应表达、决定、材料；下方一条可编辑的“原始需求 → 点击增强 → 审阅后复制”操作带。右上标注示意样例，清楚区分启动操作与最终质量。
事实依据（核对日期 2026-10-05）
README.md
定位：项目简介、核心能力、Plan Mode 增强方法、项目定位与边界
说明：面向人群、产品路径和 MVP 本地联调与内部试用定位。
C:/Users/Administrator/Desktop/Prompt Optimizer项目介绍.zip
定位：Prompt Optimizer项目介绍.md：使用 AI 遇到的问题、解决方案、写作与研究示例
说明：优先采用用户提供素材的痛点叙述。删除直接生成生产级代码或调查报告、瞬间完成、效率飞跃等未经支持的主张。
apps/web/src/pages/PromptWorkbenchPage.vue
定位：beginEnhancement、runPlannedEnhancement、runDirectEnhancement、generateFinalPrompt、prepareContextTransmission、workbench-grid
说明：直接增强/Plan 分支、上下文发送确认与三栏工作台。
apps/web/src/components/prompt/ResultPanel.vue
定位：结果编辑、复制、再次增强与复制并打开
说明：结果使用方式；打开目标平台后由用户自行粘贴发送。
services/api/src/main/java/com/promptoptimizer/enhancement/service/impl/DefaultEnhancementOrchestrator.java
定位：optimize
说明：模型解析、安全处理、上下文分析、任务策略及结果生成编排。
services/api/src/main/java/com/promptoptimizer/enhancement/service/impl/OptimizationResultAssembler.java
定位：BACKGROUND/TASK/OUTPUT/CONSTRAINTS、ACCEPTANCE、includeExamples、executionPrerequisites
说明：四要素必需；验收标准当前补齐；示例按开关；未决条件进入正文。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页｜结构稳定，内容随任务变化
章节 4：一键增强与结构化输出
建议时长：70 秒
核心文案
背景：依据什么材料与已有事实
任务：具体要完成什么
输出：需要怎样的交付形式
约束：必须保留的限制与边界
当前补齐验收标准；示例默认关闭；有未决信息时保留待确认事项。
演讲备注
当前 MVP 的输出以背景、任务、输出、约束这四要素为核心。灵活性主要体现在：后端按需求选择通用、研究分析或软件任务策略，让内容重点随任务改变。验收标准目前会补齐，尚不能承诺按场景完全省略。示例由开关决定，默认关闭；存在未决信息时会保留待确认事项，执行前必须确认的条件也会进入可复制正文。所以我们既不会把它宣传成完全固定的六段模板，也不会把自然文本任意切换等规划写成已经开放。
演示动作建议
指向四要素，逐项核对示意结果。关闭示例开关时不演示“示例必有”；说明“按需”具体适用于哪些部分。
视觉与版式
四列内层卡片置于大玻璃面板；下方三条状态带分别说明验收标准、可选示例、待确认事项。
事实依据（核对日期 2026-10-05）
README.md
定位：项目简介、核心能力、Plan Mode 增强方法、项目定位与边界
说明：面向人群、产品路径和 MVP 本地联调与内部试用定位。
services/api/src/main/java/com/promptoptimizer/enhancement/service/impl/OptimizationResultAssembler.java
定位：BACKGROUND/TASK/OUTPUT/CONSTRAINTS、ACCEPTANCE、includeExamples、executionPrerequisites
说明：四要素必需；验收标准当前补齐；示例按开关；未决条件进入正文。
services/api/src/main/java/com/promptoptimizer/enhancement/service/impl/DefaultEnhancementOrchestrator.java
定位：optimize
说明：模型解析、安全处理、上下文分析、任务策略及结果生成编排。
docs/待办事项.md
定位：发布验收、动态输出、OCR、团队协作、额度计费及插件
说明：已实现记录和未完成事项分开；未开放事项仅在边界页单独标注。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页｜关键决定，先确认再生成
章节 5：Plan Mode：先确认，再生成
建议时长：90 秒
核心文案
开启 Plan：默认关闭，首次说明与偏好保存在当前浏览器。
先看需求与材料，按需提出最多 8 个问题。
支持单选、多选、自由回答；推荐项需要主动确认。
有效作答后点击“生成最终提示词”，结合答案再次检索并生成。
无问题时直接进入最终生成；问题内容与数量随需求变化。
示意样例：真实界面，人工问答，未调用真实模型。
演讲备注
对“帮我写一篇活动预告”这样的任务，读者与发布要求可能会影响整个结果。开启 Plan 后，平台先看原始需求与已有信息，再提出需要你决定的问题，不是固定问卷。右边是当前软件的实际提问界面，问题和选项是人工样例。推荐项仍然要你自己选择；可以出现单选、多选或自由回答，最多八题。有了有效答案，你再点击生成最终提示词，平台会结合回答重新检索相关材料。如果需求已经明确、没有需要提问的内容，则直接进入最终生成。
演示动作建议
展示真实提问界面的示意截图，指出未自动选择的推荐项；现场可选择“初学者”，点击“下一题”。强调这只是一个样例，真实模型不保证给出同样题目。
视觉与版式
左侧四步竖向 Plan 流程，右侧实际 .question-sheet 截图；截图上方显示“真实界面 / 人工样例”，底部解释无问题分支。所有文字标签保持原生可编辑。
事实依据（核对日期 2026-10-05）
apps/web/src/composables/usePlanModePreference.ts
定位：PLAN_MODE_STORAGE_KEY、parsePlanModePreference
说明：Plan 默认关闭、首次介绍和当前浏览器偏好保存。
docs/12-内置Plan-Mode交互与接口.md
定位：工作台交互、问题确认、最终生成和过期处理
说明：Plan 完整流程、最多 8 题及计划与最终生成的契约。
apps/web/src/components/prompt/PlanQuestionDialog.vue
定位：答案校验、自定义回答、题目导航、生成最终提示词
说明：单选、多选、自由回答及逐题确认交互。
apps/web/src/pages/PromptWorkbenchPage.vue
定位：beginEnhancement、runPlannedEnhancement、runDirectEnhancement、generateFinalPrompt、prepareContextTransmission、workbench-grid
说明：直接增强/Plan 分支、上下文发送确认与三栏工作台。
services/api/src/main/java/com/promptoptimizer/enhancement/service/impl/PlanningSessionServiceImpl.java
定位：confirm、计划所属身份与绑定校验
说明：服务端核对计划、确认答案、原始需求及身份范围。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页｜你来确认答案，再生成最终提示词
章节 5：Plan Mode：先确认，再生成
建议时长：90 秒
核心文案
逐题回答：单选、多选或自由填写；推荐项不是已确认答案。
核对已填答案：可展开查看，点击题目返回修改。
主动生成：全部问题有效作答后，点击“生成最终提示词”。
自定义回答会替换已有选项；未知信息和新冲突仍需核对。
示意样例：已选初学者、公众号约 300 字；报名方式仍待确认。
演讲备注
确认不是一路点“下一步”就结束。你可以展开“核对已填答案”，检查刚才选了什么，还可以点击题目回去修改。这里我们确认了初学者、公众号、约三百字和亲切语气，但报名方式并没有确定，所以明确写着待确认。允许自定义回答时，自定义内容会替换已选项。全部问题有有效答案后，再由你点击生成最终提示词。计划过期则需要重新生成问题并核对可恢复草稿。最终结果仍可能存在冲突或理解偏差，因此确认机制帮助保留决定，不代表平台已经能保证消除所有歧义。
演示动作建议
展开实际“核对已填答案（2）”，点击第一题返回；确认后到最后一题再生成。右侧截图记录的是人工示意状态，未连接真实模型。
视觉与版式
左侧三条可操作规则，右侧分别展示实际答案内容框与底部生成按钮的裁取截图；保留框内题号和文字，不修改应用 UI。下方区分已确认与仍待确认。统一标明示意样例，不将核对区描述为强制独立审批页。
事实依据（核对日期 2026-10-05）
apps/web/src/components/prompt/PlanQuestionDialog.vue
定位：答案校验、自定义回答、题目导航、生成最终提示词
说明：单选、多选、自由回答及逐题确认交互。
docs/12-内置Plan-Mode交互与接口.md
定位：工作台交互、问题确认、最终生成和过期处理
说明：Plan 完整流程、最多 8 题及计划与最终生成的契约。
services/api/src/main/java/com/promptoptimizer/enhancement/service/impl/PlanningSessionServiceImpl.java
定位：confirm、计划所属身份与绑定校验
说明：服务端核对计划、确认答案、原始需求及身份范围。
apps/web/src/pages/PromptWorkbenchPage.vue
定位：beginEnhancement、runPlannedEnhancement、runDirectEnhancement、generateFinalPrompt、prepareContextTransmission、workbench-grid
说明：直接增强/Plan 分支、上下文发送确认与三栏工作台。
services/api/src/main/java/com/promptoptimizer/enhancement/service/impl/OptimizationResultAssembler.java
定位：BACKGROUND/TASK/OUTPUT/CONSTRAINTS、ACCEPTANCE、includeExamples、executionPrerequisites
说明：四要素必需；验收标准当前补齐；示例按开关；未决条件进入正文。
docs/待办事项.md
定位：发布验收、动态输出、OCR、团队协作、额度计费及插件
说明：已实现记录和未完成事项分开；未开放事项仅在边界页单独标注。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页｜把背景带上，结果才更贴近任务
章节 6：项目上下文与多技术栈支持
建议时长：85 秒
核心文案
写作与办公：活动资料、草稿、报告或表格，让要求有事实依据。
开发：现有目录、依赖与代码片段，让提示词贴近已有项目。
代码资料在浏览器本地索引；需服务端解析的文档经确认上传、提取并临时索引。
本次按需求选择有限相关片段；分析报告提示覆盖情况与警告。
示意样例：活动资料能支持主题与受众，缺失报名方式时不编造。
选择文件 ≠ 模型读到全文；使用真实模型时，相关内容经后端发送给供应商。
演讲备注
“项目上下文”听起来像技术词，其实就是完成这次任务需要知道的背景。活动资料、会议记录、产品说明都可以是背景，代码项目只是其中一种。左边的示意材料写了活动主题和受众，却没写报名方式，我们就不能把一个猜测的网址塞进结果。平台会按任务选择相关片段，并给出覆盖情况和警告。代码资料走浏览器本地索引，需要服务端解析的文档则经确认上传并建立临时索引。文件被选择或成功解析，并不代表模型读到了所有内容；真实模型所需片段仍会经后端发送给供应商。
演示动作建议
指向“资料已知”和“仍缺信息”的差别，再展示上下文报告的覆盖与警告。用少量脱敏资料操作，强调由用户主动选择材料。
视觉与版式
左侧活动资料示意纸张卡，中间“按任务选相关内容”筛选图，右侧本次依据卡；下方分别说明代码本地索引和文档临时索引，配数据流边界提示。
事实依据（核对日期 2026-10-05）
README.md
定位：项目简介、核心能力、Plan Mode 增强方法、项目定位与边界
说明：面向人群、产品路径和 MVP 本地联调与内部试用定位。
docs/06-上下文分析设计.md
定位：浏览器本地索引、临时文档索引、检索和覆盖报告
说明：上下文两类处理路径、预算与数据流。
services/api/src/main/java/com/promptoptimizer/context/service/impl/DefaultContextAnalyzer.java
定位：技术栈、依赖、目录、片段与分析警告
说明：多技术栈识别与项目上下文摘要的实现。
apps/web/src/composables/useProjectIndex.ts
定位：本地索引、相关片段检索、页面选择与清理
说明：浏览器只处理用户选择的材料；索引与送模片段是不同范围。
apps/web/src/pages/PromptWorkbenchPage.vue
定位：beginEnhancement、runPlannedEnhancement、runDirectEnhancement、generateFinalPrompt、prepareContextTransmission、workbench-grid
说明：直接增强/Plan 分支、上下文发送确认与三栏工作台。
services/api/src/main/java/com/promptoptimizer/context/service/impl/StreamingDocumentExtractor.java
定位：extract、PDF 文本层、Word/Excel/PowerPoint 文本提取、图片元信息
说明：文档提取边界；不把图片语义和扫描 PDF OCR 写成已实现。
C:/Users/Administrator/Desktop/Prompt Optimizer项目介绍.zip
定位：Prompt Optimizer项目介绍.md：使用 AI 遇到的问题、解决方案、写作与研究示例
说明：优先采用用户提供素材的痛点叙述。删除直接生成生产级代码或调查报告、瞬间完成、效率飞跃等未经支持的主张。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页｜多种技术栈，多种资料入口
章节 6：项目上下文与多技术栈支持
建议时长：65 秒
核心文案
技术栈线索：Java / Spring Boot、Node.js / Vue / React、Python、Go、Rust 等
工程依据：依赖、目录结构、配置和相关代码片段
文档文本：PDF 文字层、Word、Excel、PowerPoint
当前不提供图片语义识别、扫描版 PDF OCR 或自动代码执行。
示意样例：材料类型和技术栈说明，不代表全部框架或文档质量验收。
演讲备注
对于开发任务，平台会结合目录、配置、依赖和代码内容识别技术栈线索，例如 Java 和 Spring Boot、Node.js 以及 Vue 或 React，也包括 Python、Go、Rust 等。这有助于把任务放回现有工程的语境，但不等于平台能编译、运行或正确理解每个框架的全部细节。对于普通资料，当前支持 PDF 文字层以及 Office 文档文本提取。图片语义和扫描版 PDF 的 OCR 仍未开放。兼容性和覆盖范围需要查看实际解析报告，不能把上传成功当成完整理解。
演示动作建议
展示一个包含 pom.xml 或 package.json 的小项目分析结果，再展示脱敏文档的提取报告；不要现场承诺未验证格式。
视觉与版式
三张特性卡片：技术栈线索、工程依据、文档文本；底部橙色边界条；技术栈仅做文本标签，不用供应商品牌 Logo。
事实依据（核对日期 2026-10-05）
README.md
定位：项目简介、核心能力、Plan Mode 增强方法、项目定位与边界
说明：面向人群、产品路径和 MVP 本地联调与内部试用定位。
services/api/src/main/java/com/promptoptimizer/context/service/impl/DefaultContextAnalyzer.java
定位：技术栈、依赖、目录、片段与分析警告
说明：多技术栈识别与项目上下文摘要的实现。
services/api/src/main/java/com/promptoptimizer/context/service/impl/StreamingDocumentExtractor.java
定位：extract、PDF 文本层、Word/Excel/PowerPoint 文本提取、图片元信息
说明：文档提取边界；不把图片语义和扫描 PDF OCR 写成已实现。
docs/06-上下文分析设计.md
定位：浏览器本地索引、临时文档索引、检索和覆盖报告
说明：上下文两类处理路径、预算与数据流。
docs/待办事项.md
定位：发布验收、动态输出、OCR、团队协作、额度计费及插件
说明：已实现记录和未完成事项分开；未开放事项仅在边界页单独标注。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页｜三栏工作台，一眼看清输入与结果
章节 7：工作台体验与案例演示
建议时长：85 秒
核心文案
左侧带背景：按需添加项目说明和资料。
中间说目标：输入原始提示词，选择直接增强或 Plan。
右侧核对结果：检查事实、范围与限制，再编辑、复制。
最终生成会自动保存优化记录；提问阶段不保存为优化记录。
示意样例：真实界面与人工数据，全部业务接口隔离，未调用真实模型。
演讲备注
我们把前面的能力放回一个界面里看。左侧用于带背景，中间保留你的原话和增强方式，右侧给出可以核对、编辑和复制的优化提示词。这样你可以对照原始需求，检查受众、篇幅和限制有没有被保留。本页来自实际 Vue 工作台，但问答和结果都是人工样例，全部业务请求被隔离，不代表真实模型的效果或速度。最终生成会自动保存优化记录，Plan 提问阶段不会单独成为优化记录；你在页面上编辑也不会覆盖原历史记录。
演示动作建议
按“带背景 → 说目标 → 核对并复制”的顺序指引。真实演示时先准备脱敏资料；不要用截图中 Mock 与耗时字段宣传性能。 本页只展示界面全貌，具体文本内容转到第 13 页大字对比卡讲解。
视觉与版式
保留真实三栏截图并更新为 Plan 确认后的人工样例状态；底部增加三个直观操作标签，对齐实际列位置，截图等比展示，避免缩小至无法辨认。
事实依据（核对日期 2026-10-05）
apps/web/src/pages/PromptWorkbenchPage.vue
定位：beginEnhancement、runPlannedEnhancement、runDirectEnhancement、generateFinalPrompt、prepareContextTransmission、workbench-grid
说明：直接增强/Plan 分支、上下文发送确认与三栏工作台。
apps/web/src/components/prompt/PlanQuestionDialog.vue
定位：答案校验、自定义回答、题目导航、生成最终提示词
说明：单选、多选、自由回答及逐题确认交互。
apps/web/src/components/prompt/ResultPanel.vue
定位：结果编辑、复制、再次增强与复制并打开
说明：结果使用方式；打开目标平台后由用户自行粘贴发送。
README.md
定位：项目简介、核心能力、Plan Mode 增强方法、项目定位与边界
说明：面向人群、产品路径和 MVP 本地联调与内部试用定位。
apps/web/e2e/prompt-copy.spec.ts
定位：openCopyWorkbench、OptimizationResult 测试夹具
说明：实际工作台截图使用隔离的人工示意数据，不代表模型输出质量或耗时。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页｜从“帮我写”，到一份可核对的要求
章节 7：工作台体验与案例演示
建议时长：95 秒
核心文案
整理前：“根据活动资料，帮我写一篇预告。”
资料依据：主题为清晰表达 AI 需求；面向初学者；报名方式未提供。
用户确认：公众号发布、约 300 字、语气亲切。
整理后：写清背景、任务、输出形式与约束，并保留验收标准。
不编造时间、费用、讲师经历；报名方式保留待确认。
示意样例：资料和答案均为人工构造，没有真实客户成果或效率承诺。
演讲备注
把整个过程连起来看。原始需求只有一句“帮我写一篇预告”。资料给了主题和受众，用户又确认了发布渠道、篇幅和语气。整理后的提示词把这些依据分别写清：要完成什么，交付什么格式，哪些事实不能编，缺什么还要补。这不是让文字越长越好，而是让我们能逐项检查。示例特意保留了没有给定的报名方式，没有凭空补日期、费用或讲师经历。页面只展示节选，完整结果还会包含验收标准和平台强制约束。经过审阅后复制给选择的 AI，生成文章是后续步骤。
演示动作建议
逐项从左侧材料与确认答案连到右侧四要素，邀请听众找到“仍待确认”的报名方式。只演示复制操作，不把样例当成已发布内容。
视觉与版式
前后对比大卡片：左侧原始一句话加“材料已知 / 用户确认”，右侧四要素和单独的待确认提示；品牌蓝箭头连接，绿色仅用于有依据信息，橙色仅用于未决事项。
事实依据（核对日期 2026-10-05）
C:/Users/Administrator/Desktop/Prompt Optimizer项目介绍.zip
定位：Prompt Optimizer项目介绍.md：使用 AI 遇到的问题、解决方案、写作与研究示例
说明：优先采用用户提供素材的痛点叙述。删除直接生成生产级代码或调查报告、瞬间完成、效率飞跃等未经支持的主张。
README.md
定位：项目简介、核心能力、Plan Mode 增强方法、项目定位与边界
说明：面向人群、产品路径和 MVP 本地联调与内部试用定位。
services/api/src/main/java/com/promptoptimizer/enhancement/service/impl/OptimizationResultAssembler.java
定位：BACKGROUND/TASK/OUTPUT/CONSTRAINTS、ACCEPTANCE、includeExamples、executionPrerequisites
说明：四要素必需；验收标准当前补齐；示例按开关；未决条件进入正文。
apps/web/src/components/prompt/PlanQuestionDialog.vue
定位：答案校验、自定义回答、题目导航、生成最终提示词
说明：单选、多选、自由回答及逐题确认交互。
apps/web/src/components/prompt/ResultPanel.vue
定位：结果编辑、复制、再次增强与复制并打开
说明：结果使用方式；打开目标平台后由用户自行粘贴发送。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14 页｜技术各司其职，让过程更可控
章节 8：技术架构与关键实现
建议时长：90 秒
核心文案
浏览器工作台：Vue 3 / TypeScript / Element Plus / Pinia；Worker 处理本地索引。
Java 21 + Spring Boot 3 模块化单体：增强、上下文、规则、模型、历史与身份各有职责。
PostgreSQL 16 保存业务记录；Redis 7 承载短时状态与模型并发控制。
用户收益：原始需求与结果可对照、相关材料有范围、生成记录可回看。
真实模型经服务端配置接入，密钥不放在浏览器。
示意样例：架构说明图，不代表生产吞吐或可用性承诺。
演讲备注
这里不需要记住所有技术名词，记住它们怎样帮助使用即可。浏览器负责输入和结果对照，Worker 把本地索引的一部分工作放到独立线程，减少对界面操作的干扰。后端按职责组织六个模块，分别处理增强、上下文、权限规则、模型、历史与身份。数据库保存可回看的记录，Redis 支持短时状态和并发控制。模型密钥留在服务端，用户在发布的模型目录中选择。架构图说明的是已经存在的工程设计，不是高并发或生产 SLA 的证明；真实效果还取决于模型、材料质量和部署环境。
演示动作建议
沿图从浏览器到后端、存储再到模型讲解；每层先讲用户收益，技术名词仅作补充。/api 经 Vite 代理到 9000 只用于开发环境。
视觉与版式
保留唯一架构图的浏览器—六模块后端—存储—模型布局；每层补充短句说明用户收益，所有节点与连线可编辑。
事实依据（核对日期 2026-10-05）
apps/web/package.json
定位：dependencies、devDependencies
说明：Vue、Vite、TypeScript、Element Plus、Pinia 等实际依赖。
services/api/pom.xml
定位：Java 21、Spring Boot、数据库及 Redis 依赖
说明：后端技术栈。
apps/web/vite.config.ts
定位：server.proxy /api
说明：仅开发环境的 Vite /api 代理到本机后端 9000。
docs/02-系统架构.md
定位：模块化单体、前后端、数据库与缓存
说明：系统分层及工程架构；部署拓扑以当前代码/配置为准。
services/api/src/main/java/com/promptoptimizer/enhancement/service/impl/DefaultEnhancementOrchestrator.java
定位：optimize
说明：模型解析、安全处理、上下文分析、任务策略及结果生成编排。
services/api/src/main/java/com/promptoptimizer/provider/infrastructure/concurrency/ModelConcurrencyLimiter.java
定位：acquireGlobal、acquireUser、租约释放与存储不可用处理
说明：模型调用有界并发；不推导生产吞吐或 SLA。
README.md
定位：项目简介、核心能力、Plan Mode 增强方法、项目定位与边界
说明：面向人群、产品路径和 MVP 本地联调与内部试用定位。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15 页｜一次增强，经过哪些检查
章节 8：技术架构与关键实现
建议时长：85 秒
核心文案
1 选择材料与输入需求：检索本次相关片段
2 校验身份与规则：核对计划绑定、安全过滤、分析上下文
3 调用模型：按任务策略组织请求，有界并发与超时控制
4 校验并保存结果：检查结构与明确规则，返回优化提示词
Plan 开启时，最终生成前增加“准备摘要 → 提问 → 用户确认 → 再检索”。
演讲备注
点击增强后，浏览器先选出与本次任务有关的内容。请求到达后端，会结合服务端身份和规则进行校验；使用 Plan 时，还要核对本次计划与答案。接下来组织上下文和任务策略，再调用配置的模型。调用有并发和超时等保护，避免无限占用资源。返回结果要经过结构与明确规则检查，并保存最终优化记录，之后才交给用户审阅。Plan 在最终生成前多了一段问答和二次检索。整个流程仍可能遇到上游失败或语义偏差，技术检查不能替代用户核对事实，也不能证明每个领域的结果都正确。
演示动作建议
先沿上方直接增强主线讲解，再指向下方 Plan 增补分支。请求经过 /api；开发时由 Vite 代理至后端 9000。不展示真实密钥或请求正文日志。
视觉与版式
唯一技术请求流程图：四个横向节点和三段箭头；下方单独的 Plan 前置分支；每节点配一条用户收益说明。
事实依据（核对日期 2026-10-05）
apps/web/src/pages/PromptWorkbenchPage.vue
定位：beginEnhancement、runPlannedEnhancement、runDirectEnhancement、generateFinalPrompt、prepareContextTransmission、workbench-grid
说明：直接增强/Plan 分支、上下文发送确认与三栏工作台。
services/api/src/main/java/com/promptoptimizer/enhancement/service/impl/DefaultEnhancementOrchestrator.java
定位：optimize
说明：模型解析、安全处理、上下文分析、任务策略及结果生成编排。
services/api/src/main/java/com/promptoptimizer/enhancement/service/impl/OptimizationResultAssembler.java
定位：BACKGROUND/TASK/OUTPUT/CONSTRAINTS、ACCEPTANCE、includeExamples、executionPrerequisites
说明：四要素必需；验收标准当前补齐；示例按开关；未决条件进入正文。
services/api/src/main/java/com/promptoptimizer/enhancement/service/impl/PlanningSessionServiceImpl.java
定位：confirm、计划所属身份与绑定校验
说明：服务端核对计划、确认答案、原始需求及身份范围。
services/api/src/main/java/com/promptoptimizer/provider/infrastructure/concurrency/ModelConcurrencyLimiter.java
定位：acquireGlobal、acquireUser、租约释放与存储不可用处理
说明：模型调用有界并发；不推导生产吞吐或 SLA。
apps/web/vite.config.ts
定位：server.proxy /api
说明：仅开发环境的 Vite /api 代理到本机后端 9000。
README.md
定位：项目简介、核心能力、Plan Mode 增强方法、项目定位与边界
说明：面向人群、产品路径和 MVP 本地联调与内部试用定位。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16 页｜知道能做什么，也知道边界在哪里
章节 9：安全、隐私与能力边界
建议时长：95 秒
核心文案
已实现：默认路径保护、可识别敏感内容检测或脱敏、服务端身份与范围校验
数据流：用户主动提供材料；真实模型所需内容经后端发送给供应商
当前边界：只生成提示词，不自动执行代码、发送消息或部署
尚未开放／规划：扫描 PDF OCR、图片语义识别、插件、团队协作与额度计费
待验收：拟开放模型真实业务验收、双人评审和目标部署验收。
演讲备注
平台的安全原则是尽量明确材料范围和任务边界。当前有默认受保护路径、可识别敏感内容的检测或脱敏，以及由服务端确定的身份、租户和工作区范围。业务删除遵循逻辑删除，不能把删除记录解释为即刻物理擦除所有数据。使用真实模型时，必要内容会经后端发送给供应商，所以仍应主动移除凭据和无关个人信息。安全过滤并非保证识别所有秘密或风险。右侧列出的 OCR、图片语义、插件、团队和额度计费尚未开放。当前仍是内部试用，正式上线需要额外验收。
演示动作建议
按“已实现保护 / 使用边界 / 尚未开放”三栏讲解。明确没有专用行业认证，不声称零泄露、全自动正确或生产级 SLA。
视觉与版式
三张玻璃卡片用绿、蓝、橙三种语义标签区分已实现、当前边界、尚未开放；底部单列上线验收条件；无路线图时间承诺。
事实依据（核对日期 2026-10-05）
AGENTS.md
定位：项目上下文、执行与完成、业务数据删除约束
说明：个人项目的协作边界、只生成提示词及逻辑删除约束。
README.md
定位：项目简介、核心能力、Plan Mode 增强方法、项目定位与边界
说明：面向人群、产品路径和 MVP 本地联调与内部试用定位。
docs/08-安全隐私与商业化基础.md
定位：数据最小化、密钥保护、身份与工作区范围
说明：安全设计意图；认证当前按实际 Session Cookie/CSRF 表述。
apps/web/src/pages/PromptWorkbenchPage.vue
定位：beginEnhancement、runPlannedEnhancement、runDirectEnhancement、generateFinalPrompt、prepareContextTransmission、workbench-grid
说明：直接增强/Plan 分支、上下文发送确认与三栏工作台。
services/api/src/main/java/com/promptoptimizer/enhancement/service/impl/PlanningSessionServiceImpl.java
定位：confirm、计划所属身份与绑定校验
说明：服务端核对计划、确认答案、原始需求及身份范围。
services/api/src/main/java/com/promptoptimizer/context/service/impl/StreamingDocumentExtractor.java
定位：extract、PDF 文本层、Word/Excel/PowerPoint 文本提取、图片元信息
说明：文档提取边界；不把图片语义和扫描 PDF OCR 写成已实现。
docs/待办事项.md
定位：发布验收、动态输出、OCR、团队协作、额度计费及插件
说明：已实现记录和未完成事项分开；未开放事项仅在边界页单独标注。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17 页｜带一个真实需求，试一次更清晰的表达
封面 / 导览 / 结尾
建议时长：45 秒
核心文案
从一个脱敏的小任务开始
反馈：哪里更清楚，哪里仍需要解释？
个人开发者项目 · MVP 本地联调与内部试用
Copyright © 2026 QingNiao0x
演讲备注
如果你愿意尝试，可以先选一个脱敏的小任务：一段活动资料、一个课程计划，或者一项范围明确的开发需求。看增强后的任务说明，是否保留了你的目标，是否把缺少的决定找了出来，是否更方便交给模型使用。比起笼统评价效果，我更希望收到具体反馈：哪里说清楚了，哪里仍然需要解释。项目目前由我个人开发，处于本地联调与内部试用阶段。谢谢大家，我们可以从一个任务开始讨论。
演示动作建议
邀请现场提出一个不含敏感数据的小需求；按钮文案为试用建议，不伪造公开网址、联系方式或二维码。HTML 按钮可回到案例页。项目按 PolyForm Noncommercial 1.0.0 发布，商业使用须取得作者书面许可。
视觉与版式
居中 CTA，44pt 两行渐变衬线标题，蓝色胶囊按钮；右下淡青色球；保留真实版权和试用阶段。
事实依据（核对日期 2026-10-05）
README.md
定位：项目简介、核心能力、Plan Mode 增强方法、项目定位与边界
说明：面向人群、产品路径和 MVP 本地联调与内部试用定位。
AGENTS.md
定位：项目上下文、执行与完成、业务数据删除约束
说明：个人项目的协作边界、只生成提示词及逻辑删除约束。
LICENSE
定位：PolyForm Noncommercial License 1.0.0
说明：保留原版权与非商业使用许可，不将宣传介绍解释为商业使用授权。
材料属性：宣传讲解材料；人工案例不是客户成果，不将测试结果表述为商业效果。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LASS_LIGHT">
    <p:bg>
      <p:bgPr>
        <a:solidFill>
          <a:srgbClr val="E8F0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po="urn:prompt-optimizer-platform:presentation:design-notes:v1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4777FA47-1B4A-47DB-91B9-FED87D1A1DA4}">
      <po:masterNotes>母版设计备注 / MASTER DESIGN NOTES
交付主题：浅蓝 Glassmorphism（整册统一）；16:9，13.333 × 7.5 in。
浅色：背景 #e8f0fb → #f7faff → #eef3fd；蓝 #4d6bfe；紫 #8a5cf6（仅与蓝渐变）；标题 #1c2541；正文 #3a4763 / #5b6b8c；弱化 #6b7a99 / #8a97b5 / #98a4c0；绿 #0e9f6e；橙 #c2690a；信息蓝 #1d5fd6；粉 #c2256f，语义底色为 10% 不透明。
深色备选（本册未使用）：背景 #0b1120；标题 #e9eef8；正文 #a9b6cf；弱化 #8797b5；蓝 #6b85ff；绿 #34d399；橙 #fbbf24；信息蓝 #60a5fa；粉 #f472b6；卡片 rgba(18,24,44,0.5)，白边 14% 不透明。
卡片：白色 38% 透明，白边 1pt / 15% 透明，外圆角约 0.13in；内卡白色 50% 透明、0.09in。阴影 #465aa0 / 16% 不透明，模糊 40pt、偏移 16pt、90°。
色球：#c3d6fb / #dcd0fb / #c9e8f6；45–48% 透明；柔化边缘 65pt；位于内容底层，每页不超过两个。
字体：Noto Serif SC 900（静态 Black 字重）；Noto Sans SC 400/500/700；Consolas 数字参数。标题 44/32pt；正文 14pt，行距 1.8；卡片 12pt，行距 1.7；卡题 15pt；标签 11pt，字距约 2pt；参数 10–12pt。
所有文字和图形原生可编辑；第 8、9、12 页的实际 Plan 提问、答案核对和工作台截图使用 PNG。截图均为隔离接口的人工示意样例，正文不作为整页图像。新增图文页右上标注“示意样例”，沿用原浅蓝视觉，不新增第三套字体或配色。</po:masterNotes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6.xml"/><Relationship Id="rId5" Type="http://schemas.openxmlformats.org/officeDocument/2006/relationships/slide" Target="slide8.xml"/><Relationship Id="rId6" Type="http://schemas.openxmlformats.org/officeDocument/2006/relationships/slide" Target="slide10.xml"/><Relationship Id="rId7" Type="http://schemas.openxmlformats.org/officeDocument/2006/relationships/slide" Target="slide12.xml"/><Relationship Id="rId8" Type="http://schemas.openxmlformats.org/officeDocument/2006/relationships/slide" Target="slide14.xml"/><Relationship Id="rId9" Type="http://schemas.openxmlformats.org/officeDocument/2006/relationships/slide" Target="slide16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shape-1"/>
          <p:cNvSpPr/>
          <p:nvPr/>
        </p:nvSpPr>
        <p:spPr>
          <a:xfrm>
            <a:off x="457200" y="393192"/>
            <a:ext cx="3035808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5" name="shape-2"/>
          <p:cNvSpPr txBox="1"/>
          <p:nvPr/>
        </p:nvSpPr>
        <p:spPr>
          <a:xfrm>
            <a:off x="548640" y="425196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01 · INTRODUCTION</a:t>
            </a:r>
            <a:endParaRPr lang="zh-CN" sz="1100" dirty="0"/>
          </a:p>
        </p:txBody>
      </p:sp>
      <p:sp>
        <p:nvSpPr>
          <p:cNvPr id="6" name="shape-3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17</a:t>
            </a:r>
            <a:endParaRPr lang="zh-CN" sz="1200" dirty="0"/>
          </a:p>
        </p:txBody>
      </p:sp>
      <p:sp>
        <p:nvSpPr>
          <p:cNvPr id="7" name="shape-4"/>
          <p:cNvSpPr txBox="1"/>
          <p:nvPr/>
        </p:nvSpPr>
        <p:spPr>
          <a:xfrm>
            <a:off x="594360" y="1499616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4400" b="1" dirty="0">
                <a:gradFill rotWithShape="1">
                  <a:gsLst>
                    <a:gs pos="0">
                      <a:srgbClr val="4D6BFE"/>
                    </a:gs>
                    <a:gs pos="100000">
                      <a:srgbClr val="8A5CF6"/>
                    </a:gs>
                  </a:gsLst>
                  <a:lin ang="0" scaled="1"/>
                </a:gra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让想法更清晰</a:t>
            </a:r>
            <a:endParaRPr lang="zh-CN" sz="44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4400" b="1" dirty="0">
                <a:gradFill rotWithShape="1">
                  <a:gsLst>
                    <a:gs pos="0">
                      <a:srgbClr val="4D6BFE"/>
                    </a:gs>
                    <a:gs pos="100000">
                      <a:srgbClr val="8A5CF6"/>
                    </a:gs>
                  </a:gsLst>
                  <a:lin ang="0" scaled="1"/>
                </a:gra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让 AI 更好理解</a:t>
            </a:r>
            <a:endParaRPr lang="zh-CN" sz="4400" dirty="0"/>
          </a:p>
        </p:txBody>
      </p:sp>
      <p:sp>
        <p:nvSpPr>
          <p:cNvPr id="8" name="shape-5"/>
          <p:cNvSpPr txBox="1"/>
          <p:nvPr/>
        </p:nvSpPr>
        <p:spPr>
          <a:xfrm>
            <a:off x="621792" y="3429000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Optimizer Platform</a:t>
            </a:r>
            <a:endParaRPr lang="zh-CN" sz="1800" dirty="0"/>
          </a:p>
        </p:txBody>
      </p:sp>
      <p:sp>
        <p:nvSpPr>
          <p:cNvPr id="9" name="shape-6"/>
          <p:cNvSpPr txBox="1"/>
          <p:nvPr/>
        </p:nvSpPr>
        <p:spPr>
          <a:xfrm>
            <a:off x="621792" y="4041648"/>
            <a:ext cx="8183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zh-CN" altLang="en-US" sz="18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把需求与材料，整理成可审阅、可复制的优化提示词。</a:t>
            </a:r>
            <a:endParaRPr lang="zh-CN" sz="1800" dirty="0"/>
          </a:p>
        </p:txBody>
      </p:sp>
      <p:sp>
        <p:nvSpPr>
          <p:cNvPr id="10" name="shape-7"/>
          <p:cNvSpPr/>
          <p:nvPr/>
        </p:nvSpPr>
        <p:spPr>
          <a:xfrm>
            <a:off x="640080" y="5230368"/>
            <a:ext cx="197510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11" name="shape-8"/>
          <p:cNvSpPr txBox="1"/>
          <p:nvPr/>
        </p:nvSpPr>
        <p:spPr>
          <a:xfrm>
            <a:off x="731520" y="526237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个人开发者项目</a:t>
            </a:r>
            <a:endParaRPr lang="zh-CN" sz="1100" dirty="0"/>
          </a:p>
        </p:txBody>
      </p:sp>
      <p:sp>
        <p:nvSpPr>
          <p:cNvPr id="12" name="shape-9"/>
          <p:cNvSpPr txBox="1"/>
          <p:nvPr/>
        </p:nvSpPr>
        <p:spPr>
          <a:xfrm>
            <a:off x="640080" y="5806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4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MVP 本地联调与内部试用</a:t>
            </a:r>
            <a:endParaRPr lang="zh-CN" sz="1400" dirty="0"/>
          </a:p>
        </p:txBody>
      </p:sp>
      <p:sp>
        <p:nvSpPr>
          <p:cNvPr id="13" name="shape-10"/>
          <p:cNvSpPr/>
          <p:nvPr/>
        </p:nvSpPr>
        <p:spPr>
          <a:xfrm>
            <a:off x="9262872" y="1975104"/>
            <a:ext cx="2331720" cy="1024128"/>
          </a:xfrm>
          <a:prstGeom prst="roundRect">
            <a:avLst>
              <a:gd name="adj" fmla="val 11607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4" name="shape-11"/>
          <p:cNvSpPr txBox="1"/>
          <p:nvPr/>
        </p:nvSpPr>
        <p:spPr>
          <a:xfrm>
            <a:off x="9473184" y="221284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5B6B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一个想法</a:t>
            </a:r>
            <a:endParaRPr lang="zh-CN" sz="1800" dirty="0"/>
          </a:p>
        </p:txBody>
      </p:sp>
      <p:sp>
        <p:nvSpPr>
          <p:cNvPr id="15" name="shape-12"/>
          <p:cNvSpPr/>
          <p:nvPr/>
        </p:nvSpPr>
        <p:spPr>
          <a:xfrm>
            <a:off x="10332720" y="3145536"/>
            <a:ext cx="0" cy="356616"/>
          </a:xfrm>
          <a:prstGeom prst="line">
            <a:avLst/>
          </a:prstGeom>
          <a:noFill/>
          <a:ln w="1905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16" name="shape-13"/>
          <p:cNvSpPr/>
          <p:nvPr/>
        </p:nvSpPr>
        <p:spPr>
          <a:xfrm>
            <a:off x="9125712" y="3675888"/>
            <a:ext cx="2478024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7" name="shape-14"/>
          <p:cNvSpPr/>
          <p:nvPr/>
        </p:nvSpPr>
        <p:spPr>
          <a:xfrm>
            <a:off x="9345168" y="3904488"/>
            <a:ext cx="420624" cy="420624"/>
          </a:xfrm>
          <a:prstGeom prst="roundRect">
            <a:avLst>
              <a:gd name="adj" fmla="val 19565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-15"/>
          <p:cNvSpPr/>
          <p:nvPr/>
        </p:nvSpPr>
        <p:spPr>
          <a:xfrm>
            <a:off x="9454530" y="3971788"/>
            <a:ext cx="201900" cy="286024"/>
          </a:xfrm>
          <a:prstGeom prst="roundRect">
            <a:avLst>
              <a:gd name="adj" fmla="val 9058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-16"/>
          <p:cNvSpPr/>
          <p:nvPr/>
        </p:nvSpPr>
        <p:spPr>
          <a:xfrm>
            <a:off x="9500799" y="4055913"/>
            <a:ext cx="10515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0" name="shape-17"/>
          <p:cNvSpPr/>
          <p:nvPr/>
        </p:nvSpPr>
        <p:spPr>
          <a:xfrm>
            <a:off x="9500799" y="4114800"/>
            <a:ext cx="10515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1" name="shape-18"/>
          <p:cNvSpPr/>
          <p:nvPr/>
        </p:nvSpPr>
        <p:spPr>
          <a:xfrm>
            <a:off x="9500799" y="4173687"/>
            <a:ext cx="10515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2" name="shape-19"/>
          <p:cNvSpPr txBox="1"/>
          <p:nvPr/>
        </p:nvSpPr>
        <p:spPr>
          <a:xfrm>
            <a:off x="9345168" y="4553712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清晰任务</a:t>
            </a:r>
            <a:endParaRPr lang="zh-CN" sz="1800" dirty="0"/>
          </a:p>
        </p:txBody>
      </p:sp>
      <p:sp>
        <p:nvSpPr>
          <p:cNvPr id="23" name="shape-20"/>
          <p:cNvSpPr txBox="1"/>
          <p:nvPr/>
        </p:nvSpPr>
        <p:spPr>
          <a:xfrm>
            <a:off x="640080" y="64099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2026.10  /  17 SLIDES  /  16:9</a:t>
            </a:r>
            <a:endParaRPr lang="zh-C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drawing/2018/hyperlinkcolor" xmlns:p="http://schemas.openxmlformats.org/presentationml/2006/main" xmlns:r="http://schemas.openxmlformats.org/officeDocument/2006/relationships">
  <p:cSld name="Slide 2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C9E8F6">
                  <a:alpha val="55000"/>
                </a:srgbClr>
              </a:gs>
              <a:gs pos="50000">
                <a:srgbClr val="C9E8F6">
                  <a:alpha val="16000"/>
                </a:srgbClr>
              </a:gs>
              <a:gs pos="100000">
                <a:srgbClr val="C9E8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606040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02 · CONTENTS</a:t>
            </a:r>
            <a:endParaRPr lang="zh-CN" sz="1100" dirty="0"/>
          </a:p>
        </p:txBody>
      </p:sp>
      <p:sp>
        <p:nvSpPr>
          <p:cNvPr id="7" name="shape-3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zh-CN" sz="1200" dirty="0"/>
          </a:p>
        </p:txBody>
      </p:sp>
      <p:sp>
        <p:nvSpPr>
          <p:cNvPr id="8" name="shape-4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从一个想法，走到一份清晰任务</a:t>
            </a:r>
            <a:endParaRPr lang="zh-CN" sz="3200" dirty="0"/>
          </a:p>
        </p:txBody>
      </p:sp>
      <p:sp>
        <p:nvSpPr>
          <p:cNvPr id="9" name="shape-5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九个章节，沿着用户的使用路径展开。</a:t>
            </a:r>
            <a:endParaRPr lang="zh-CN" sz="1400" dirty="0"/>
          </a:p>
        </p:txBody>
      </p:sp>
      <p:sp>
        <p:nvSpPr>
          <p:cNvPr id="10" name="shape-6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OPTIMIZER PLATFORM</a:t>
            </a:r>
            <a:endParaRPr lang="zh-CN" sz="1000" dirty="0"/>
          </a:p>
        </p:txBody>
      </p:sp>
      <p:sp>
        <p:nvSpPr>
          <p:cNvPr id="11" name="shape-7"/>
          <p:cNvSpPr/>
          <p:nvPr/>
        </p:nvSpPr>
        <p:spPr>
          <a:xfrm>
            <a:off x="502920" y="2441448"/>
            <a:ext cx="3456432" cy="3547872"/>
          </a:xfrm>
          <a:prstGeom prst="roundRect">
            <a:avLst>
              <a:gd name="adj" fmla="val 3439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2" name="shape-8"/>
          <p:cNvSpPr txBox="1"/>
          <p:nvPr/>
        </p:nvSpPr>
        <p:spPr>
          <a:xfrm>
            <a:off x="758952" y="27249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理解价值</a:t>
            </a:r>
            <a:endParaRPr lang="zh-CN" sz="1800" dirty="0"/>
          </a:p>
        </p:txBody>
      </p:sp>
      <p:sp>
        <p:nvSpPr>
          <p:cNvPr id="13" name="shape-9"/>
          <p:cNvSpPr/>
          <p:nvPr/>
        </p:nvSpPr>
        <p:spPr>
          <a:xfrm>
            <a:off x="758952" y="3401568"/>
            <a:ext cx="329184" cy="32918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-10"/>
          <p:cNvSpPr txBox="1"/>
          <p:nvPr/>
        </p:nvSpPr>
        <p:spPr>
          <a:xfrm>
            <a:off x="758952" y="34564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zh-CN" sz="1200" dirty="0"/>
          </a:p>
        </p:txBody>
      </p:sp>
      <p:sp>
        <p:nvSpPr>
          <p:cNvPr id="15" name="shape-11">
            <a:hlinkClick r:id="rId1" tooltip="" action="ppaction://hlinksldjump"/>
          </p:cNvPr>
          <p:cNvSpPr txBox="1"/>
          <p:nvPr/>
        </p:nvSpPr>
        <p:spPr>
          <a:xfrm>
            <a:off x="1234440" y="339242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u="sng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hlinkClick r:id="rId1" action="ppaction://hlinksldjump" tooltip="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项目简介与产品定位</a:t>
            </a:r>
            <a:endParaRPr lang="zh-CN" sz="1300" dirty="0"/>
          </a:p>
        </p:txBody>
      </p:sp>
      <p:sp>
        <p:nvSpPr>
          <p:cNvPr id="16" name="shape-12"/>
          <p:cNvSpPr/>
          <p:nvPr/>
        </p:nvSpPr>
        <p:spPr>
          <a:xfrm>
            <a:off x="758952" y="4160520"/>
            <a:ext cx="329184" cy="32918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-13"/>
          <p:cNvSpPr txBox="1"/>
          <p:nvPr/>
        </p:nvSpPr>
        <p:spPr>
          <a:xfrm>
            <a:off x="758952" y="42153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zh-CN" sz="1200" dirty="0"/>
          </a:p>
        </p:txBody>
      </p:sp>
      <p:sp>
        <p:nvSpPr>
          <p:cNvPr id="18" name="shape-14">
            <a:hlinkClick r:id="rId2" tooltip="" action="ppaction://hlinksldjump"/>
          </p:cNvPr>
          <p:cNvSpPr txBox="1"/>
          <p:nvPr/>
        </p:nvSpPr>
        <p:spPr>
          <a:xfrm>
            <a:off x="1234440" y="415137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u="sng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hlinkClick r:id="rId2" action="ppaction://hlinksldjump" tooltip="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用户痛点与业务价值</a:t>
            </a:r>
            <a:endParaRPr lang="zh-CN" sz="1300" dirty="0"/>
          </a:p>
        </p:txBody>
      </p:sp>
      <p:sp>
        <p:nvSpPr>
          <p:cNvPr id="19" name="shape-15"/>
          <p:cNvSpPr/>
          <p:nvPr/>
        </p:nvSpPr>
        <p:spPr>
          <a:xfrm>
            <a:off x="758952" y="4919472"/>
            <a:ext cx="329184" cy="32918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-16"/>
          <p:cNvSpPr txBox="1"/>
          <p:nvPr/>
        </p:nvSpPr>
        <p:spPr>
          <a:xfrm>
            <a:off x="758952" y="497433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zh-CN" sz="1200" dirty="0"/>
          </a:p>
        </p:txBody>
      </p:sp>
      <p:sp>
        <p:nvSpPr>
          <p:cNvPr id="21" name="shape-17">
            <a:hlinkClick r:id="rId3" tooltip="" action="ppaction://hlinksldjump"/>
          </p:cNvPr>
          <p:cNvSpPr txBox="1"/>
          <p:nvPr/>
        </p:nvSpPr>
        <p:spPr>
          <a:xfrm>
            <a:off x="1234440" y="491032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u="sng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hlinkClick r:id="rId3" action="ppaction://hlinksldjump" tooltip="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目标用户与典型场景</a:t>
            </a:r>
            <a:endParaRPr lang="zh-CN" sz="1300" dirty="0"/>
          </a:p>
        </p:txBody>
      </p:sp>
      <p:sp>
        <p:nvSpPr>
          <p:cNvPr id="22" name="shape-18"/>
          <p:cNvSpPr/>
          <p:nvPr/>
        </p:nvSpPr>
        <p:spPr>
          <a:xfrm>
            <a:off x="4370832" y="2441448"/>
            <a:ext cx="3456432" cy="3547872"/>
          </a:xfrm>
          <a:prstGeom prst="roundRect">
            <a:avLst>
              <a:gd name="adj" fmla="val 3439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3" name="shape-19"/>
          <p:cNvSpPr txBox="1"/>
          <p:nvPr/>
        </p:nvSpPr>
        <p:spPr>
          <a:xfrm>
            <a:off x="4626864" y="27249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走进产品</a:t>
            </a:r>
            <a:endParaRPr lang="zh-CN" sz="1800" dirty="0"/>
          </a:p>
        </p:txBody>
      </p:sp>
      <p:sp>
        <p:nvSpPr>
          <p:cNvPr id="24" name="shape-20"/>
          <p:cNvSpPr/>
          <p:nvPr/>
        </p:nvSpPr>
        <p:spPr>
          <a:xfrm>
            <a:off x="4626864" y="3401568"/>
            <a:ext cx="329184" cy="32918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-21"/>
          <p:cNvSpPr txBox="1"/>
          <p:nvPr/>
        </p:nvSpPr>
        <p:spPr>
          <a:xfrm>
            <a:off x="4626864" y="34564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zh-CN" sz="1200" dirty="0"/>
          </a:p>
        </p:txBody>
      </p:sp>
      <p:sp>
        <p:nvSpPr>
          <p:cNvPr id="26" name="shape-22">
            <a:hlinkClick r:id="rId4" tooltip="" action="ppaction://hlinksldjump"/>
          </p:cNvPr>
          <p:cNvSpPr txBox="1"/>
          <p:nvPr/>
        </p:nvSpPr>
        <p:spPr>
          <a:xfrm>
            <a:off x="5102352" y="339242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u="sng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hlinkClick r:id="rId4" action="ppaction://hlinksldjump" tooltip="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一键增强与结构化输出</a:t>
            </a:r>
            <a:endParaRPr lang="zh-CN" sz="1300" dirty="0"/>
          </a:p>
        </p:txBody>
      </p:sp>
      <p:sp>
        <p:nvSpPr>
          <p:cNvPr id="27" name="shape-23"/>
          <p:cNvSpPr/>
          <p:nvPr/>
        </p:nvSpPr>
        <p:spPr>
          <a:xfrm>
            <a:off x="4626864" y="4160520"/>
            <a:ext cx="329184" cy="32918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-24"/>
          <p:cNvSpPr txBox="1"/>
          <p:nvPr/>
        </p:nvSpPr>
        <p:spPr>
          <a:xfrm>
            <a:off x="4626864" y="42153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zh-CN" sz="1200" dirty="0"/>
          </a:p>
        </p:txBody>
      </p:sp>
      <p:sp>
        <p:nvSpPr>
          <p:cNvPr id="29" name="shape-25">
            <a:hlinkClick r:id="rId5" tooltip="" action="ppaction://hlinksldjump"/>
          </p:cNvPr>
          <p:cNvSpPr txBox="1"/>
          <p:nvPr/>
        </p:nvSpPr>
        <p:spPr>
          <a:xfrm>
            <a:off x="5102352" y="415137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u="sng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hlinkClick r:id="rId5" action="ppaction://hlinksldjump" tooltip="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Plan Mode：先确认，再生成</a:t>
            </a:r>
            <a:endParaRPr lang="zh-CN" sz="1300" dirty="0"/>
          </a:p>
        </p:txBody>
      </p:sp>
      <p:sp>
        <p:nvSpPr>
          <p:cNvPr id="30" name="shape-26"/>
          <p:cNvSpPr/>
          <p:nvPr/>
        </p:nvSpPr>
        <p:spPr>
          <a:xfrm>
            <a:off x="4626864" y="4919472"/>
            <a:ext cx="329184" cy="32918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-27"/>
          <p:cNvSpPr txBox="1"/>
          <p:nvPr/>
        </p:nvSpPr>
        <p:spPr>
          <a:xfrm>
            <a:off x="4626864" y="497433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zh-CN" sz="1200" dirty="0"/>
          </a:p>
        </p:txBody>
      </p:sp>
      <p:sp>
        <p:nvSpPr>
          <p:cNvPr id="32" name="shape-28">
            <a:hlinkClick r:id="rId6" tooltip="" action="ppaction://hlinksldjump"/>
          </p:cNvPr>
          <p:cNvSpPr txBox="1"/>
          <p:nvPr/>
        </p:nvSpPr>
        <p:spPr>
          <a:xfrm>
            <a:off x="5102352" y="491032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u="sng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hlinkClick r:id="rId6" action="ppaction://hlinksldjump" tooltip="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项目上下文与多技术栈支持</a:t>
            </a:r>
            <a:endParaRPr lang="zh-CN" sz="1300" dirty="0"/>
          </a:p>
        </p:txBody>
      </p:sp>
      <p:sp>
        <p:nvSpPr>
          <p:cNvPr id="33" name="shape-29"/>
          <p:cNvSpPr/>
          <p:nvPr/>
        </p:nvSpPr>
        <p:spPr>
          <a:xfrm>
            <a:off x="8238744" y="2441448"/>
            <a:ext cx="3456432" cy="3547872"/>
          </a:xfrm>
          <a:prstGeom prst="roundRect">
            <a:avLst>
              <a:gd name="adj" fmla="val 3439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34" name="shape-30"/>
          <p:cNvSpPr txBox="1"/>
          <p:nvPr/>
        </p:nvSpPr>
        <p:spPr>
          <a:xfrm>
            <a:off x="8494776" y="27249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看清边界</a:t>
            </a:r>
            <a:endParaRPr lang="zh-CN" sz="1800" dirty="0"/>
          </a:p>
        </p:txBody>
      </p:sp>
      <p:sp>
        <p:nvSpPr>
          <p:cNvPr id="35" name="shape-31"/>
          <p:cNvSpPr/>
          <p:nvPr/>
        </p:nvSpPr>
        <p:spPr>
          <a:xfrm>
            <a:off x="8494776" y="3401568"/>
            <a:ext cx="329184" cy="32918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-32"/>
          <p:cNvSpPr txBox="1"/>
          <p:nvPr/>
        </p:nvSpPr>
        <p:spPr>
          <a:xfrm>
            <a:off x="8494776" y="34564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zh-CN" sz="1200" dirty="0"/>
          </a:p>
        </p:txBody>
      </p:sp>
      <p:sp>
        <p:nvSpPr>
          <p:cNvPr id="37" name="shape-33">
            <a:hlinkClick r:id="rId7" tooltip="" action="ppaction://hlinksldjump"/>
          </p:cNvPr>
          <p:cNvSpPr txBox="1"/>
          <p:nvPr/>
        </p:nvSpPr>
        <p:spPr>
          <a:xfrm>
            <a:off x="8970264" y="339242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u="sng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hlinkClick r:id="rId7" action="ppaction://hlinksldjump" tooltip="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工作台体验与案例演示</a:t>
            </a:r>
            <a:endParaRPr lang="zh-CN" sz="1300" dirty="0"/>
          </a:p>
        </p:txBody>
      </p:sp>
      <p:sp>
        <p:nvSpPr>
          <p:cNvPr id="38" name="shape-34"/>
          <p:cNvSpPr/>
          <p:nvPr/>
        </p:nvSpPr>
        <p:spPr>
          <a:xfrm>
            <a:off x="8494776" y="4160520"/>
            <a:ext cx="329184" cy="32918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shape-35"/>
          <p:cNvSpPr txBox="1"/>
          <p:nvPr/>
        </p:nvSpPr>
        <p:spPr>
          <a:xfrm>
            <a:off x="8494776" y="42153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zh-CN" sz="1200" dirty="0"/>
          </a:p>
        </p:txBody>
      </p:sp>
      <p:sp>
        <p:nvSpPr>
          <p:cNvPr id="40" name="shape-36">
            <a:hlinkClick r:id="rId8" tooltip="" action="ppaction://hlinksldjump"/>
          </p:cNvPr>
          <p:cNvSpPr txBox="1"/>
          <p:nvPr/>
        </p:nvSpPr>
        <p:spPr>
          <a:xfrm>
            <a:off x="8970264" y="415137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u="sng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hlinkClick r:id="rId8" action="ppaction://hlinksldjump" tooltip="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技术架构与关键实现</a:t>
            </a:r>
            <a:endParaRPr lang="zh-CN" sz="1300" dirty="0"/>
          </a:p>
        </p:txBody>
      </p:sp>
      <p:sp>
        <p:nvSpPr>
          <p:cNvPr id="41" name="shape-37"/>
          <p:cNvSpPr/>
          <p:nvPr/>
        </p:nvSpPr>
        <p:spPr>
          <a:xfrm>
            <a:off x="8494776" y="4919472"/>
            <a:ext cx="329184" cy="329184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shape-38"/>
          <p:cNvSpPr txBox="1"/>
          <p:nvPr/>
        </p:nvSpPr>
        <p:spPr>
          <a:xfrm>
            <a:off x="8494776" y="497433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zh-CN" sz="1200" dirty="0"/>
          </a:p>
        </p:txBody>
      </p:sp>
      <p:sp>
        <p:nvSpPr>
          <p:cNvPr id="43" name="shape-39">
            <a:hlinkClick r:id="rId9" tooltip="" action="ppaction://hlinksldjump"/>
          </p:cNvPr>
          <p:cNvSpPr txBox="1"/>
          <p:nvPr/>
        </p:nvSpPr>
        <p:spPr>
          <a:xfrm>
            <a:off x="8970264" y="4910328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u="sng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hlinkClick r:id="rId9" action="ppaction://hlinksldjump" tooltip="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安全、隐私与能力边界</a:t>
            </a:r>
            <a:endParaRPr lang="zh-CN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DCD0FB">
                  <a:alpha val="55000"/>
                </a:srgbClr>
              </a:gs>
              <a:gs pos="50000">
                <a:srgbClr val="DCD0FB">
                  <a:alpha val="16000"/>
                </a:srgbClr>
              </a:gs>
              <a:gs pos="100000">
                <a:srgbClr val="DCD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907792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03 · POSITIONING</a:t>
            </a:r>
            <a:endParaRPr lang="zh-CN" sz="1100" dirty="0"/>
          </a:p>
        </p:txBody>
      </p:sp>
      <p:sp>
        <p:nvSpPr>
          <p:cNvPr id="7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8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9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zh-CN" sz="1200" dirty="0"/>
          </a:p>
        </p:txBody>
      </p:sp>
      <p:sp>
        <p:nvSpPr>
          <p:cNvPr id="10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把模糊想法，整理成清晰任务</a:t>
            </a:r>
            <a:endParaRPr lang="zh-CN" sz="3200" dirty="0"/>
          </a:p>
        </p:txBody>
      </p:sp>
      <p:sp>
        <p:nvSpPr>
          <p:cNvPr id="11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你说想做什么，平台帮助整理成结构清晰、可核对、可复制的优化提示词。</a:t>
            </a:r>
            <a:endParaRPr lang="zh-CN" sz="1400" dirty="0"/>
          </a:p>
        </p:txBody>
      </p:sp>
      <p:sp>
        <p:nvSpPr>
          <p:cNvPr id="12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01</a:t>
            </a:r>
            <a:endParaRPr lang="zh-CN" sz="1000" dirty="0"/>
          </a:p>
        </p:txBody>
      </p:sp>
      <p:sp>
        <p:nvSpPr>
          <p:cNvPr id="13" name="shape-9"/>
          <p:cNvSpPr/>
          <p:nvPr/>
        </p:nvSpPr>
        <p:spPr>
          <a:xfrm>
            <a:off x="530352" y="2459736"/>
            <a:ext cx="3246120" cy="2971800"/>
          </a:xfrm>
          <a:prstGeom prst="roundRect">
            <a:avLst>
              <a:gd name="adj" fmla="val 4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4" name="shape-10"/>
          <p:cNvSpPr/>
          <p:nvPr/>
        </p:nvSpPr>
        <p:spPr>
          <a:xfrm>
            <a:off x="4462272" y="2459736"/>
            <a:ext cx="3246120" cy="2971800"/>
          </a:xfrm>
          <a:prstGeom prst="roundRect">
            <a:avLst>
              <a:gd name="adj" fmla="val 4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5" name="shape-11"/>
          <p:cNvSpPr/>
          <p:nvPr/>
        </p:nvSpPr>
        <p:spPr>
          <a:xfrm>
            <a:off x="8394192" y="2459736"/>
            <a:ext cx="3246120" cy="2971800"/>
          </a:xfrm>
          <a:prstGeom prst="roundRect">
            <a:avLst>
              <a:gd name="adj" fmla="val 400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6" name="shape-12"/>
          <p:cNvSpPr/>
          <p:nvPr/>
        </p:nvSpPr>
        <p:spPr>
          <a:xfrm>
            <a:off x="777240" y="2724912"/>
            <a:ext cx="197510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17" name="shape-13"/>
          <p:cNvSpPr txBox="1"/>
          <p:nvPr/>
        </p:nvSpPr>
        <p:spPr>
          <a:xfrm>
            <a:off x="868680" y="275691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01  说出想法</a:t>
            </a:r>
            <a:endParaRPr lang="zh-CN" sz="1100" dirty="0"/>
          </a:p>
        </p:txBody>
      </p:sp>
      <p:sp>
        <p:nvSpPr>
          <p:cNvPr id="18" name="shape-14"/>
          <p:cNvSpPr/>
          <p:nvPr/>
        </p:nvSpPr>
        <p:spPr>
          <a:xfrm>
            <a:off x="777240" y="3319272"/>
            <a:ext cx="2752344" cy="1033272"/>
          </a:xfrm>
          <a:prstGeom prst="roundRect">
            <a:avLst>
              <a:gd name="adj" fmla="val 13274"/>
            </a:avLst>
          </a:prstGeom>
          <a:solidFill>
            <a:srgbClr val="4D6BFE">
              <a:alpha val="6000"/>
            </a:srgbClr>
          </a:solidFill>
          <a:ln w="12700">
            <a:solidFill>
              <a:srgbClr val="4D6BFE">
                <a:alpha val="36000"/>
              </a:srgbClr>
            </a:solidFill>
            <a:prstDash val="solid"/>
          </a:ln>
        </p:spPr>
      </p:sp>
      <p:sp>
        <p:nvSpPr>
          <p:cNvPr id="19" name="shape-15"/>
          <p:cNvSpPr/>
          <p:nvPr/>
        </p:nvSpPr>
        <p:spPr>
          <a:xfrm flipH="1">
            <a:off x="932688" y="4352544"/>
            <a:ext cx="73152" cy="109728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</a:ln>
        </p:spPr>
      </p:sp>
      <p:sp>
        <p:nvSpPr>
          <p:cNvPr id="20" name="shape-16"/>
          <p:cNvSpPr txBox="1"/>
          <p:nvPr/>
        </p:nvSpPr>
        <p:spPr>
          <a:xfrm>
            <a:off x="960120" y="34838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“帮我写一篇</a:t>
            </a:r>
            <a:endParaRPr lang="zh-CN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活动预告。”</a:t>
            </a:r>
            <a:endParaRPr lang="zh-CN" sz="1800" dirty="0"/>
          </a:p>
        </p:txBody>
      </p:sp>
      <p:sp>
        <p:nvSpPr>
          <p:cNvPr id="21" name="shape-17"/>
          <p:cNvSpPr txBox="1"/>
          <p:nvPr/>
        </p:nvSpPr>
        <p:spPr>
          <a:xfrm>
            <a:off x="786384" y="482803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自然语言 + 按需提供的材料</a:t>
            </a:r>
            <a:endParaRPr lang="zh-CN" sz="1200" dirty="0"/>
          </a:p>
        </p:txBody>
      </p:sp>
      <p:sp>
        <p:nvSpPr>
          <p:cNvPr id="22" name="shape-18"/>
          <p:cNvSpPr/>
          <p:nvPr/>
        </p:nvSpPr>
        <p:spPr>
          <a:xfrm>
            <a:off x="4709160" y="2724912"/>
            <a:ext cx="197510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23" name="shape-19"/>
          <p:cNvSpPr txBox="1"/>
          <p:nvPr/>
        </p:nvSpPr>
        <p:spPr>
          <a:xfrm>
            <a:off x="4800600" y="275691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02  整理要求</a:t>
            </a:r>
            <a:endParaRPr lang="zh-CN" sz="1100" dirty="0"/>
          </a:p>
        </p:txBody>
      </p:sp>
      <p:sp>
        <p:nvSpPr>
          <p:cNvPr id="24" name="shape-20"/>
          <p:cNvSpPr/>
          <p:nvPr/>
        </p:nvSpPr>
        <p:spPr>
          <a:xfrm>
            <a:off x="4709160" y="3300984"/>
            <a:ext cx="310896" cy="310896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-21"/>
          <p:cNvSpPr/>
          <p:nvPr/>
        </p:nvSpPr>
        <p:spPr>
          <a:xfrm>
            <a:off x="4783775" y="3456432"/>
            <a:ext cx="62179" cy="5907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6" name="shape-22"/>
          <p:cNvSpPr/>
          <p:nvPr/>
        </p:nvSpPr>
        <p:spPr>
          <a:xfrm flipV="1">
            <a:off x="4845954" y="3394253"/>
            <a:ext cx="105705" cy="121249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7" name="shape-23"/>
          <p:cNvSpPr txBox="1"/>
          <p:nvPr/>
        </p:nvSpPr>
        <p:spPr>
          <a:xfrm>
            <a:off x="5157216" y="3282696"/>
            <a:ext cx="2267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要做什么</a:t>
            </a:r>
            <a:endParaRPr lang="zh-CN" sz="1400" dirty="0"/>
          </a:p>
        </p:txBody>
      </p:sp>
      <p:sp>
        <p:nvSpPr>
          <p:cNvPr id="28" name="shape-24"/>
          <p:cNvSpPr txBox="1"/>
          <p:nvPr/>
        </p:nvSpPr>
        <p:spPr>
          <a:xfrm>
            <a:off x="5157216" y="358444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任务与交付</a:t>
            </a:r>
            <a:endParaRPr lang="zh-CN" sz="1200" dirty="0"/>
          </a:p>
        </p:txBody>
      </p:sp>
      <p:sp>
        <p:nvSpPr>
          <p:cNvPr id="29" name="shape-25"/>
          <p:cNvSpPr/>
          <p:nvPr/>
        </p:nvSpPr>
        <p:spPr>
          <a:xfrm>
            <a:off x="4709160" y="3904488"/>
            <a:ext cx="310896" cy="310896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-26"/>
          <p:cNvSpPr/>
          <p:nvPr/>
        </p:nvSpPr>
        <p:spPr>
          <a:xfrm>
            <a:off x="4789993" y="3954231"/>
            <a:ext cx="149230" cy="211409"/>
          </a:xfrm>
          <a:prstGeom prst="roundRect">
            <a:avLst>
              <a:gd name="adj" fmla="val 12255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-27"/>
          <p:cNvSpPr/>
          <p:nvPr/>
        </p:nvSpPr>
        <p:spPr>
          <a:xfrm>
            <a:off x="4824192" y="4016411"/>
            <a:ext cx="77724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2" name="shape-28"/>
          <p:cNvSpPr/>
          <p:nvPr/>
        </p:nvSpPr>
        <p:spPr>
          <a:xfrm>
            <a:off x="4824192" y="4059936"/>
            <a:ext cx="77724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3" name="shape-29"/>
          <p:cNvSpPr/>
          <p:nvPr/>
        </p:nvSpPr>
        <p:spPr>
          <a:xfrm>
            <a:off x="4824192" y="4103461"/>
            <a:ext cx="77724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4" name="shape-30"/>
          <p:cNvSpPr txBox="1"/>
          <p:nvPr/>
        </p:nvSpPr>
        <p:spPr>
          <a:xfrm>
            <a:off x="5157216" y="3886200"/>
            <a:ext cx="2267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依据什么</a:t>
            </a:r>
            <a:endParaRPr lang="zh-CN" sz="1400" dirty="0"/>
          </a:p>
        </p:txBody>
      </p:sp>
      <p:sp>
        <p:nvSpPr>
          <p:cNvPr id="35" name="shape-31"/>
          <p:cNvSpPr txBox="1"/>
          <p:nvPr/>
        </p:nvSpPr>
        <p:spPr>
          <a:xfrm>
            <a:off x="5157216" y="4187952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已有资料</a:t>
            </a:r>
            <a:endParaRPr lang="zh-CN" sz="1200" dirty="0"/>
          </a:p>
        </p:txBody>
      </p:sp>
      <p:sp>
        <p:nvSpPr>
          <p:cNvPr id="36" name="shape-32"/>
          <p:cNvSpPr/>
          <p:nvPr/>
        </p:nvSpPr>
        <p:spPr>
          <a:xfrm>
            <a:off x="4709160" y="4507992"/>
            <a:ext cx="310896" cy="310896"/>
          </a:xfrm>
          <a:prstGeom prst="roundRect">
            <a:avLst>
              <a:gd name="adj" fmla="val 26471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-33"/>
          <p:cNvSpPr/>
          <p:nvPr/>
        </p:nvSpPr>
        <p:spPr>
          <a:xfrm>
            <a:off x="4783775" y="4663440"/>
            <a:ext cx="62179" cy="5907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8" name="shape-34"/>
          <p:cNvSpPr/>
          <p:nvPr/>
        </p:nvSpPr>
        <p:spPr>
          <a:xfrm flipV="1">
            <a:off x="4845954" y="4601261"/>
            <a:ext cx="105705" cy="121249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9" name="shape-35"/>
          <p:cNvSpPr txBox="1"/>
          <p:nvPr/>
        </p:nvSpPr>
        <p:spPr>
          <a:xfrm>
            <a:off x="5157216" y="4489704"/>
            <a:ext cx="2267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什么待定</a:t>
            </a:r>
            <a:endParaRPr lang="zh-CN" sz="1400" dirty="0"/>
          </a:p>
        </p:txBody>
      </p:sp>
      <p:sp>
        <p:nvSpPr>
          <p:cNvPr id="40" name="shape-36"/>
          <p:cNvSpPr txBox="1"/>
          <p:nvPr/>
        </p:nvSpPr>
        <p:spPr>
          <a:xfrm>
            <a:off x="5157216" y="4791456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需要你确认</a:t>
            </a:r>
            <a:endParaRPr lang="zh-CN" sz="1200" dirty="0"/>
          </a:p>
        </p:txBody>
      </p:sp>
      <p:sp>
        <p:nvSpPr>
          <p:cNvPr id="41" name="shape-37"/>
          <p:cNvSpPr/>
          <p:nvPr/>
        </p:nvSpPr>
        <p:spPr>
          <a:xfrm>
            <a:off x="8641080" y="2724912"/>
            <a:ext cx="2194560" cy="320040"/>
          </a:xfrm>
          <a:prstGeom prst="roundRect">
            <a:avLst>
              <a:gd name="adj" fmla="val 48571"/>
            </a:avLst>
          </a:prstGeom>
          <a:solidFill>
            <a:srgbClr val="0E9F6E">
              <a:alpha val="10000"/>
            </a:srgbClr>
          </a:solidFill>
          <a:ln w="12700">
            <a:solidFill>
              <a:srgbClr val="0E9F6E">
                <a:alpha val="28000"/>
              </a:srgbClr>
            </a:solidFill>
            <a:prstDash val="solid"/>
          </a:ln>
        </p:spPr>
      </p:sp>
      <p:sp>
        <p:nvSpPr>
          <p:cNvPr id="42" name="shape-38"/>
          <p:cNvSpPr txBox="1"/>
          <p:nvPr/>
        </p:nvSpPr>
        <p:spPr>
          <a:xfrm>
            <a:off x="8732520" y="275691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0E9F6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03  审阅后复制</a:t>
            </a:r>
            <a:endParaRPr lang="zh-CN" sz="1100" dirty="0"/>
          </a:p>
        </p:txBody>
      </p:sp>
      <p:sp>
        <p:nvSpPr>
          <p:cNvPr id="43" name="shape-39"/>
          <p:cNvSpPr/>
          <p:nvPr/>
        </p:nvSpPr>
        <p:spPr>
          <a:xfrm>
            <a:off x="8659368" y="3310128"/>
            <a:ext cx="457200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-40"/>
          <p:cNvSpPr/>
          <p:nvPr/>
        </p:nvSpPr>
        <p:spPr>
          <a:xfrm>
            <a:off x="8778240" y="3383280"/>
            <a:ext cx="219456" cy="310896"/>
          </a:xfrm>
          <a:prstGeom prst="roundRect">
            <a:avLst>
              <a:gd name="adj" fmla="val 833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-41"/>
          <p:cNvSpPr/>
          <p:nvPr/>
        </p:nvSpPr>
        <p:spPr>
          <a:xfrm>
            <a:off x="8828532" y="3474720"/>
            <a:ext cx="11430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6" name="shape-42"/>
          <p:cNvSpPr/>
          <p:nvPr/>
        </p:nvSpPr>
        <p:spPr>
          <a:xfrm>
            <a:off x="8828532" y="3538728"/>
            <a:ext cx="11430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7" name="shape-43"/>
          <p:cNvSpPr/>
          <p:nvPr/>
        </p:nvSpPr>
        <p:spPr>
          <a:xfrm>
            <a:off x="8828532" y="3602736"/>
            <a:ext cx="11430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8" name="shape-44"/>
          <p:cNvSpPr txBox="1"/>
          <p:nvPr/>
        </p:nvSpPr>
        <p:spPr>
          <a:xfrm>
            <a:off x="8659368" y="3995928"/>
            <a:ext cx="27066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2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优化提示词</a:t>
            </a:r>
            <a:endParaRPr lang="zh-CN" sz="2200" dirty="0"/>
          </a:p>
        </p:txBody>
      </p:sp>
      <p:sp>
        <p:nvSpPr>
          <p:cNvPr id="49" name="shape-45"/>
          <p:cNvSpPr txBox="1"/>
          <p:nvPr/>
        </p:nvSpPr>
        <p:spPr>
          <a:xfrm>
            <a:off x="8659368" y="4608576"/>
            <a:ext cx="2706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结构清晰 · 可核对</a:t>
            </a:r>
            <a:endParaRPr lang="zh-CN" sz="13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编辑后交给选择的 AI</a:t>
            </a:r>
            <a:endParaRPr lang="zh-CN" sz="1300" dirty="0"/>
          </a:p>
        </p:txBody>
      </p:sp>
      <p:sp>
        <p:nvSpPr>
          <p:cNvPr id="50" name="shape-46"/>
          <p:cNvSpPr/>
          <p:nvPr/>
        </p:nvSpPr>
        <p:spPr>
          <a:xfrm>
            <a:off x="3886200" y="3913632"/>
            <a:ext cx="429768" cy="0"/>
          </a:xfrm>
          <a:prstGeom prst="line">
            <a:avLst/>
          </a:prstGeom>
          <a:noFill/>
          <a:ln w="2286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51" name="shape-47"/>
          <p:cNvSpPr/>
          <p:nvPr/>
        </p:nvSpPr>
        <p:spPr>
          <a:xfrm>
            <a:off x="7818120" y="3913632"/>
            <a:ext cx="429768" cy="0"/>
          </a:xfrm>
          <a:prstGeom prst="line">
            <a:avLst/>
          </a:prstGeom>
          <a:noFill/>
          <a:ln w="2286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52" name="shape-48"/>
          <p:cNvSpPr txBox="1"/>
          <p:nvPr/>
        </p:nvSpPr>
        <p:spPr>
          <a:xfrm>
            <a:off x="603504" y="5742432"/>
            <a:ext cx="10991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4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平台生成任务说明；文章、报告和代码由后续模型或工具生成。</a:t>
            </a:r>
            <a:endParaRPr lang="zh-CN" sz="1400" dirty="0"/>
          </a:p>
        </p:txBody>
      </p:sp>
      <p:sp>
        <p:nvSpPr>
          <p:cNvPr id="53" name="shape-49"/>
          <p:cNvSpPr txBox="1"/>
          <p:nvPr/>
        </p:nvSpPr>
        <p:spPr>
          <a:xfrm>
            <a:off x="603504" y="6181344"/>
            <a:ext cx="10954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个人开发者项目 · MVP 本地联调与内部试用</a:t>
            </a:r>
            <a:endParaRPr lang="zh-C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C9E8F6">
                  <a:alpha val="55000"/>
                </a:srgbClr>
              </a:gs>
              <a:gs pos="50000">
                <a:srgbClr val="C9E8F6">
                  <a:alpha val="16000"/>
                </a:srgbClr>
              </a:gs>
              <a:gs pos="100000">
                <a:srgbClr val="C9E8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606040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04 · VALUE</a:t>
            </a:r>
            <a:endParaRPr lang="zh-CN" sz="1100" dirty="0"/>
          </a:p>
        </p:txBody>
      </p:sp>
      <p:sp>
        <p:nvSpPr>
          <p:cNvPr id="7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8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9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zh-CN" sz="1200" dirty="0"/>
          </a:p>
        </p:txBody>
      </p:sp>
      <p:sp>
        <p:nvSpPr>
          <p:cNvPr id="10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为什么反复改，还是用不上？</a:t>
            </a:r>
            <a:endParaRPr lang="zh-CN" sz="3200" dirty="0"/>
          </a:p>
        </p:txBody>
      </p:sp>
      <p:sp>
        <p:nvSpPr>
          <p:cNvPr id="11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需求没说清、背景没带齐，时间就花在解释、补充和重新整理上。</a:t>
            </a:r>
            <a:endParaRPr lang="zh-CN" sz="1400" dirty="0"/>
          </a:p>
        </p:txBody>
      </p:sp>
      <p:sp>
        <p:nvSpPr>
          <p:cNvPr id="12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02</a:t>
            </a:r>
            <a:endParaRPr lang="zh-CN" sz="1000" dirty="0"/>
          </a:p>
        </p:txBody>
      </p:sp>
      <p:sp>
        <p:nvSpPr>
          <p:cNvPr id="13" name="shape-9"/>
          <p:cNvSpPr/>
          <p:nvPr/>
        </p:nvSpPr>
        <p:spPr>
          <a:xfrm>
            <a:off x="502920" y="2423160"/>
            <a:ext cx="2578608" cy="3310128"/>
          </a:xfrm>
          <a:prstGeom prst="roundRect">
            <a:avLst>
              <a:gd name="adj" fmla="val 461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4" name="shape-10"/>
          <p:cNvSpPr/>
          <p:nvPr/>
        </p:nvSpPr>
        <p:spPr>
          <a:xfrm>
            <a:off x="731520" y="2706624"/>
            <a:ext cx="374904" cy="374904"/>
          </a:xfrm>
          <a:prstGeom prst="roundRect">
            <a:avLst>
              <a:gd name="adj" fmla="val 21951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-11"/>
          <p:cNvSpPr/>
          <p:nvPr/>
        </p:nvSpPr>
        <p:spPr>
          <a:xfrm>
            <a:off x="866485" y="2781605"/>
            <a:ext cx="101224" cy="1012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-12"/>
          <p:cNvSpPr/>
          <p:nvPr/>
        </p:nvSpPr>
        <p:spPr>
          <a:xfrm flipV="1">
            <a:off x="821497" y="2916570"/>
            <a:ext cx="33741" cy="7498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7" name="shape-13"/>
          <p:cNvSpPr/>
          <p:nvPr/>
        </p:nvSpPr>
        <p:spPr>
          <a:xfrm>
            <a:off x="855238" y="2916570"/>
            <a:ext cx="127467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8" name="shape-14"/>
          <p:cNvSpPr/>
          <p:nvPr/>
        </p:nvSpPr>
        <p:spPr>
          <a:xfrm>
            <a:off x="982706" y="2916570"/>
            <a:ext cx="33741" cy="7498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9" name="shape-15"/>
          <p:cNvSpPr txBox="1"/>
          <p:nvPr/>
        </p:nvSpPr>
        <p:spPr>
          <a:xfrm>
            <a:off x="731520" y="332841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目标模糊</a:t>
            </a:r>
            <a:endParaRPr lang="zh-CN" sz="1700" dirty="0"/>
          </a:p>
        </p:txBody>
      </p:sp>
      <p:sp>
        <p:nvSpPr>
          <p:cNvPr id="20" name="shape-16"/>
          <p:cNvSpPr txBox="1"/>
          <p:nvPr/>
        </p:nvSpPr>
        <p:spPr>
          <a:xfrm>
            <a:off x="731520" y="386791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“写得专业一点”</a:t>
            </a:r>
            <a:endParaRPr lang="zh-CN" sz="1300" dirty="0"/>
          </a:p>
        </p:txBody>
      </p:sp>
      <p:sp>
        <p:nvSpPr>
          <p:cNvPr id="21" name="shape-17"/>
          <p:cNvSpPr txBox="1"/>
          <p:nvPr/>
        </p:nvSpPr>
        <p:spPr>
          <a:xfrm>
            <a:off x="731520" y="437083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没说读者与用途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反复换说法</a:t>
            </a:r>
            <a:endParaRPr lang="zh-CN" sz="1200" dirty="0"/>
          </a:p>
        </p:txBody>
      </p:sp>
      <p:sp>
        <p:nvSpPr>
          <p:cNvPr id="22" name="shape-18"/>
          <p:cNvSpPr/>
          <p:nvPr/>
        </p:nvSpPr>
        <p:spPr>
          <a:xfrm>
            <a:off x="713232" y="5166360"/>
            <a:ext cx="215798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23" name="shape-19"/>
          <p:cNvSpPr txBox="1"/>
          <p:nvPr/>
        </p:nvSpPr>
        <p:spPr>
          <a:xfrm>
            <a:off x="804672" y="5198364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一键增强</a:t>
            </a:r>
            <a:endParaRPr lang="zh-CN" sz="1100" dirty="0"/>
          </a:p>
        </p:txBody>
      </p:sp>
      <p:sp>
        <p:nvSpPr>
          <p:cNvPr id="24" name="shape-20"/>
          <p:cNvSpPr/>
          <p:nvPr/>
        </p:nvSpPr>
        <p:spPr>
          <a:xfrm>
            <a:off x="3364992" y="2423160"/>
            <a:ext cx="2578608" cy="3310128"/>
          </a:xfrm>
          <a:prstGeom prst="roundRect">
            <a:avLst>
              <a:gd name="adj" fmla="val 461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5" name="shape-21"/>
          <p:cNvSpPr/>
          <p:nvPr/>
        </p:nvSpPr>
        <p:spPr>
          <a:xfrm>
            <a:off x="3593592" y="2706624"/>
            <a:ext cx="374904" cy="374904"/>
          </a:xfrm>
          <a:prstGeom prst="roundRect">
            <a:avLst>
              <a:gd name="adj" fmla="val 21951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-22"/>
          <p:cNvSpPr/>
          <p:nvPr/>
        </p:nvSpPr>
        <p:spPr>
          <a:xfrm>
            <a:off x="3687318" y="2800350"/>
            <a:ext cx="63734" cy="63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-23"/>
          <p:cNvSpPr/>
          <p:nvPr/>
        </p:nvSpPr>
        <p:spPr>
          <a:xfrm>
            <a:off x="3687318" y="2924068"/>
            <a:ext cx="63734" cy="63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-24"/>
          <p:cNvSpPr/>
          <p:nvPr/>
        </p:nvSpPr>
        <p:spPr>
          <a:xfrm>
            <a:off x="3811036" y="2800350"/>
            <a:ext cx="63734" cy="63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-25"/>
          <p:cNvSpPr/>
          <p:nvPr/>
        </p:nvSpPr>
        <p:spPr>
          <a:xfrm>
            <a:off x="3811036" y="2924068"/>
            <a:ext cx="63734" cy="6373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-26"/>
          <p:cNvSpPr txBox="1"/>
          <p:nvPr/>
        </p:nvSpPr>
        <p:spPr>
          <a:xfrm>
            <a:off x="3593592" y="332841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格式不清</a:t>
            </a:r>
            <a:endParaRPr lang="zh-CN" sz="1700" dirty="0"/>
          </a:p>
        </p:txBody>
      </p:sp>
      <p:sp>
        <p:nvSpPr>
          <p:cNvPr id="31" name="shape-27"/>
          <p:cNvSpPr txBox="1"/>
          <p:nvPr/>
        </p:nvSpPr>
        <p:spPr>
          <a:xfrm>
            <a:off x="3593592" y="386791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“整理一下记录”</a:t>
            </a:r>
            <a:endParaRPr lang="zh-CN" sz="1300" dirty="0"/>
          </a:p>
        </p:txBody>
      </p:sp>
      <p:sp>
        <p:nvSpPr>
          <p:cNvPr id="32" name="shape-28"/>
          <p:cNvSpPr txBox="1"/>
          <p:nvPr/>
        </p:nvSpPr>
        <p:spPr>
          <a:xfrm>
            <a:off x="3593592" y="437083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需要表格却得到长文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还要手动重排</a:t>
            </a:r>
            <a:endParaRPr lang="zh-CN" sz="1200" dirty="0"/>
          </a:p>
        </p:txBody>
      </p:sp>
      <p:sp>
        <p:nvSpPr>
          <p:cNvPr id="33" name="shape-29"/>
          <p:cNvSpPr/>
          <p:nvPr/>
        </p:nvSpPr>
        <p:spPr>
          <a:xfrm>
            <a:off x="3575304" y="5166360"/>
            <a:ext cx="215798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34" name="shape-30"/>
          <p:cNvSpPr txBox="1"/>
          <p:nvPr/>
        </p:nvSpPr>
        <p:spPr>
          <a:xfrm>
            <a:off x="3666744" y="5198364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一键增强</a:t>
            </a:r>
            <a:endParaRPr lang="zh-CN" sz="1100" dirty="0"/>
          </a:p>
        </p:txBody>
      </p:sp>
      <p:sp>
        <p:nvSpPr>
          <p:cNvPr id="35" name="shape-31"/>
          <p:cNvSpPr/>
          <p:nvPr/>
        </p:nvSpPr>
        <p:spPr>
          <a:xfrm>
            <a:off x="6227064" y="2423160"/>
            <a:ext cx="2578608" cy="3310128"/>
          </a:xfrm>
          <a:prstGeom prst="roundRect">
            <a:avLst>
              <a:gd name="adj" fmla="val 461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36" name="shape-32"/>
          <p:cNvSpPr/>
          <p:nvPr/>
        </p:nvSpPr>
        <p:spPr>
          <a:xfrm>
            <a:off x="6455664" y="2706624"/>
            <a:ext cx="374904" cy="374904"/>
          </a:xfrm>
          <a:prstGeom prst="roundRect">
            <a:avLst>
              <a:gd name="adj" fmla="val 21951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-33"/>
          <p:cNvSpPr/>
          <p:nvPr/>
        </p:nvSpPr>
        <p:spPr>
          <a:xfrm>
            <a:off x="6553139" y="2766609"/>
            <a:ext cx="179954" cy="254935"/>
          </a:xfrm>
          <a:prstGeom prst="roundRect">
            <a:avLst>
              <a:gd name="adj" fmla="val 1016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-34"/>
          <p:cNvSpPr/>
          <p:nvPr/>
        </p:nvSpPr>
        <p:spPr>
          <a:xfrm>
            <a:off x="6594378" y="2841589"/>
            <a:ext cx="9372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9" name="shape-35"/>
          <p:cNvSpPr/>
          <p:nvPr/>
        </p:nvSpPr>
        <p:spPr>
          <a:xfrm>
            <a:off x="6594378" y="2894076"/>
            <a:ext cx="9372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0" name="shape-36"/>
          <p:cNvSpPr/>
          <p:nvPr/>
        </p:nvSpPr>
        <p:spPr>
          <a:xfrm>
            <a:off x="6594378" y="2946563"/>
            <a:ext cx="9372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1" name="shape-37"/>
          <p:cNvSpPr txBox="1"/>
          <p:nvPr/>
        </p:nvSpPr>
        <p:spPr>
          <a:xfrm>
            <a:off x="6455664" y="332841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背景缺失</a:t>
            </a:r>
            <a:endParaRPr lang="zh-CN" sz="1700" dirty="0"/>
          </a:p>
        </p:txBody>
      </p:sp>
      <p:sp>
        <p:nvSpPr>
          <p:cNvPr id="42" name="shape-38"/>
          <p:cNvSpPr txBox="1"/>
          <p:nvPr/>
        </p:nvSpPr>
        <p:spPr>
          <a:xfrm>
            <a:off x="6455664" y="386791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“照项目情况来”</a:t>
            </a:r>
            <a:endParaRPr lang="zh-CN" sz="1300" dirty="0"/>
          </a:p>
        </p:txBody>
      </p:sp>
      <p:sp>
        <p:nvSpPr>
          <p:cNvPr id="43" name="shape-39"/>
          <p:cNvSpPr txBox="1"/>
          <p:nvPr/>
        </p:nvSpPr>
        <p:spPr>
          <a:xfrm>
            <a:off x="6455664" y="437083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缺少材料依据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反复补充背景</a:t>
            </a:r>
            <a:endParaRPr lang="zh-CN" sz="1200" dirty="0"/>
          </a:p>
        </p:txBody>
      </p:sp>
      <p:sp>
        <p:nvSpPr>
          <p:cNvPr id="44" name="shape-40"/>
          <p:cNvSpPr/>
          <p:nvPr/>
        </p:nvSpPr>
        <p:spPr>
          <a:xfrm>
            <a:off x="6437376" y="5166360"/>
            <a:ext cx="215798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45" name="shape-41"/>
          <p:cNvSpPr txBox="1"/>
          <p:nvPr/>
        </p:nvSpPr>
        <p:spPr>
          <a:xfrm>
            <a:off x="6528816" y="5198364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项目上下文</a:t>
            </a:r>
            <a:endParaRPr lang="zh-CN" sz="1100" dirty="0"/>
          </a:p>
        </p:txBody>
      </p:sp>
      <p:sp>
        <p:nvSpPr>
          <p:cNvPr id="46" name="shape-42"/>
          <p:cNvSpPr/>
          <p:nvPr/>
        </p:nvSpPr>
        <p:spPr>
          <a:xfrm>
            <a:off x="9089136" y="2423160"/>
            <a:ext cx="2578608" cy="3310128"/>
          </a:xfrm>
          <a:prstGeom prst="roundRect">
            <a:avLst>
              <a:gd name="adj" fmla="val 461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47" name="shape-43"/>
          <p:cNvSpPr/>
          <p:nvPr/>
        </p:nvSpPr>
        <p:spPr>
          <a:xfrm>
            <a:off x="9317736" y="2706624"/>
            <a:ext cx="374904" cy="374904"/>
          </a:xfrm>
          <a:prstGeom prst="roundRect">
            <a:avLst>
              <a:gd name="adj" fmla="val 21951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-44"/>
          <p:cNvSpPr/>
          <p:nvPr/>
        </p:nvSpPr>
        <p:spPr>
          <a:xfrm>
            <a:off x="9407713" y="2894076"/>
            <a:ext cx="74981" cy="7123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9" name="shape-45"/>
          <p:cNvSpPr/>
          <p:nvPr/>
        </p:nvSpPr>
        <p:spPr>
          <a:xfrm flipV="1">
            <a:off x="9482694" y="2819095"/>
            <a:ext cx="127467" cy="14621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50" name="shape-46"/>
          <p:cNvSpPr txBox="1"/>
          <p:nvPr/>
        </p:nvSpPr>
        <p:spPr>
          <a:xfrm>
            <a:off x="9317736" y="3328416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关键条件未定</a:t>
            </a:r>
            <a:endParaRPr lang="zh-CN" sz="1700" dirty="0"/>
          </a:p>
        </p:txBody>
      </p:sp>
      <p:sp>
        <p:nvSpPr>
          <p:cNvPr id="51" name="shape-47"/>
          <p:cNvSpPr txBox="1"/>
          <p:nvPr/>
        </p:nvSpPr>
        <p:spPr>
          <a:xfrm>
            <a:off x="9317736" y="386791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“你看着办”</a:t>
            </a:r>
            <a:endParaRPr lang="zh-CN" sz="1300" dirty="0"/>
          </a:p>
        </p:txBody>
      </p:sp>
      <p:sp>
        <p:nvSpPr>
          <p:cNvPr id="52" name="shape-48"/>
          <p:cNvSpPr txBox="1"/>
          <p:nvPr/>
        </p:nvSpPr>
        <p:spPr>
          <a:xfrm>
            <a:off x="9317736" y="437083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范围与规则被猜错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后续内容要返工</a:t>
            </a:r>
            <a:endParaRPr lang="zh-CN" sz="1200" dirty="0"/>
          </a:p>
        </p:txBody>
      </p:sp>
      <p:sp>
        <p:nvSpPr>
          <p:cNvPr id="53" name="shape-49"/>
          <p:cNvSpPr/>
          <p:nvPr/>
        </p:nvSpPr>
        <p:spPr>
          <a:xfrm>
            <a:off x="9299448" y="5166360"/>
            <a:ext cx="215798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54" name="shape-50"/>
          <p:cNvSpPr txBox="1"/>
          <p:nvPr/>
        </p:nvSpPr>
        <p:spPr>
          <a:xfrm>
            <a:off x="9390888" y="5198364"/>
            <a:ext cx="19751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Plan 确认</a:t>
            </a:r>
            <a:endParaRPr lang="zh-CN" sz="1100" dirty="0"/>
          </a:p>
        </p:txBody>
      </p:sp>
      <p:sp>
        <p:nvSpPr>
          <p:cNvPr id="55" name="shape-51"/>
          <p:cNvSpPr txBox="1"/>
          <p:nvPr/>
        </p:nvSpPr>
        <p:spPr>
          <a:xfrm>
            <a:off x="594360" y="5971032"/>
            <a:ext cx="11000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让要求可检查、缺口可见，把重复解释和返工尽量提前化解。</a:t>
            </a:r>
            <a:endParaRPr lang="zh-CN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DCD0FB">
                  <a:alpha val="55000"/>
                </a:srgbClr>
              </a:gs>
              <a:gs pos="50000">
                <a:srgbClr val="DCD0FB">
                  <a:alpha val="16000"/>
                </a:srgbClr>
              </a:gs>
              <a:gs pos="100000">
                <a:srgbClr val="DCD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651760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05 · SCENARIOS</a:t>
            </a:r>
            <a:endParaRPr lang="zh-CN" sz="1100" dirty="0"/>
          </a:p>
        </p:txBody>
      </p:sp>
      <p:sp>
        <p:nvSpPr>
          <p:cNvPr id="7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8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9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zh-CN" sz="1200" dirty="0"/>
          </a:p>
        </p:txBody>
      </p:sp>
      <p:sp>
        <p:nvSpPr>
          <p:cNvPr id="10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同一工作台，适配不同任务</a:t>
            </a:r>
            <a:endParaRPr lang="zh-CN" sz="3200" dirty="0"/>
          </a:p>
        </p:txBody>
      </p:sp>
      <p:sp>
        <p:nvSpPr>
          <p:cNvPr id="11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开发、写作、学习研究和办公，都可以先把任务说明整理清楚。</a:t>
            </a:r>
            <a:endParaRPr lang="zh-CN" sz="1400" dirty="0"/>
          </a:p>
        </p:txBody>
      </p:sp>
      <p:sp>
        <p:nvSpPr>
          <p:cNvPr id="12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03</a:t>
            </a:r>
            <a:endParaRPr lang="zh-CN" sz="1000" dirty="0"/>
          </a:p>
        </p:txBody>
      </p:sp>
      <p:sp>
        <p:nvSpPr>
          <p:cNvPr id="13" name="shape-9"/>
          <p:cNvSpPr/>
          <p:nvPr/>
        </p:nvSpPr>
        <p:spPr>
          <a:xfrm>
            <a:off x="502920" y="2450592"/>
            <a:ext cx="2578608" cy="3209544"/>
          </a:xfrm>
          <a:prstGeom prst="roundRect">
            <a:avLst>
              <a:gd name="adj" fmla="val 461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4" name="shape-10"/>
          <p:cNvSpPr/>
          <p:nvPr/>
        </p:nvSpPr>
        <p:spPr>
          <a:xfrm>
            <a:off x="731520" y="2724912"/>
            <a:ext cx="384048" cy="384048"/>
          </a:xfrm>
          <a:prstGeom prst="roundRect">
            <a:avLst>
              <a:gd name="adj" fmla="val 21429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-11"/>
          <p:cNvSpPr/>
          <p:nvPr/>
        </p:nvSpPr>
        <p:spPr>
          <a:xfrm flipH="1">
            <a:off x="785287" y="2817084"/>
            <a:ext cx="80650" cy="9985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6" name="shape-12"/>
          <p:cNvSpPr/>
          <p:nvPr/>
        </p:nvSpPr>
        <p:spPr>
          <a:xfrm>
            <a:off x="785287" y="2916936"/>
            <a:ext cx="80650" cy="9985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7" name="shape-13"/>
          <p:cNvSpPr/>
          <p:nvPr/>
        </p:nvSpPr>
        <p:spPr>
          <a:xfrm>
            <a:off x="981151" y="2817084"/>
            <a:ext cx="80650" cy="9985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8" name="shape-14"/>
          <p:cNvSpPr/>
          <p:nvPr/>
        </p:nvSpPr>
        <p:spPr>
          <a:xfrm flipH="1">
            <a:off x="981151" y="2916936"/>
            <a:ext cx="80650" cy="9985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9" name="shape-15"/>
          <p:cNvSpPr/>
          <p:nvPr/>
        </p:nvSpPr>
        <p:spPr>
          <a:xfrm flipH="1">
            <a:off x="896661" y="2801722"/>
            <a:ext cx="53767" cy="230429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0" name="shape-16"/>
          <p:cNvSpPr txBox="1"/>
          <p:nvPr/>
        </p:nvSpPr>
        <p:spPr>
          <a:xfrm>
            <a:off x="731520" y="3355848"/>
            <a:ext cx="2121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开发者</a:t>
            </a:r>
            <a:endParaRPr lang="zh-CN" sz="1500" dirty="0"/>
          </a:p>
        </p:txBody>
      </p:sp>
      <p:sp>
        <p:nvSpPr>
          <p:cNvPr id="21" name="shape-17"/>
          <p:cNvSpPr txBox="1"/>
          <p:nvPr/>
        </p:nvSpPr>
        <p:spPr>
          <a:xfrm>
            <a:off x="731520" y="390448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“给工单增加升级功能”</a:t>
            </a:r>
            <a:endParaRPr lang="zh-CN" sz="1200" dirty="0"/>
          </a:p>
        </p:txBody>
      </p:sp>
      <p:sp>
        <p:nvSpPr>
          <p:cNvPr id="22" name="shape-18"/>
          <p:cNvSpPr txBox="1"/>
          <p:nvPr/>
        </p:nvSpPr>
        <p:spPr>
          <a:xfrm>
            <a:off x="731520" y="4608576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带入已有技术栈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明确允许的行为</a:t>
            </a:r>
            <a:endParaRPr lang="zh-CN" sz="1200" dirty="0"/>
          </a:p>
        </p:txBody>
      </p:sp>
      <p:sp>
        <p:nvSpPr>
          <p:cNvPr id="23" name="shape-19"/>
          <p:cNvSpPr txBox="1"/>
          <p:nvPr/>
        </p:nvSpPr>
        <p:spPr>
          <a:xfrm>
            <a:off x="731520" y="533095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 / 排错 / 测试</a:t>
            </a:r>
            <a:endParaRPr lang="zh-CN" sz="1000" dirty="0"/>
          </a:p>
        </p:txBody>
      </p:sp>
      <p:sp>
        <p:nvSpPr>
          <p:cNvPr id="24" name="shape-20"/>
          <p:cNvSpPr/>
          <p:nvPr/>
        </p:nvSpPr>
        <p:spPr>
          <a:xfrm>
            <a:off x="3364992" y="2450592"/>
            <a:ext cx="2578608" cy="3209544"/>
          </a:xfrm>
          <a:prstGeom prst="roundRect">
            <a:avLst>
              <a:gd name="adj" fmla="val 461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5" name="shape-21"/>
          <p:cNvSpPr/>
          <p:nvPr/>
        </p:nvSpPr>
        <p:spPr>
          <a:xfrm>
            <a:off x="3593592" y="2724912"/>
            <a:ext cx="384048" cy="384048"/>
          </a:xfrm>
          <a:prstGeom prst="roundRect">
            <a:avLst>
              <a:gd name="adj" fmla="val 21429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-22"/>
          <p:cNvSpPr/>
          <p:nvPr/>
        </p:nvSpPr>
        <p:spPr>
          <a:xfrm>
            <a:off x="3693444" y="2786360"/>
            <a:ext cx="184343" cy="261153"/>
          </a:xfrm>
          <a:prstGeom prst="roundRect">
            <a:avLst>
              <a:gd name="adj" fmla="val 9921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-23"/>
          <p:cNvSpPr/>
          <p:nvPr/>
        </p:nvSpPr>
        <p:spPr>
          <a:xfrm>
            <a:off x="3735690" y="2863169"/>
            <a:ext cx="96012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8" name="shape-24"/>
          <p:cNvSpPr/>
          <p:nvPr/>
        </p:nvSpPr>
        <p:spPr>
          <a:xfrm>
            <a:off x="3735690" y="2916936"/>
            <a:ext cx="96012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9" name="shape-25"/>
          <p:cNvSpPr/>
          <p:nvPr/>
        </p:nvSpPr>
        <p:spPr>
          <a:xfrm>
            <a:off x="3735690" y="2970703"/>
            <a:ext cx="96012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0" name="shape-26"/>
          <p:cNvSpPr txBox="1"/>
          <p:nvPr/>
        </p:nvSpPr>
        <p:spPr>
          <a:xfrm>
            <a:off x="3593592" y="3355848"/>
            <a:ext cx="2121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文案创作者</a:t>
            </a:r>
            <a:endParaRPr lang="zh-CN" sz="1500" dirty="0"/>
          </a:p>
        </p:txBody>
      </p:sp>
      <p:sp>
        <p:nvSpPr>
          <p:cNvPr id="31" name="shape-27"/>
          <p:cNvSpPr txBox="1"/>
          <p:nvPr/>
        </p:nvSpPr>
        <p:spPr>
          <a:xfrm>
            <a:off x="3593592" y="390448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“写一篇活动预告”</a:t>
            </a:r>
            <a:endParaRPr lang="zh-CN" sz="1200" dirty="0"/>
          </a:p>
        </p:txBody>
      </p:sp>
      <p:sp>
        <p:nvSpPr>
          <p:cNvPr id="32" name="shape-28"/>
          <p:cNvSpPr txBox="1"/>
          <p:nvPr/>
        </p:nvSpPr>
        <p:spPr>
          <a:xfrm>
            <a:off x="3593592" y="4608576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确认读者与渠道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保留资料事实</a:t>
            </a:r>
            <a:endParaRPr lang="zh-CN" sz="1200" dirty="0"/>
          </a:p>
        </p:txBody>
      </p:sp>
      <p:sp>
        <p:nvSpPr>
          <p:cNvPr id="33" name="shape-29"/>
          <p:cNvSpPr txBox="1"/>
          <p:nvPr/>
        </p:nvSpPr>
        <p:spPr>
          <a:xfrm>
            <a:off x="3593592" y="533095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创作 / 改写 / 选题</a:t>
            </a:r>
            <a:endParaRPr lang="zh-CN" sz="1000" dirty="0"/>
          </a:p>
        </p:txBody>
      </p:sp>
      <p:sp>
        <p:nvSpPr>
          <p:cNvPr id="34" name="shape-30"/>
          <p:cNvSpPr/>
          <p:nvPr/>
        </p:nvSpPr>
        <p:spPr>
          <a:xfrm>
            <a:off x="6227064" y="2450592"/>
            <a:ext cx="2578608" cy="3209544"/>
          </a:xfrm>
          <a:prstGeom prst="roundRect">
            <a:avLst>
              <a:gd name="adj" fmla="val 461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35" name="shape-31"/>
          <p:cNvSpPr/>
          <p:nvPr/>
        </p:nvSpPr>
        <p:spPr>
          <a:xfrm>
            <a:off x="6455664" y="2724912"/>
            <a:ext cx="384048" cy="384048"/>
          </a:xfrm>
          <a:prstGeom prst="roundRect">
            <a:avLst>
              <a:gd name="adj" fmla="val 21429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-32"/>
          <p:cNvSpPr/>
          <p:nvPr/>
        </p:nvSpPr>
        <p:spPr>
          <a:xfrm>
            <a:off x="6551676" y="2820924"/>
            <a:ext cx="65288" cy="65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-33"/>
          <p:cNvSpPr/>
          <p:nvPr/>
        </p:nvSpPr>
        <p:spPr>
          <a:xfrm>
            <a:off x="6551676" y="2947660"/>
            <a:ext cx="65288" cy="65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-34"/>
          <p:cNvSpPr/>
          <p:nvPr/>
        </p:nvSpPr>
        <p:spPr>
          <a:xfrm>
            <a:off x="6678412" y="2820924"/>
            <a:ext cx="65288" cy="65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-35"/>
          <p:cNvSpPr/>
          <p:nvPr/>
        </p:nvSpPr>
        <p:spPr>
          <a:xfrm>
            <a:off x="6678412" y="2947660"/>
            <a:ext cx="65288" cy="652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-36"/>
          <p:cNvSpPr txBox="1"/>
          <p:nvPr/>
        </p:nvSpPr>
        <p:spPr>
          <a:xfrm>
            <a:off x="6455664" y="3355848"/>
            <a:ext cx="2121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学生与研究人员</a:t>
            </a:r>
            <a:endParaRPr lang="zh-CN" sz="1500" dirty="0"/>
          </a:p>
        </p:txBody>
      </p:sp>
      <p:sp>
        <p:nvSpPr>
          <p:cNvPr id="41" name="shape-37"/>
          <p:cNvSpPr txBox="1"/>
          <p:nvPr/>
        </p:nvSpPr>
        <p:spPr>
          <a:xfrm>
            <a:off x="6455664" y="390448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“调研 AI 的使用情况”</a:t>
            </a:r>
            <a:endParaRPr lang="zh-CN" sz="1200" dirty="0"/>
          </a:p>
        </p:txBody>
      </p:sp>
      <p:sp>
        <p:nvSpPr>
          <p:cNvPr id="42" name="shape-38"/>
          <p:cNvSpPr txBox="1"/>
          <p:nvPr/>
        </p:nvSpPr>
        <p:spPr>
          <a:xfrm>
            <a:off x="6455664" y="4608576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明确口径与时间范围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要求可追溯的来源</a:t>
            </a:r>
            <a:endParaRPr lang="zh-CN" sz="1200" dirty="0"/>
          </a:p>
        </p:txBody>
      </p:sp>
      <p:sp>
        <p:nvSpPr>
          <p:cNvPr id="43" name="shape-39"/>
          <p:cNvSpPr txBox="1"/>
          <p:nvPr/>
        </p:nvSpPr>
        <p:spPr>
          <a:xfrm>
            <a:off x="6455664" y="533095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 / 分析 / 研究</a:t>
            </a:r>
            <a:endParaRPr lang="zh-CN" sz="1000" dirty="0"/>
          </a:p>
        </p:txBody>
      </p:sp>
      <p:sp>
        <p:nvSpPr>
          <p:cNvPr id="44" name="shape-40"/>
          <p:cNvSpPr/>
          <p:nvPr/>
        </p:nvSpPr>
        <p:spPr>
          <a:xfrm>
            <a:off x="9089136" y="2450592"/>
            <a:ext cx="2578608" cy="3209544"/>
          </a:xfrm>
          <a:prstGeom prst="roundRect">
            <a:avLst>
              <a:gd name="adj" fmla="val 4610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45" name="shape-41"/>
          <p:cNvSpPr/>
          <p:nvPr/>
        </p:nvSpPr>
        <p:spPr>
          <a:xfrm>
            <a:off x="9317736" y="2724912"/>
            <a:ext cx="384048" cy="384048"/>
          </a:xfrm>
          <a:prstGeom prst="roundRect">
            <a:avLst>
              <a:gd name="adj" fmla="val 21429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-42"/>
          <p:cNvSpPr/>
          <p:nvPr/>
        </p:nvSpPr>
        <p:spPr>
          <a:xfrm>
            <a:off x="9455993" y="2801722"/>
            <a:ext cx="103693" cy="10369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hape-43"/>
          <p:cNvSpPr/>
          <p:nvPr/>
        </p:nvSpPr>
        <p:spPr>
          <a:xfrm flipV="1">
            <a:off x="9409908" y="2939979"/>
            <a:ext cx="34564" cy="7681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8" name="shape-44"/>
          <p:cNvSpPr/>
          <p:nvPr/>
        </p:nvSpPr>
        <p:spPr>
          <a:xfrm>
            <a:off x="9444472" y="2939979"/>
            <a:ext cx="13057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9" name="shape-45"/>
          <p:cNvSpPr/>
          <p:nvPr/>
        </p:nvSpPr>
        <p:spPr>
          <a:xfrm>
            <a:off x="9575048" y="2939979"/>
            <a:ext cx="34564" cy="7681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50" name="shape-46"/>
          <p:cNvSpPr txBox="1"/>
          <p:nvPr/>
        </p:nvSpPr>
        <p:spPr>
          <a:xfrm>
            <a:off x="9317736" y="3355848"/>
            <a:ext cx="21214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办公用户</a:t>
            </a:r>
            <a:endParaRPr lang="zh-CN" sz="1500" dirty="0"/>
          </a:p>
        </p:txBody>
      </p:sp>
      <p:sp>
        <p:nvSpPr>
          <p:cNvPr id="51" name="shape-47"/>
          <p:cNvSpPr txBox="1"/>
          <p:nvPr/>
        </p:nvSpPr>
        <p:spPr>
          <a:xfrm>
            <a:off x="9317736" y="390448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“整理会议行动清单”</a:t>
            </a:r>
            <a:endParaRPr lang="zh-CN" sz="1200" dirty="0"/>
          </a:p>
        </p:txBody>
      </p:sp>
      <p:sp>
        <p:nvSpPr>
          <p:cNvPr id="52" name="shape-48"/>
          <p:cNvSpPr txBox="1"/>
          <p:nvPr/>
        </p:nvSpPr>
        <p:spPr>
          <a:xfrm>
            <a:off x="9317736" y="4608576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区分决议与待定项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写明负责人和期限</a:t>
            </a:r>
            <a:endParaRPr lang="zh-CN" sz="1200" dirty="0"/>
          </a:p>
        </p:txBody>
      </p:sp>
      <p:sp>
        <p:nvSpPr>
          <p:cNvPr id="53" name="shape-49"/>
          <p:cNvSpPr txBox="1"/>
          <p:nvPr/>
        </p:nvSpPr>
        <p:spPr>
          <a:xfrm>
            <a:off x="9317736" y="533095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纪要 / 汇报 / 整理</a:t>
            </a:r>
            <a:endParaRPr lang="zh-CN" sz="1000" dirty="0"/>
          </a:p>
        </p:txBody>
      </p:sp>
      <p:sp>
        <p:nvSpPr>
          <p:cNvPr id="54" name="shape-50"/>
          <p:cNvSpPr txBox="1"/>
          <p:nvPr/>
        </p:nvSpPr>
        <p:spPr>
          <a:xfrm>
            <a:off x="594360" y="59527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zh-CN" altLang="en-US" sz="13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共享当前工作台；专业结论仍需复核，领域专用工具与质量验收不能由场景示例代替。</a:t>
            </a:r>
            <a:endParaRPr lang="zh-CN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C9E8F6">
                  <a:alpha val="55000"/>
                </a:srgbClr>
              </a:gs>
              <a:gs pos="50000">
                <a:srgbClr val="C9E8F6">
                  <a:alpha val="16000"/>
                </a:srgbClr>
              </a:gs>
              <a:gs pos="100000">
                <a:srgbClr val="C9E8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907792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06 · ENHANCEMENT</a:t>
            </a:r>
            <a:endParaRPr lang="zh-CN" sz="1100" dirty="0"/>
          </a:p>
        </p:txBody>
      </p:sp>
      <p:sp>
        <p:nvSpPr>
          <p:cNvPr id="7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8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9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zh-CN" sz="1200" dirty="0"/>
          </a:p>
        </p:txBody>
      </p:sp>
      <p:sp>
        <p:nvSpPr>
          <p:cNvPr id="10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一键开始，把要求整理得更具体</a:t>
            </a:r>
            <a:endParaRPr lang="zh-CN" sz="3200" dirty="0"/>
          </a:p>
        </p:txBody>
      </p:sp>
      <p:sp>
        <p:nvSpPr>
          <p:cNvPr id="11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需求明确化：不只把句子写长，还要说清任务、交付形式和限制。</a:t>
            </a:r>
            <a:endParaRPr lang="zh-CN" sz="1400" dirty="0"/>
          </a:p>
        </p:txBody>
      </p:sp>
      <p:sp>
        <p:nvSpPr>
          <p:cNvPr id="12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04</a:t>
            </a:r>
            <a:endParaRPr lang="zh-CN" sz="1000" dirty="0"/>
          </a:p>
        </p:txBody>
      </p:sp>
      <p:sp>
        <p:nvSpPr>
          <p:cNvPr id="13" name="shape-9"/>
          <p:cNvSpPr/>
          <p:nvPr/>
        </p:nvSpPr>
        <p:spPr>
          <a:xfrm>
            <a:off x="530352" y="2432304"/>
            <a:ext cx="3319272" cy="2651760"/>
          </a:xfrm>
          <a:prstGeom prst="roundRect">
            <a:avLst>
              <a:gd name="adj" fmla="val 4483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4" name="shape-10"/>
          <p:cNvSpPr/>
          <p:nvPr/>
        </p:nvSpPr>
        <p:spPr>
          <a:xfrm>
            <a:off x="777240" y="2697480"/>
            <a:ext cx="365760" cy="365760"/>
          </a:xfrm>
          <a:prstGeom prst="roundRect">
            <a:avLst>
              <a:gd name="adj" fmla="val 22500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-11"/>
          <p:cNvSpPr/>
          <p:nvPr/>
        </p:nvSpPr>
        <p:spPr>
          <a:xfrm>
            <a:off x="865022" y="2880360"/>
            <a:ext cx="73152" cy="6949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6" name="shape-12"/>
          <p:cNvSpPr/>
          <p:nvPr/>
        </p:nvSpPr>
        <p:spPr>
          <a:xfrm flipV="1">
            <a:off x="938174" y="2807208"/>
            <a:ext cx="124358" cy="142646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7" name="shape-13"/>
          <p:cNvSpPr txBox="1"/>
          <p:nvPr/>
        </p:nvSpPr>
        <p:spPr>
          <a:xfrm>
            <a:off x="777240" y="3282696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一键增强</a:t>
            </a:r>
            <a:endParaRPr lang="zh-CN" sz="1800" dirty="0"/>
          </a:p>
        </p:txBody>
      </p:sp>
      <p:sp>
        <p:nvSpPr>
          <p:cNvPr id="18" name="shape-14"/>
          <p:cNvSpPr txBox="1"/>
          <p:nvPr/>
        </p:nvSpPr>
        <p:spPr>
          <a:xfrm>
            <a:off x="777240" y="3831336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把表达整理清楚</a:t>
            </a:r>
            <a:endParaRPr lang="zh-CN" sz="1400" dirty="0"/>
          </a:p>
        </p:txBody>
      </p:sp>
      <p:sp>
        <p:nvSpPr>
          <p:cNvPr id="19" name="shape-15"/>
          <p:cNvSpPr txBox="1"/>
          <p:nvPr/>
        </p:nvSpPr>
        <p:spPr>
          <a:xfrm>
            <a:off x="777240" y="4297680"/>
            <a:ext cx="2816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目标、输出形式和限制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逐项可查看</a:t>
            </a:r>
            <a:endParaRPr lang="zh-CN" sz="1200" dirty="0"/>
          </a:p>
        </p:txBody>
      </p:sp>
      <p:sp>
        <p:nvSpPr>
          <p:cNvPr id="20" name="shape-16"/>
          <p:cNvSpPr/>
          <p:nvPr/>
        </p:nvSpPr>
        <p:spPr>
          <a:xfrm>
            <a:off x="4434840" y="2432304"/>
            <a:ext cx="3319272" cy="2651760"/>
          </a:xfrm>
          <a:prstGeom prst="roundRect">
            <a:avLst>
              <a:gd name="adj" fmla="val 4483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1" name="shape-17"/>
          <p:cNvSpPr/>
          <p:nvPr/>
        </p:nvSpPr>
        <p:spPr>
          <a:xfrm>
            <a:off x="4681728" y="2697480"/>
            <a:ext cx="365760" cy="365760"/>
          </a:xfrm>
          <a:prstGeom prst="roundRect">
            <a:avLst>
              <a:gd name="adj" fmla="val 22500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-18"/>
          <p:cNvSpPr/>
          <p:nvPr/>
        </p:nvSpPr>
        <p:spPr>
          <a:xfrm>
            <a:off x="4813402" y="2770632"/>
            <a:ext cx="98755" cy="9875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-19"/>
          <p:cNvSpPr/>
          <p:nvPr/>
        </p:nvSpPr>
        <p:spPr>
          <a:xfrm flipV="1">
            <a:off x="4769510" y="2902306"/>
            <a:ext cx="32918" cy="7315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4" name="shape-20"/>
          <p:cNvSpPr/>
          <p:nvPr/>
        </p:nvSpPr>
        <p:spPr>
          <a:xfrm>
            <a:off x="4802429" y="2902306"/>
            <a:ext cx="12435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5" name="shape-21"/>
          <p:cNvSpPr/>
          <p:nvPr/>
        </p:nvSpPr>
        <p:spPr>
          <a:xfrm>
            <a:off x="4926787" y="2902306"/>
            <a:ext cx="32918" cy="7315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6" name="shape-22"/>
          <p:cNvSpPr txBox="1"/>
          <p:nvPr/>
        </p:nvSpPr>
        <p:spPr>
          <a:xfrm>
            <a:off x="4681728" y="3282696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Plan Mode 确认</a:t>
            </a:r>
            <a:endParaRPr lang="zh-CN" sz="1800" dirty="0"/>
          </a:p>
        </p:txBody>
      </p:sp>
      <p:sp>
        <p:nvSpPr>
          <p:cNvPr id="27" name="shape-23"/>
          <p:cNvSpPr txBox="1"/>
          <p:nvPr/>
        </p:nvSpPr>
        <p:spPr>
          <a:xfrm>
            <a:off x="4681728" y="3831336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把关键决定问清楚</a:t>
            </a:r>
            <a:endParaRPr lang="zh-CN" sz="1400" dirty="0"/>
          </a:p>
        </p:txBody>
      </p:sp>
      <p:sp>
        <p:nvSpPr>
          <p:cNvPr id="28" name="shape-24"/>
          <p:cNvSpPr txBox="1"/>
          <p:nvPr/>
        </p:nvSpPr>
        <p:spPr>
          <a:xfrm>
            <a:off x="4681728" y="4297680"/>
            <a:ext cx="2816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按需提问，由你作答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确认后再生成</a:t>
            </a:r>
            <a:endParaRPr lang="zh-CN" sz="1200" dirty="0"/>
          </a:p>
        </p:txBody>
      </p:sp>
      <p:sp>
        <p:nvSpPr>
          <p:cNvPr id="29" name="shape-25"/>
          <p:cNvSpPr/>
          <p:nvPr/>
        </p:nvSpPr>
        <p:spPr>
          <a:xfrm>
            <a:off x="8339328" y="2432304"/>
            <a:ext cx="3319272" cy="2651760"/>
          </a:xfrm>
          <a:prstGeom prst="roundRect">
            <a:avLst>
              <a:gd name="adj" fmla="val 4483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30" name="shape-26"/>
          <p:cNvSpPr/>
          <p:nvPr/>
        </p:nvSpPr>
        <p:spPr>
          <a:xfrm>
            <a:off x="8586216" y="2697480"/>
            <a:ext cx="365760" cy="365760"/>
          </a:xfrm>
          <a:prstGeom prst="roundRect">
            <a:avLst>
              <a:gd name="adj" fmla="val 22500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-27"/>
          <p:cNvSpPr/>
          <p:nvPr/>
        </p:nvSpPr>
        <p:spPr>
          <a:xfrm>
            <a:off x="8681314" y="2756002"/>
            <a:ext cx="175565" cy="248717"/>
          </a:xfrm>
          <a:prstGeom prst="roundRect">
            <a:avLst>
              <a:gd name="adj" fmla="val 10417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-28"/>
          <p:cNvSpPr/>
          <p:nvPr/>
        </p:nvSpPr>
        <p:spPr>
          <a:xfrm>
            <a:off x="8721547" y="2829154"/>
            <a:ext cx="9144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3" name="shape-29"/>
          <p:cNvSpPr/>
          <p:nvPr/>
        </p:nvSpPr>
        <p:spPr>
          <a:xfrm>
            <a:off x="8721547" y="2880360"/>
            <a:ext cx="9144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4" name="shape-30"/>
          <p:cNvSpPr/>
          <p:nvPr/>
        </p:nvSpPr>
        <p:spPr>
          <a:xfrm>
            <a:off x="8721547" y="2931566"/>
            <a:ext cx="9144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5" name="shape-31"/>
          <p:cNvSpPr txBox="1"/>
          <p:nvPr/>
        </p:nvSpPr>
        <p:spPr>
          <a:xfrm>
            <a:off x="8586216" y="3282696"/>
            <a:ext cx="281635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项目上下文化</a:t>
            </a:r>
            <a:endParaRPr lang="zh-CN" sz="1800" dirty="0"/>
          </a:p>
        </p:txBody>
      </p:sp>
      <p:sp>
        <p:nvSpPr>
          <p:cNvPr id="36" name="shape-32"/>
          <p:cNvSpPr txBox="1"/>
          <p:nvPr/>
        </p:nvSpPr>
        <p:spPr>
          <a:xfrm>
            <a:off x="8586216" y="3831336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让任务有材料依据</a:t>
            </a:r>
            <a:endParaRPr lang="zh-CN" sz="1400" dirty="0"/>
          </a:p>
        </p:txBody>
      </p:sp>
      <p:sp>
        <p:nvSpPr>
          <p:cNvPr id="37" name="shape-33"/>
          <p:cNvSpPr txBox="1"/>
          <p:nvPr/>
        </p:nvSpPr>
        <p:spPr>
          <a:xfrm>
            <a:off x="8586216" y="4297680"/>
            <a:ext cx="28163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带入本次相关片段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缺少信息仍需补充</a:t>
            </a:r>
            <a:endParaRPr lang="zh-CN" sz="1200" dirty="0"/>
          </a:p>
        </p:txBody>
      </p:sp>
      <p:sp>
        <p:nvSpPr>
          <p:cNvPr id="38" name="shape-34"/>
          <p:cNvSpPr/>
          <p:nvPr/>
        </p:nvSpPr>
        <p:spPr>
          <a:xfrm>
            <a:off x="530352" y="5367528"/>
            <a:ext cx="11128248" cy="731520"/>
          </a:xfrm>
          <a:prstGeom prst="roundRect">
            <a:avLst>
              <a:gd name="adj" fmla="val 16250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39" name="shape-35"/>
          <p:cNvSpPr txBox="1"/>
          <p:nvPr/>
        </p:nvSpPr>
        <p:spPr>
          <a:xfrm>
            <a:off x="795528" y="552297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默认直接模式</a:t>
            </a:r>
            <a:endParaRPr lang="zh-CN" sz="1000" dirty="0"/>
          </a:p>
        </p:txBody>
      </p:sp>
      <p:sp>
        <p:nvSpPr>
          <p:cNvPr id="40" name="shape-36"/>
          <p:cNvSpPr txBox="1"/>
          <p:nvPr/>
        </p:nvSpPr>
        <p:spPr>
          <a:xfrm>
            <a:off x="795528" y="580644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写下原始提示词</a:t>
            </a:r>
            <a:endParaRPr lang="zh-CN" sz="1300" dirty="0"/>
          </a:p>
        </p:txBody>
      </p:sp>
      <p:sp>
        <p:nvSpPr>
          <p:cNvPr id="41" name="shape-37"/>
          <p:cNvSpPr txBox="1"/>
          <p:nvPr/>
        </p:nvSpPr>
        <p:spPr>
          <a:xfrm>
            <a:off x="4315968" y="5650992"/>
            <a:ext cx="32644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400" b="1" dirty="0">
                <a:solidFill>
                  <a:srgbClr val="4D6B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点击“直接增强提示词”</a:t>
            </a:r>
            <a:endParaRPr lang="zh-CN" sz="1400" dirty="0"/>
          </a:p>
        </p:txBody>
      </p:sp>
      <p:sp>
        <p:nvSpPr>
          <p:cNvPr id="42" name="shape-38"/>
          <p:cNvSpPr txBox="1"/>
          <p:nvPr/>
        </p:nvSpPr>
        <p:spPr>
          <a:xfrm>
            <a:off x="8366760" y="565099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审阅、编辑、复制</a:t>
            </a:r>
            <a:endParaRPr lang="zh-CN" sz="1400" dirty="0"/>
          </a:p>
        </p:txBody>
      </p:sp>
      <p:sp>
        <p:nvSpPr>
          <p:cNvPr id="43" name="shape-39"/>
          <p:cNvSpPr/>
          <p:nvPr/>
        </p:nvSpPr>
        <p:spPr>
          <a:xfrm>
            <a:off x="3474720" y="5751576"/>
            <a:ext cx="576072" cy="0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44" name="shape-40"/>
          <p:cNvSpPr/>
          <p:nvPr/>
        </p:nvSpPr>
        <p:spPr>
          <a:xfrm>
            <a:off x="7534656" y="5751576"/>
            <a:ext cx="557784" cy="0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DCD0FB">
                  <a:alpha val="55000"/>
                </a:srgbClr>
              </a:gs>
              <a:gs pos="50000">
                <a:srgbClr val="DCD0FB">
                  <a:alpha val="16000"/>
                </a:srgbClr>
              </a:gs>
              <a:gs pos="100000">
                <a:srgbClr val="DCD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651760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07 · STRUCTURE</a:t>
            </a:r>
            <a:endParaRPr lang="zh-CN" sz="1100" dirty="0"/>
          </a:p>
        </p:txBody>
      </p:sp>
      <p:sp>
        <p:nvSpPr>
          <p:cNvPr id="7" name="shape-3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zh-CN" sz="1200" dirty="0"/>
          </a:p>
        </p:txBody>
      </p:sp>
      <p:sp>
        <p:nvSpPr>
          <p:cNvPr id="8" name="shape-4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结构稳定，内容随任务变化</a:t>
            </a:r>
            <a:endParaRPr lang="zh-CN" sz="3200" dirty="0"/>
          </a:p>
        </p:txBody>
      </p:sp>
      <p:sp>
        <p:nvSpPr>
          <p:cNvPr id="9" name="shape-5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四要素是核心；可选内容按当前规则添加。</a:t>
            </a:r>
            <a:endParaRPr lang="zh-CN" sz="1400" dirty="0"/>
          </a:p>
        </p:txBody>
      </p:sp>
      <p:sp>
        <p:nvSpPr>
          <p:cNvPr id="10" name="shape-6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04</a:t>
            </a:r>
            <a:endParaRPr lang="zh-CN" sz="1000" dirty="0"/>
          </a:p>
        </p:txBody>
      </p:sp>
      <p:sp>
        <p:nvSpPr>
          <p:cNvPr id="11" name="shape-7"/>
          <p:cNvSpPr/>
          <p:nvPr/>
        </p:nvSpPr>
        <p:spPr>
          <a:xfrm>
            <a:off x="493776" y="2441448"/>
            <a:ext cx="11201400" cy="2112264"/>
          </a:xfrm>
          <a:prstGeom prst="roundRect">
            <a:avLst>
              <a:gd name="adj" fmla="val 562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2" name="shape-8"/>
          <p:cNvSpPr/>
          <p:nvPr/>
        </p:nvSpPr>
        <p:spPr>
          <a:xfrm>
            <a:off x="722376" y="2697480"/>
            <a:ext cx="2450592" cy="1581912"/>
          </a:xfrm>
          <a:prstGeom prst="roundRect">
            <a:avLst>
              <a:gd name="adj" fmla="val 520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3" name="shape-9"/>
          <p:cNvSpPr txBox="1"/>
          <p:nvPr/>
        </p:nvSpPr>
        <p:spPr>
          <a:xfrm>
            <a:off x="914400" y="29169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2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背景</a:t>
            </a:r>
            <a:endParaRPr lang="zh-CN" sz="2200" dirty="0"/>
          </a:p>
        </p:txBody>
      </p:sp>
      <p:sp>
        <p:nvSpPr>
          <p:cNvPr id="14" name="shape-10"/>
          <p:cNvSpPr txBox="1"/>
          <p:nvPr/>
        </p:nvSpPr>
        <p:spPr>
          <a:xfrm>
            <a:off x="914400" y="3529584"/>
            <a:ext cx="2057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依据什么材料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与已有事实</a:t>
            </a:r>
            <a:endParaRPr lang="zh-CN" sz="1200" dirty="0"/>
          </a:p>
        </p:txBody>
      </p:sp>
      <p:sp>
        <p:nvSpPr>
          <p:cNvPr id="15" name="shape-11"/>
          <p:cNvSpPr/>
          <p:nvPr/>
        </p:nvSpPr>
        <p:spPr>
          <a:xfrm>
            <a:off x="3483864" y="2697480"/>
            <a:ext cx="2450592" cy="1581912"/>
          </a:xfrm>
          <a:prstGeom prst="roundRect">
            <a:avLst>
              <a:gd name="adj" fmla="val 520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6" name="shape-12"/>
          <p:cNvSpPr txBox="1"/>
          <p:nvPr/>
        </p:nvSpPr>
        <p:spPr>
          <a:xfrm>
            <a:off x="3675888" y="29169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2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任务</a:t>
            </a:r>
            <a:endParaRPr lang="zh-CN" sz="2200" dirty="0"/>
          </a:p>
        </p:txBody>
      </p:sp>
      <p:sp>
        <p:nvSpPr>
          <p:cNvPr id="17" name="shape-13"/>
          <p:cNvSpPr txBox="1"/>
          <p:nvPr/>
        </p:nvSpPr>
        <p:spPr>
          <a:xfrm>
            <a:off x="3675888" y="3529584"/>
            <a:ext cx="2057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具体要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完成什么</a:t>
            </a:r>
            <a:endParaRPr lang="zh-CN" sz="1200" dirty="0"/>
          </a:p>
        </p:txBody>
      </p:sp>
      <p:sp>
        <p:nvSpPr>
          <p:cNvPr id="18" name="shape-14"/>
          <p:cNvSpPr/>
          <p:nvPr/>
        </p:nvSpPr>
        <p:spPr>
          <a:xfrm>
            <a:off x="6245352" y="2697480"/>
            <a:ext cx="2450592" cy="1581912"/>
          </a:xfrm>
          <a:prstGeom prst="roundRect">
            <a:avLst>
              <a:gd name="adj" fmla="val 520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19" name="shape-15"/>
          <p:cNvSpPr txBox="1"/>
          <p:nvPr/>
        </p:nvSpPr>
        <p:spPr>
          <a:xfrm>
            <a:off x="6437376" y="29169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2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输出</a:t>
            </a:r>
            <a:endParaRPr lang="zh-CN" sz="2200" dirty="0"/>
          </a:p>
        </p:txBody>
      </p:sp>
      <p:sp>
        <p:nvSpPr>
          <p:cNvPr id="20" name="shape-16"/>
          <p:cNvSpPr txBox="1"/>
          <p:nvPr/>
        </p:nvSpPr>
        <p:spPr>
          <a:xfrm>
            <a:off x="6437376" y="3529584"/>
            <a:ext cx="2057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需要怎样的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交付形式</a:t>
            </a:r>
            <a:endParaRPr lang="zh-CN" sz="1200" dirty="0"/>
          </a:p>
        </p:txBody>
      </p:sp>
      <p:sp>
        <p:nvSpPr>
          <p:cNvPr id="21" name="shape-17"/>
          <p:cNvSpPr/>
          <p:nvPr/>
        </p:nvSpPr>
        <p:spPr>
          <a:xfrm>
            <a:off x="9006840" y="2697480"/>
            <a:ext cx="2450592" cy="1581912"/>
          </a:xfrm>
          <a:prstGeom prst="roundRect">
            <a:avLst>
              <a:gd name="adj" fmla="val 5202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22" name="shape-18"/>
          <p:cNvSpPr txBox="1"/>
          <p:nvPr/>
        </p:nvSpPr>
        <p:spPr>
          <a:xfrm>
            <a:off x="9198864" y="29169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2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约束</a:t>
            </a:r>
            <a:endParaRPr lang="zh-CN" sz="2200" dirty="0"/>
          </a:p>
        </p:txBody>
      </p:sp>
      <p:sp>
        <p:nvSpPr>
          <p:cNvPr id="23" name="shape-19"/>
          <p:cNvSpPr txBox="1"/>
          <p:nvPr/>
        </p:nvSpPr>
        <p:spPr>
          <a:xfrm>
            <a:off x="9198864" y="3529584"/>
            <a:ext cx="2057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必须保留的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限制与边界</a:t>
            </a:r>
            <a:endParaRPr lang="zh-CN" sz="1200" dirty="0"/>
          </a:p>
        </p:txBody>
      </p:sp>
      <p:sp>
        <p:nvSpPr>
          <p:cNvPr id="24" name="shape-20"/>
          <p:cNvSpPr/>
          <p:nvPr/>
        </p:nvSpPr>
        <p:spPr>
          <a:xfrm>
            <a:off x="585216" y="5056632"/>
            <a:ext cx="138074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25" name="shape-21"/>
          <p:cNvSpPr txBox="1"/>
          <p:nvPr/>
        </p:nvSpPr>
        <p:spPr>
          <a:xfrm>
            <a:off x="676656" y="5088636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验收标准</a:t>
            </a:r>
            <a:endParaRPr lang="zh-CN" sz="1100" dirty="0"/>
          </a:p>
        </p:txBody>
      </p:sp>
      <p:sp>
        <p:nvSpPr>
          <p:cNvPr id="26" name="shape-22"/>
          <p:cNvSpPr txBox="1"/>
          <p:nvPr/>
        </p:nvSpPr>
        <p:spPr>
          <a:xfrm>
            <a:off x="585216" y="5605272"/>
            <a:ext cx="35753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当前会补齐</a:t>
            </a:r>
            <a:endParaRPr lang="zh-CN" sz="1400" dirty="0"/>
          </a:p>
        </p:txBody>
      </p:sp>
      <p:sp>
        <p:nvSpPr>
          <p:cNvPr id="27" name="shape-23"/>
          <p:cNvSpPr/>
          <p:nvPr/>
        </p:nvSpPr>
        <p:spPr>
          <a:xfrm>
            <a:off x="4443984" y="5056632"/>
            <a:ext cx="138074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28" name="shape-24"/>
          <p:cNvSpPr txBox="1"/>
          <p:nvPr/>
        </p:nvSpPr>
        <p:spPr>
          <a:xfrm>
            <a:off x="4535424" y="5088636"/>
            <a:ext cx="11978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示例</a:t>
            </a:r>
            <a:endParaRPr lang="zh-CN" sz="1100" dirty="0"/>
          </a:p>
        </p:txBody>
      </p:sp>
      <p:sp>
        <p:nvSpPr>
          <p:cNvPr id="29" name="shape-25"/>
          <p:cNvSpPr txBox="1"/>
          <p:nvPr/>
        </p:nvSpPr>
        <p:spPr>
          <a:xfrm>
            <a:off x="4443984" y="5605272"/>
            <a:ext cx="35753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按开关添加，默认关闭</a:t>
            </a:r>
            <a:endParaRPr lang="zh-CN" sz="1400" dirty="0"/>
          </a:p>
        </p:txBody>
      </p:sp>
      <p:sp>
        <p:nvSpPr>
          <p:cNvPr id="30" name="shape-26"/>
          <p:cNvSpPr/>
          <p:nvPr/>
        </p:nvSpPr>
        <p:spPr>
          <a:xfrm>
            <a:off x="8302752" y="5056632"/>
            <a:ext cx="179222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31" name="shape-27"/>
          <p:cNvSpPr txBox="1"/>
          <p:nvPr/>
        </p:nvSpPr>
        <p:spPr>
          <a:xfrm>
            <a:off x="8394192" y="5088636"/>
            <a:ext cx="1609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待确认事项</a:t>
            </a:r>
            <a:endParaRPr lang="zh-CN" sz="1100" dirty="0"/>
          </a:p>
        </p:txBody>
      </p:sp>
      <p:sp>
        <p:nvSpPr>
          <p:cNvPr id="32" name="shape-28"/>
          <p:cNvSpPr txBox="1"/>
          <p:nvPr/>
        </p:nvSpPr>
        <p:spPr>
          <a:xfrm>
            <a:off x="8302752" y="5605272"/>
            <a:ext cx="35753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有未决信息时保留</a:t>
            </a:r>
            <a:endParaRPr lang="zh-CN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C9E8F6">
                  <a:alpha val="55000"/>
                </a:srgbClr>
              </a:gs>
              <a:gs pos="50000">
                <a:srgbClr val="C9E8F6">
                  <a:alpha val="16000"/>
                </a:srgbClr>
              </a:gs>
              <a:gs pos="100000">
                <a:srgbClr val="C9E8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651760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08 · PLAN MODE</a:t>
            </a:r>
            <a:endParaRPr lang="zh-CN" sz="1100" dirty="0"/>
          </a:p>
        </p:txBody>
      </p:sp>
      <p:sp>
        <p:nvSpPr>
          <p:cNvPr id="7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8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9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zh-CN" sz="1200" dirty="0"/>
          </a:p>
        </p:txBody>
      </p:sp>
      <p:sp>
        <p:nvSpPr>
          <p:cNvPr id="10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关键决定，先确认再生成</a:t>
            </a:r>
            <a:endParaRPr lang="zh-CN" sz="3200" dirty="0"/>
          </a:p>
        </p:txBody>
      </p:sp>
      <p:sp>
        <p:nvSpPr>
          <p:cNvPr id="11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先看已有信息，再问关键问题；避免让模型替你猜重要决定。</a:t>
            </a:r>
            <a:endParaRPr lang="zh-CN" sz="1400" dirty="0"/>
          </a:p>
        </p:txBody>
      </p:sp>
      <p:sp>
        <p:nvSpPr>
          <p:cNvPr id="12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05</a:t>
            </a:r>
            <a:endParaRPr lang="zh-CN" sz="1000" dirty="0"/>
          </a:p>
        </p:txBody>
      </p:sp>
      <p:sp>
        <p:nvSpPr>
          <p:cNvPr id="13" name="shape-9"/>
          <p:cNvSpPr/>
          <p:nvPr/>
        </p:nvSpPr>
        <p:spPr>
          <a:xfrm>
            <a:off x="612648" y="2532888"/>
            <a:ext cx="356616" cy="356616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-10"/>
          <p:cNvSpPr txBox="1"/>
          <p:nvPr/>
        </p:nvSpPr>
        <p:spPr>
          <a:xfrm>
            <a:off x="612648" y="2587752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zh-CN" sz="1200" dirty="0"/>
          </a:p>
        </p:txBody>
      </p:sp>
      <p:sp>
        <p:nvSpPr>
          <p:cNvPr id="15" name="shape-11"/>
          <p:cNvSpPr/>
          <p:nvPr/>
        </p:nvSpPr>
        <p:spPr>
          <a:xfrm>
            <a:off x="786384" y="2971800"/>
            <a:ext cx="0" cy="237744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16" name="shape-12"/>
          <p:cNvSpPr txBox="1"/>
          <p:nvPr/>
        </p:nvSpPr>
        <p:spPr>
          <a:xfrm>
            <a:off x="1188720" y="2523744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6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先看已有信息</a:t>
            </a:r>
            <a:endParaRPr lang="zh-CN" sz="1600" dirty="0"/>
          </a:p>
        </p:txBody>
      </p:sp>
      <p:sp>
        <p:nvSpPr>
          <p:cNvPr id="17" name="shape-13"/>
          <p:cNvSpPr txBox="1"/>
          <p:nvPr/>
        </p:nvSpPr>
        <p:spPr>
          <a:xfrm>
            <a:off x="1188720" y="2926080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结合需求与材料，找出缺口</a:t>
            </a:r>
            <a:endParaRPr lang="zh-CN" sz="1200" dirty="0"/>
          </a:p>
        </p:txBody>
      </p:sp>
      <p:sp>
        <p:nvSpPr>
          <p:cNvPr id="18" name="shape-14"/>
          <p:cNvSpPr/>
          <p:nvPr/>
        </p:nvSpPr>
        <p:spPr>
          <a:xfrm>
            <a:off x="612648" y="3346704"/>
            <a:ext cx="356616" cy="356616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-15"/>
          <p:cNvSpPr txBox="1"/>
          <p:nvPr/>
        </p:nvSpPr>
        <p:spPr>
          <a:xfrm>
            <a:off x="612648" y="3401568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zh-CN" sz="1200" dirty="0"/>
          </a:p>
        </p:txBody>
      </p:sp>
      <p:sp>
        <p:nvSpPr>
          <p:cNvPr id="20" name="shape-16"/>
          <p:cNvSpPr/>
          <p:nvPr/>
        </p:nvSpPr>
        <p:spPr>
          <a:xfrm>
            <a:off x="786384" y="3785616"/>
            <a:ext cx="0" cy="237744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21" name="shape-17"/>
          <p:cNvSpPr txBox="1"/>
          <p:nvPr/>
        </p:nvSpPr>
        <p:spPr>
          <a:xfrm>
            <a:off x="1188720" y="3337560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6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按需提出问题</a:t>
            </a:r>
            <a:endParaRPr lang="zh-CN" sz="1600" dirty="0"/>
          </a:p>
        </p:txBody>
      </p:sp>
      <p:sp>
        <p:nvSpPr>
          <p:cNvPr id="22" name="shape-18"/>
          <p:cNvSpPr txBox="1"/>
          <p:nvPr/>
        </p:nvSpPr>
        <p:spPr>
          <a:xfrm>
            <a:off x="1188720" y="3739896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最多 8 题；单选、多选或自由回答</a:t>
            </a:r>
            <a:endParaRPr lang="zh-CN" sz="1200" dirty="0"/>
          </a:p>
        </p:txBody>
      </p:sp>
      <p:sp>
        <p:nvSpPr>
          <p:cNvPr id="23" name="shape-19"/>
          <p:cNvSpPr/>
          <p:nvPr/>
        </p:nvSpPr>
        <p:spPr>
          <a:xfrm>
            <a:off x="612648" y="4160520"/>
            <a:ext cx="356616" cy="356616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-20"/>
          <p:cNvSpPr txBox="1"/>
          <p:nvPr/>
        </p:nvSpPr>
        <p:spPr>
          <a:xfrm>
            <a:off x="612648" y="4215384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zh-CN" sz="1200" dirty="0"/>
          </a:p>
        </p:txBody>
      </p:sp>
      <p:sp>
        <p:nvSpPr>
          <p:cNvPr id="25" name="shape-21"/>
          <p:cNvSpPr/>
          <p:nvPr/>
        </p:nvSpPr>
        <p:spPr>
          <a:xfrm>
            <a:off x="786384" y="4599432"/>
            <a:ext cx="0" cy="237744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26" name="shape-22"/>
          <p:cNvSpPr txBox="1"/>
          <p:nvPr/>
        </p:nvSpPr>
        <p:spPr>
          <a:xfrm>
            <a:off x="1188720" y="4151376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6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由你逐项确认</a:t>
            </a:r>
            <a:endParaRPr lang="zh-CN" sz="1600" dirty="0"/>
          </a:p>
        </p:txBody>
      </p:sp>
      <p:sp>
        <p:nvSpPr>
          <p:cNvPr id="27" name="shape-23"/>
          <p:cNvSpPr txBox="1"/>
          <p:nvPr/>
        </p:nvSpPr>
        <p:spPr>
          <a:xfrm>
            <a:off x="1188720" y="4553712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推荐只是建议，不会自动作答</a:t>
            </a:r>
            <a:endParaRPr lang="zh-CN" sz="1200" dirty="0"/>
          </a:p>
        </p:txBody>
      </p:sp>
      <p:sp>
        <p:nvSpPr>
          <p:cNvPr id="28" name="shape-24"/>
          <p:cNvSpPr/>
          <p:nvPr/>
        </p:nvSpPr>
        <p:spPr>
          <a:xfrm>
            <a:off x="612648" y="4974336"/>
            <a:ext cx="356616" cy="356616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-25"/>
          <p:cNvSpPr txBox="1"/>
          <p:nvPr/>
        </p:nvSpPr>
        <p:spPr>
          <a:xfrm>
            <a:off x="612648" y="5029200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zh-CN" sz="1200" dirty="0"/>
          </a:p>
        </p:txBody>
      </p:sp>
      <p:sp>
        <p:nvSpPr>
          <p:cNvPr id="30" name="shape-26"/>
          <p:cNvSpPr txBox="1"/>
          <p:nvPr/>
        </p:nvSpPr>
        <p:spPr>
          <a:xfrm>
            <a:off x="1188720" y="496519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6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带答案生成</a:t>
            </a:r>
            <a:endParaRPr lang="zh-CN" sz="1600" dirty="0"/>
          </a:p>
        </p:txBody>
      </p:sp>
      <p:sp>
        <p:nvSpPr>
          <p:cNvPr id="31" name="shape-27"/>
          <p:cNvSpPr txBox="1"/>
          <p:nvPr/>
        </p:nvSpPr>
        <p:spPr>
          <a:xfrm>
            <a:off x="1188720" y="5367528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再检索相关材料，生成最终提示词</a:t>
            </a:r>
            <a:endParaRPr lang="zh-CN" sz="1200" dirty="0"/>
          </a:p>
        </p:txBody>
      </p:sp>
      <p:sp>
        <p:nvSpPr>
          <p:cNvPr id="32" name="shape-28"/>
          <p:cNvSpPr/>
          <p:nvPr/>
        </p:nvSpPr>
        <p:spPr>
          <a:xfrm>
            <a:off x="5166360" y="2423160"/>
            <a:ext cx="6455664" cy="3529584"/>
          </a:xfrm>
          <a:prstGeom prst="roundRect">
            <a:avLst>
              <a:gd name="adj" fmla="val 336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33" name="shape-29"/>
          <p:cNvSpPr/>
          <p:nvPr/>
        </p:nvSpPr>
        <p:spPr>
          <a:xfrm>
            <a:off x="5431536" y="2633472"/>
            <a:ext cx="2980944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34" name="shape-30"/>
          <p:cNvSpPr txBox="1"/>
          <p:nvPr/>
        </p:nvSpPr>
        <p:spPr>
          <a:xfrm>
            <a:off x="5522976" y="2665476"/>
            <a:ext cx="2798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真实界面 · 人工问答</a:t>
            </a:r>
            <a:endParaRPr lang="zh-CN" sz="1100" dirty="0"/>
          </a:p>
        </p:txBody>
      </p:sp>
      <p:pic>
        <p:nvPicPr>
          <p:cNvPr id="35" name="shape-31" descr="示意样例：真实 Plan 提问界面，人工问题与选项，推荐项未自动选择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3209" y="3136392"/>
            <a:ext cx="5301967" cy="2551176"/>
          </a:xfrm>
          <a:prstGeom prst="rect">
            <a:avLst/>
          </a:prstGeom>
        </p:spPr>
      </p:pic>
      <p:sp>
        <p:nvSpPr>
          <p:cNvPr id="36" name="shape-32"/>
          <p:cNvSpPr txBox="1"/>
          <p:nvPr/>
        </p:nvSpPr>
        <p:spPr>
          <a:xfrm>
            <a:off x="612648" y="6144768"/>
            <a:ext cx="11009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默认关闭；首次开启有说明。没有需提问的信息时，直接进入最终生成。</a:t>
            </a:r>
            <a:endParaRPr lang="zh-CN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DCD0FB">
                  <a:alpha val="55000"/>
                </a:srgbClr>
              </a:gs>
              <a:gs pos="50000">
                <a:srgbClr val="DCD0FB">
                  <a:alpha val="16000"/>
                </a:srgbClr>
              </a:gs>
              <a:gs pos="100000">
                <a:srgbClr val="DCD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3035808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09 · CONFIRMATION</a:t>
            </a:r>
            <a:endParaRPr lang="zh-CN" sz="1100" dirty="0"/>
          </a:p>
        </p:txBody>
      </p:sp>
      <p:sp>
        <p:nvSpPr>
          <p:cNvPr id="7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8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9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zh-CN" sz="1200" dirty="0"/>
          </a:p>
        </p:txBody>
      </p:sp>
      <p:sp>
        <p:nvSpPr>
          <p:cNvPr id="10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你来确认答案，再生成最终提示词</a:t>
            </a:r>
            <a:endParaRPr lang="zh-CN" sz="3200" dirty="0"/>
          </a:p>
        </p:txBody>
      </p:sp>
      <p:sp>
        <p:nvSpPr>
          <p:cNvPr id="11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可以核对、返回修改；“暂不确定”仍然是不确定。</a:t>
            </a:r>
            <a:endParaRPr lang="zh-CN" sz="1400" dirty="0"/>
          </a:p>
        </p:txBody>
      </p:sp>
      <p:sp>
        <p:nvSpPr>
          <p:cNvPr id="12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05</a:t>
            </a:r>
            <a:endParaRPr lang="zh-CN" sz="1000" dirty="0"/>
          </a:p>
        </p:txBody>
      </p:sp>
      <p:sp>
        <p:nvSpPr>
          <p:cNvPr id="13" name="shape-9"/>
          <p:cNvSpPr txBox="1"/>
          <p:nvPr/>
        </p:nvSpPr>
        <p:spPr>
          <a:xfrm>
            <a:off x="594360" y="2587752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核对已填答案</a:t>
            </a:r>
            <a:endParaRPr lang="zh-CN" sz="1800" dirty="0"/>
          </a:p>
        </p:txBody>
      </p:sp>
      <p:sp>
        <p:nvSpPr>
          <p:cNvPr id="14" name="shape-10"/>
          <p:cNvSpPr txBox="1"/>
          <p:nvPr/>
        </p:nvSpPr>
        <p:spPr>
          <a:xfrm>
            <a:off x="594360" y="3072384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展开查看，点击题目可返回修改。</a:t>
            </a:r>
            <a:endParaRPr lang="zh-CN" sz="1300" dirty="0"/>
          </a:p>
        </p:txBody>
      </p:sp>
      <p:sp>
        <p:nvSpPr>
          <p:cNvPr id="15" name="shape-11"/>
          <p:cNvSpPr txBox="1"/>
          <p:nvPr/>
        </p:nvSpPr>
        <p:spPr>
          <a:xfrm>
            <a:off x="594360" y="3593592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保留仍未知的信息</a:t>
            </a:r>
            <a:endParaRPr lang="zh-CN" sz="1800" dirty="0"/>
          </a:p>
        </p:txBody>
      </p:sp>
      <p:sp>
        <p:nvSpPr>
          <p:cNvPr id="16" name="shape-12"/>
          <p:cNvSpPr txBox="1"/>
          <p:nvPr/>
        </p:nvSpPr>
        <p:spPr>
          <a:xfrm>
            <a:off x="594360" y="4078224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未确定的报名方式，不代替你猜。</a:t>
            </a:r>
            <a:endParaRPr lang="zh-CN" sz="1300" dirty="0"/>
          </a:p>
        </p:txBody>
      </p:sp>
      <p:sp>
        <p:nvSpPr>
          <p:cNvPr id="17" name="shape-13"/>
          <p:cNvSpPr txBox="1"/>
          <p:nvPr/>
        </p:nvSpPr>
        <p:spPr>
          <a:xfrm>
            <a:off x="594360" y="4599432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主动生成最终提示词</a:t>
            </a:r>
            <a:endParaRPr lang="zh-CN" sz="1800" dirty="0"/>
          </a:p>
        </p:txBody>
      </p:sp>
      <p:sp>
        <p:nvSpPr>
          <p:cNvPr id="18" name="shape-14"/>
          <p:cNvSpPr txBox="1"/>
          <p:nvPr/>
        </p:nvSpPr>
        <p:spPr>
          <a:xfrm>
            <a:off x="594360" y="5084064"/>
            <a:ext cx="4544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所有问题有效作答后，再点击生成。</a:t>
            </a:r>
            <a:endParaRPr lang="zh-CN" sz="1300" dirty="0"/>
          </a:p>
        </p:txBody>
      </p:sp>
      <p:sp>
        <p:nvSpPr>
          <p:cNvPr id="19" name="shape-15"/>
          <p:cNvSpPr/>
          <p:nvPr/>
        </p:nvSpPr>
        <p:spPr>
          <a:xfrm>
            <a:off x="5486400" y="2423160"/>
            <a:ext cx="6144768" cy="3639312"/>
          </a:xfrm>
          <a:prstGeom prst="roundRect">
            <a:avLst>
              <a:gd name="adj" fmla="val 3266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0" name="shape-16"/>
          <p:cNvSpPr/>
          <p:nvPr/>
        </p:nvSpPr>
        <p:spPr>
          <a:xfrm>
            <a:off x="5742432" y="2660904"/>
            <a:ext cx="2990088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21" name="shape-17"/>
          <p:cNvSpPr txBox="1"/>
          <p:nvPr/>
        </p:nvSpPr>
        <p:spPr>
          <a:xfrm>
            <a:off x="5833872" y="2692908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真实界面 · 人工答案</a:t>
            </a:r>
            <a:endParaRPr lang="zh-CN" sz="1100" dirty="0"/>
          </a:p>
        </p:txBody>
      </p:sp>
      <p:pic>
        <p:nvPicPr>
          <p:cNvPr id="22" name="shape-18" descr="示意样例：实际答案内容区域，人工确认了受众、篇幅、语气，报名方式仍待确认；仅裁取内容范围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3416825"/>
            <a:ext cx="5632704" cy="1085053"/>
          </a:xfrm>
          <a:prstGeom prst="rect">
            <a:avLst/>
          </a:prstGeom>
        </p:spPr>
      </p:pic>
      <p:pic>
        <p:nvPicPr>
          <p:cNvPr id="23" name="shape-19" descr="示意样例：真实的返回、上一题和生成最终提示词按钮区域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4927323"/>
            <a:ext cx="5632704" cy="258618"/>
          </a:xfrm>
          <a:prstGeom prst="rect">
            <a:avLst/>
          </a:prstGeom>
        </p:spPr>
      </p:pic>
      <p:sp>
        <p:nvSpPr>
          <p:cNvPr id="24" name="shape-20"/>
          <p:cNvSpPr txBox="1"/>
          <p:nvPr/>
        </p:nvSpPr>
        <p:spPr>
          <a:xfrm>
            <a:off x="5760720" y="5431536"/>
            <a:ext cx="5550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300" dirty="0">
                <a:solidFill>
                  <a:srgbClr val="0E9F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已确认：初学者 · 公众号 · 约 300 字</a:t>
            </a:r>
            <a:endParaRPr lang="zh-CN" sz="1300" dirty="0"/>
          </a:p>
        </p:txBody>
      </p:sp>
      <p:sp>
        <p:nvSpPr>
          <p:cNvPr id="25" name="shape-21"/>
          <p:cNvSpPr txBox="1"/>
          <p:nvPr/>
        </p:nvSpPr>
        <p:spPr>
          <a:xfrm>
            <a:off x="5760720" y="5779008"/>
            <a:ext cx="5550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C269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仍待确认：报名方式</a:t>
            </a:r>
            <a:endParaRPr lang="zh-CN" sz="1200" dirty="0"/>
          </a:p>
        </p:txBody>
      </p:sp>
      <p:sp>
        <p:nvSpPr>
          <p:cNvPr id="26" name="shape-22"/>
          <p:cNvSpPr txBox="1"/>
          <p:nvPr/>
        </p:nvSpPr>
        <p:spPr>
          <a:xfrm>
            <a:off x="594360" y="6199632"/>
            <a:ext cx="10972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自定义回答会替换已有选项；计划过期后，需重新核对可恢复的答案草稿。</a:t>
            </a:r>
            <a:endParaRPr lang="zh-CN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C9E8F6">
                  <a:alpha val="55000"/>
                </a:srgbClr>
              </a:gs>
              <a:gs pos="50000">
                <a:srgbClr val="C9E8F6">
                  <a:alpha val="16000"/>
                </a:srgbClr>
              </a:gs>
              <a:gs pos="100000">
                <a:srgbClr val="C9E8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606040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10 · CONTEXT</a:t>
            </a:r>
            <a:endParaRPr lang="zh-CN" sz="1100" dirty="0"/>
          </a:p>
        </p:txBody>
      </p:sp>
      <p:sp>
        <p:nvSpPr>
          <p:cNvPr id="7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8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9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zh-CN" sz="1200" dirty="0"/>
          </a:p>
        </p:txBody>
      </p:sp>
      <p:sp>
        <p:nvSpPr>
          <p:cNvPr id="10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把背景带上，结果才更贴近任务</a:t>
            </a:r>
            <a:endParaRPr lang="zh-CN" sz="3200" dirty="0"/>
          </a:p>
        </p:txBody>
      </p:sp>
      <p:sp>
        <p:nvSpPr>
          <p:cNvPr id="11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项目上下文化：把你主动提供的相关材料，整理成本次生成的依据。</a:t>
            </a:r>
            <a:endParaRPr lang="zh-CN" sz="1400" dirty="0"/>
          </a:p>
        </p:txBody>
      </p:sp>
      <p:sp>
        <p:nvSpPr>
          <p:cNvPr id="12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06</a:t>
            </a:r>
            <a:endParaRPr lang="zh-CN" sz="1000" dirty="0"/>
          </a:p>
        </p:txBody>
      </p:sp>
      <p:sp>
        <p:nvSpPr>
          <p:cNvPr id="13" name="shape-9"/>
          <p:cNvSpPr/>
          <p:nvPr/>
        </p:nvSpPr>
        <p:spPr>
          <a:xfrm>
            <a:off x="539496" y="2450592"/>
            <a:ext cx="3438144" cy="2313432"/>
          </a:xfrm>
          <a:prstGeom prst="roundRect">
            <a:avLst>
              <a:gd name="adj" fmla="val 513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4" name="shape-10"/>
          <p:cNvSpPr/>
          <p:nvPr/>
        </p:nvSpPr>
        <p:spPr>
          <a:xfrm>
            <a:off x="795528" y="2724912"/>
            <a:ext cx="374904" cy="374904"/>
          </a:xfrm>
          <a:prstGeom prst="roundRect">
            <a:avLst>
              <a:gd name="adj" fmla="val 21951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-11"/>
          <p:cNvSpPr/>
          <p:nvPr/>
        </p:nvSpPr>
        <p:spPr>
          <a:xfrm>
            <a:off x="893003" y="2784897"/>
            <a:ext cx="179954" cy="254935"/>
          </a:xfrm>
          <a:prstGeom prst="roundRect">
            <a:avLst>
              <a:gd name="adj" fmla="val 10163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-12"/>
          <p:cNvSpPr/>
          <p:nvPr/>
        </p:nvSpPr>
        <p:spPr>
          <a:xfrm>
            <a:off x="934242" y="2859877"/>
            <a:ext cx="9372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7" name="shape-13"/>
          <p:cNvSpPr/>
          <p:nvPr/>
        </p:nvSpPr>
        <p:spPr>
          <a:xfrm>
            <a:off x="934242" y="2912364"/>
            <a:ext cx="9372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8" name="shape-14"/>
          <p:cNvSpPr/>
          <p:nvPr/>
        </p:nvSpPr>
        <p:spPr>
          <a:xfrm>
            <a:off x="934242" y="2964851"/>
            <a:ext cx="93726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9" name="shape-15"/>
          <p:cNvSpPr txBox="1"/>
          <p:nvPr/>
        </p:nvSpPr>
        <p:spPr>
          <a:xfrm>
            <a:off x="795528" y="32826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7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用户提供的活动资料</a:t>
            </a:r>
            <a:endParaRPr lang="zh-CN" sz="1700" dirty="0"/>
          </a:p>
        </p:txBody>
      </p:sp>
      <p:sp>
        <p:nvSpPr>
          <p:cNvPr id="20" name="shape-16"/>
          <p:cNvSpPr txBox="1"/>
          <p:nvPr/>
        </p:nvSpPr>
        <p:spPr>
          <a:xfrm>
            <a:off x="795528" y="3813048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主题：清晰表达 AI 需求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受众：初学者</a:t>
            </a:r>
            <a:endParaRPr lang="zh-CN" sz="12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报名方式：未提供</a:t>
            </a:r>
            <a:endParaRPr lang="zh-CN" sz="1200" dirty="0"/>
          </a:p>
        </p:txBody>
      </p:sp>
      <p:sp>
        <p:nvSpPr>
          <p:cNvPr id="21" name="shape-17"/>
          <p:cNvSpPr/>
          <p:nvPr/>
        </p:nvSpPr>
        <p:spPr>
          <a:xfrm>
            <a:off x="4489704" y="2962656"/>
            <a:ext cx="3172968" cy="1371600"/>
          </a:xfrm>
          <a:prstGeom prst="roundRect">
            <a:avLst>
              <a:gd name="adj" fmla="val 8667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2" name="shape-18"/>
          <p:cNvSpPr txBox="1"/>
          <p:nvPr/>
        </p:nvSpPr>
        <p:spPr>
          <a:xfrm>
            <a:off x="4736592" y="3282696"/>
            <a:ext cx="2688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按本次任务</a:t>
            </a:r>
            <a:endParaRPr lang="zh-CN" sz="1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选择相关内容</a:t>
            </a:r>
            <a:endParaRPr lang="zh-CN" sz="1900" dirty="0"/>
          </a:p>
        </p:txBody>
      </p:sp>
      <p:sp>
        <p:nvSpPr>
          <p:cNvPr id="23" name="shape-19"/>
          <p:cNvSpPr/>
          <p:nvPr/>
        </p:nvSpPr>
        <p:spPr>
          <a:xfrm>
            <a:off x="4050792" y="3630168"/>
            <a:ext cx="338328" cy="0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24" name="shape-20"/>
          <p:cNvSpPr/>
          <p:nvPr/>
        </p:nvSpPr>
        <p:spPr>
          <a:xfrm>
            <a:off x="7754112" y="3630168"/>
            <a:ext cx="338328" cy="0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25" name="shape-21"/>
          <p:cNvSpPr/>
          <p:nvPr/>
        </p:nvSpPr>
        <p:spPr>
          <a:xfrm>
            <a:off x="8202168" y="2450592"/>
            <a:ext cx="3438144" cy="2313432"/>
          </a:xfrm>
          <a:prstGeom prst="roundRect">
            <a:avLst>
              <a:gd name="adj" fmla="val 513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6" name="shape-22"/>
          <p:cNvSpPr/>
          <p:nvPr/>
        </p:nvSpPr>
        <p:spPr>
          <a:xfrm>
            <a:off x="8449056" y="2724912"/>
            <a:ext cx="1655064" cy="320040"/>
          </a:xfrm>
          <a:prstGeom prst="roundRect">
            <a:avLst>
              <a:gd name="adj" fmla="val 48571"/>
            </a:avLst>
          </a:prstGeom>
          <a:solidFill>
            <a:srgbClr val="0E9F6E">
              <a:alpha val="10000"/>
            </a:srgbClr>
          </a:solidFill>
          <a:ln w="12700">
            <a:solidFill>
              <a:srgbClr val="0E9F6E">
                <a:alpha val="28000"/>
              </a:srgbClr>
            </a:solidFill>
            <a:prstDash val="solid"/>
          </a:ln>
        </p:spPr>
      </p:sp>
      <p:sp>
        <p:nvSpPr>
          <p:cNvPr id="27" name="shape-23"/>
          <p:cNvSpPr txBox="1"/>
          <p:nvPr/>
        </p:nvSpPr>
        <p:spPr>
          <a:xfrm>
            <a:off x="8540496" y="2756916"/>
            <a:ext cx="1472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0E9F6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本次依据</a:t>
            </a:r>
            <a:endParaRPr lang="zh-CN" sz="1100" dirty="0"/>
          </a:p>
        </p:txBody>
      </p:sp>
      <p:sp>
        <p:nvSpPr>
          <p:cNvPr id="28" name="shape-24"/>
          <p:cNvSpPr txBox="1"/>
          <p:nvPr/>
        </p:nvSpPr>
        <p:spPr>
          <a:xfrm>
            <a:off x="8449056" y="3328416"/>
            <a:ext cx="2953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4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主题与受众有材料依据</a:t>
            </a:r>
            <a:endParaRPr lang="zh-CN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zh-CN" altLang="en-US" sz="14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生成时保留事实边界</a:t>
            </a:r>
            <a:endParaRPr lang="zh-CN" sz="1400" dirty="0"/>
          </a:p>
        </p:txBody>
      </p:sp>
      <p:sp>
        <p:nvSpPr>
          <p:cNvPr id="29" name="shape-25"/>
          <p:cNvSpPr txBox="1"/>
          <p:nvPr/>
        </p:nvSpPr>
        <p:spPr>
          <a:xfrm>
            <a:off x="8449056" y="42428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C2690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缺少的报名方式仍须确认</a:t>
            </a:r>
            <a:endParaRPr lang="zh-CN" sz="1200" dirty="0"/>
          </a:p>
        </p:txBody>
      </p:sp>
      <p:sp>
        <p:nvSpPr>
          <p:cNvPr id="30" name="shape-26"/>
          <p:cNvSpPr/>
          <p:nvPr/>
        </p:nvSpPr>
        <p:spPr>
          <a:xfrm>
            <a:off x="539496" y="5120640"/>
            <a:ext cx="5431536" cy="667512"/>
          </a:xfrm>
          <a:prstGeom prst="roundRect">
            <a:avLst>
              <a:gd name="adj" fmla="val 1232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31" name="shape-27"/>
          <p:cNvSpPr/>
          <p:nvPr/>
        </p:nvSpPr>
        <p:spPr>
          <a:xfrm>
            <a:off x="6217920" y="5120640"/>
            <a:ext cx="5422392" cy="667512"/>
          </a:xfrm>
          <a:prstGeom prst="roundRect">
            <a:avLst>
              <a:gd name="adj" fmla="val 1232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32" name="shape-28"/>
          <p:cNvSpPr txBox="1"/>
          <p:nvPr/>
        </p:nvSpPr>
        <p:spPr>
          <a:xfrm>
            <a:off x="777240" y="5330952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代码资料：浏览器本地索引 → 相关片段</a:t>
            </a:r>
            <a:endParaRPr lang="zh-CN" sz="1200" dirty="0"/>
          </a:p>
        </p:txBody>
      </p:sp>
      <p:sp>
        <p:nvSpPr>
          <p:cNvPr id="33" name="shape-29"/>
          <p:cNvSpPr txBox="1"/>
          <p:nvPr/>
        </p:nvSpPr>
        <p:spPr>
          <a:xfrm>
            <a:off x="6455664" y="5330952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文档资料：确认上传 → 提取与临时索引</a:t>
            </a:r>
            <a:endParaRPr lang="zh-CN" sz="1200" dirty="0"/>
          </a:p>
        </p:txBody>
      </p:sp>
      <p:sp>
        <p:nvSpPr>
          <p:cNvPr id="34" name="shape-30"/>
          <p:cNvSpPr txBox="1"/>
          <p:nvPr/>
        </p:nvSpPr>
        <p:spPr>
          <a:xfrm>
            <a:off x="621792" y="6062472"/>
            <a:ext cx="10963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选择文件 ≠ 模型读到全文。查看覆盖报告；真实模型所需内容经后端发送给供应商。</a:t>
            </a:r>
            <a:endParaRPr lang="zh-CN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DCD0FB">
                  <a:alpha val="55000"/>
                </a:srgbClr>
              </a:gs>
              <a:gs pos="50000">
                <a:srgbClr val="DCD0FB">
                  <a:alpha val="16000"/>
                </a:srgbClr>
              </a:gs>
              <a:gs pos="100000">
                <a:srgbClr val="DCD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651760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11 · MATERIALS</a:t>
            </a:r>
            <a:endParaRPr lang="zh-CN" sz="1100" dirty="0"/>
          </a:p>
        </p:txBody>
      </p:sp>
      <p:sp>
        <p:nvSpPr>
          <p:cNvPr id="7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8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9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zh-CN" sz="1200" dirty="0"/>
          </a:p>
        </p:txBody>
      </p:sp>
      <p:sp>
        <p:nvSpPr>
          <p:cNvPr id="10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多种技术栈，多种资料入口</a:t>
            </a:r>
            <a:endParaRPr lang="zh-CN" sz="3200" dirty="0"/>
          </a:p>
        </p:txBody>
      </p:sp>
      <p:sp>
        <p:nvSpPr>
          <p:cNvPr id="11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识别已有背景，帮助组织更贴近任务的提示词。</a:t>
            </a:r>
            <a:endParaRPr lang="zh-CN" sz="1400" dirty="0"/>
          </a:p>
        </p:txBody>
      </p:sp>
      <p:sp>
        <p:nvSpPr>
          <p:cNvPr id="12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06</a:t>
            </a:r>
            <a:endParaRPr lang="zh-CN" sz="1000" dirty="0"/>
          </a:p>
        </p:txBody>
      </p:sp>
      <p:sp>
        <p:nvSpPr>
          <p:cNvPr id="13" name="shape-9"/>
          <p:cNvSpPr/>
          <p:nvPr/>
        </p:nvSpPr>
        <p:spPr>
          <a:xfrm>
            <a:off x="512064" y="2450592"/>
            <a:ext cx="3474720" cy="3108960"/>
          </a:xfrm>
          <a:prstGeom prst="roundRect">
            <a:avLst>
              <a:gd name="adj" fmla="val 3824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4" name="shape-10"/>
          <p:cNvSpPr/>
          <p:nvPr/>
        </p:nvSpPr>
        <p:spPr>
          <a:xfrm>
            <a:off x="768096" y="2724912"/>
            <a:ext cx="438912" cy="438912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-11"/>
          <p:cNvSpPr/>
          <p:nvPr/>
        </p:nvSpPr>
        <p:spPr>
          <a:xfrm flipH="1">
            <a:off x="829544" y="2830251"/>
            <a:ext cx="92172" cy="11411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6" name="shape-12"/>
          <p:cNvSpPr/>
          <p:nvPr/>
        </p:nvSpPr>
        <p:spPr>
          <a:xfrm>
            <a:off x="829544" y="2944368"/>
            <a:ext cx="92172" cy="11411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7" name="shape-13"/>
          <p:cNvSpPr/>
          <p:nvPr/>
        </p:nvSpPr>
        <p:spPr>
          <a:xfrm>
            <a:off x="1053389" y="2830251"/>
            <a:ext cx="92172" cy="11411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8" name="shape-14"/>
          <p:cNvSpPr/>
          <p:nvPr/>
        </p:nvSpPr>
        <p:spPr>
          <a:xfrm flipH="1">
            <a:off x="1053389" y="2944368"/>
            <a:ext cx="92172" cy="11411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9" name="shape-15"/>
          <p:cNvSpPr/>
          <p:nvPr/>
        </p:nvSpPr>
        <p:spPr>
          <a:xfrm flipH="1">
            <a:off x="956828" y="2812694"/>
            <a:ext cx="61448" cy="26334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0" name="shape-16"/>
          <p:cNvSpPr txBox="1"/>
          <p:nvPr/>
        </p:nvSpPr>
        <p:spPr>
          <a:xfrm>
            <a:off x="768096" y="3364992"/>
            <a:ext cx="2962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技术栈线索</a:t>
            </a:r>
            <a:endParaRPr lang="zh-CN" sz="1500" dirty="0"/>
          </a:p>
        </p:txBody>
      </p:sp>
      <p:sp>
        <p:nvSpPr>
          <p:cNvPr id="21" name="shape-17"/>
          <p:cNvSpPr txBox="1"/>
          <p:nvPr/>
        </p:nvSpPr>
        <p:spPr>
          <a:xfrm>
            <a:off x="768096" y="3895344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Java / Spring Boot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Node.js / Vue / React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/ Go / Rust 等</a:t>
            </a:r>
            <a:endParaRPr lang="zh-CN" sz="1200" dirty="0"/>
          </a:p>
        </p:txBody>
      </p:sp>
      <p:sp>
        <p:nvSpPr>
          <p:cNvPr id="22" name="shape-18"/>
          <p:cNvSpPr/>
          <p:nvPr/>
        </p:nvSpPr>
        <p:spPr>
          <a:xfrm>
            <a:off x="4370832" y="2450592"/>
            <a:ext cx="3474720" cy="3108960"/>
          </a:xfrm>
          <a:prstGeom prst="roundRect">
            <a:avLst>
              <a:gd name="adj" fmla="val 3824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3" name="shape-19"/>
          <p:cNvSpPr/>
          <p:nvPr/>
        </p:nvSpPr>
        <p:spPr>
          <a:xfrm>
            <a:off x="4626864" y="2724912"/>
            <a:ext cx="438912" cy="438912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-20"/>
          <p:cNvSpPr/>
          <p:nvPr/>
        </p:nvSpPr>
        <p:spPr>
          <a:xfrm>
            <a:off x="4736592" y="2834640"/>
            <a:ext cx="74615" cy="746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-21"/>
          <p:cNvSpPr/>
          <p:nvPr/>
        </p:nvSpPr>
        <p:spPr>
          <a:xfrm>
            <a:off x="4736592" y="2979481"/>
            <a:ext cx="74615" cy="746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-22"/>
          <p:cNvSpPr/>
          <p:nvPr/>
        </p:nvSpPr>
        <p:spPr>
          <a:xfrm>
            <a:off x="4881433" y="2834640"/>
            <a:ext cx="74615" cy="746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-23"/>
          <p:cNvSpPr/>
          <p:nvPr/>
        </p:nvSpPr>
        <p:spPr>
          <a:xfrm>
            <a:off x="4881433" y="2979481"/>
            <a:ext cx="74615" cy="746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-24"/>
          <p:cNvSpPr txBox="1"/>
          <p:nvPr/>
        </p:nvSpPr>
        <p:spPr>
          <a:xfrm>
            <a:off x="4626864" y="3364992"/>
            <a:ext cx="2962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工程依据</a:t>
            </a:r>
            <a:endParaRPr lang="zh-CN" sz="1500" dirty="0"/>
          </a:p>
        </p:txBody>
      </p:sp>
      <p:sp>
        <p:nvSpPr>
          <p:cNvPr id="29" name="shape-25"/>
          <p:cNvSpPr txBox="1"/>
          <p:nvPr/>
        </p:nvSpPr>
        <p:spPr>
          <a:xfrm>
            <a:off x="4626864" y="3895344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依赖与配置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目录结构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相关代码片段</a:t>
            </a:r>
            <a:endParaRPr lang="zh-CN" sz="1200" dirty="0"/>
          </a:p>
        </p:txBody>
      </p:sp>
      <p:sp>
        <p:nvSpPr>
          <p:cNvPr id="30" name="shape-26"/>
          <p:cNvSpPr/>
          <p:nvPr/>
        </p:nvSpPr>
        <p:spPr>
          <a:xfrm>
            <a:off x="8229600" y="2450592"/>
            <a:ext cx="3474720" cy="3108960"/>
          </a:xfrm>
          <a:prstGeom prst="roundRect">
            <a:avLst>
              <a:gd name="adj" fmla="val 3824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31" name="shape-27"/>
          <p:cNvSpPr/>
          <p:nvPr/>
        </p:nvSpPr>
        <p:spPr>
          <a:xfrm>
            <a:off x="8485632" y="2724912"/>
            <a:ext cx="438912" cy="438912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-28"/>
          <p:cNvSpPr/>
          <p:nvPr/>
        </p:nvSpPr>
        <p:spPr>
          <a:xfrm>
            <a:off x="8599749" y="2795138"/>
            <a:ext cx="210678" cy="298460"/>
          </a:xfrm>
          <a:prstGeom prst="roundRect">
            <a:avLst>
              <a:gd name="adj" fmla="val 8681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-29"/>
          <p:cNvSpPr/>
          <p:nvPr/>
        </p:nvSpPr>
        <p:spPr>
          <a:xfrm>
            <a:off x="8648029" y="2882920"/>
            <a:ext cx="10972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4" name="shape-30"/>
          <p:cNvSpPr/>
          <p:nvPr/>
        </p:nvSpPr>
        <p:spPr>
          <a:xfrm>
            <a:off x="8648029" y="2944368"/>
            <a:ext cx="10972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5" name="shape-31"/>
          <p:cNvSpPr/>
          <p:nvPr/>
        </p:nvSpPr>
        <p:spPr>
          <a:xfrm>
            <a:off x="8648029" y="3005816"/>
            <a:ext cx="109728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36" name="shape-32"/>
          <p:cNvSpPr txBox="1"/>
          <p:nvPr/>
        </p:nvSpPr>
        <p:spPr>
          <a:xfrm>
            <a:off x="8485632" y="3364992"/>
            <a:ext cx="2962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文档文本</a:t>
            </a:r>
            <a:endParaRPr lang="zh-CN" sz="1500" dirty="0"/>
          </a:p>
        </p:txBody>
      </p:sp>
      <p:sp>
        <p:nvSpPr>
          <p:cNvPr id="37" name="shape-33"/>
          <p:cNvSpPr txBox="1"/>
          <p:nvPr/>
        </p:nvSpPr>
        <p:spPr>
          <a:xfrm>
            <a:off x="8485632" y="3895344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PDF 文字层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/ Excel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PowerPoint</a:t>
            </a:r>
            <a:endParaRPr lang="zh-CN" sz="1200" dirty="0"/>
          </a:p>
        </p:txBody>
      </p:sp>
      <p:sp>
        <p:nvSpPr>
          <p:cNvPr id="38" name="shape-34"/>
          <p:cNvSpPr/>
          <p:nvPr/>
        </p:nvSpPr>
        <p:spPr>
          <a:xfrm>
            <a:off x="585216" y="5934456"/>
            <a:ext cx="1371600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39" name="shape-35"/>
          <p:cNvSpPr txBox="1"/>
          <p:nvPr/>
        </p:nvSpPr>
        <p:spPr>
          <a:xfrm>
            <a:off x="676656" y="596646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当前边界</a:t>
            </a:r>
            <a:endParaRPr lang="zh-CN" sz="1100" dirty="0"/>
          </a:p>
        </p:txBody>
      </p:sp>
      <p:sp>
        <p:nvSpPr>
          <p:cNvPr id="40" name="shape-36"/>
          <p:cNvSpPr txBox="1"/>
          <p:nvPr/>
        </p:nvSpPr>
        <p:spPr>
          <a:xfrm>
            <a:off x="2194560" y="5943600"/>
            <a:ext cx="9326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无图片语义识别、扫描 PDF OCR 或自动代码执行。</a:t>
            </a:r>
            <a:endParaRPr lang="zh-CN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shape-1"/>
          <p:cNvSpPr/>
          <p:nvPr/>
        </p:nvSpPr>
        <p:spPr>
          <a:xfrm>
            <a:off x="457200" y="393192"/>
            <a:ext cx="2651760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5" name="shape-2"/>
          <p:cNvSpPr txBox="1"/>
          <p:nvPr/>
        </p:nvSpPr>
        <p:spPr>
          <a:xfrm>
            <a:off x="548640" y="4251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12 · WORKBENCH</a:t>
            </a:r>
            <a:endParaRPr lang="zh-CN" sz="1100" dirty="0"/>
          </a:p>
        </p:txBody>
      </p:sp>
      <p:sp>
        <p:nvSpPr>
          <p:cNvPr id="6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7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8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zh-CN" sz="1200" dirty="0"/>
          </a:p>
        </p:txBody>
      </p:sp>
      <p:sp>
        <p:nvSpPr>
          <p:cNvPr id="9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三栏工作台，一眼看清输入与结果</a:t>
            </a:r>
            <a:endParaRPr lang="zh-CN" sz="3200" dirty="0"/>
          </a:p>
        </p:txBody>
      </p:sp>
      <p:sp>
        <p:nvSpPr>
          <p:cNvPr id="10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真实三栏界面 · 示意样例 · 题目、答案和结果均为人工数据</a:t>
            </a:r>
            <a:endParaRPr lang="zh-CN" sz="1400" dirty="0"/>
          </a:p>
        </p:txBody>
      </p:sp>
      <p:sp>
        <p:nvSpPr>
          <p:cNvPr id="11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07</a:t>
            </a:r>
            <a:endParaRPr lang="zh-CN" sz="1000" dirty="0"/>
          </a:p>
        </p:txBody>
      </p:sp>
      <p:sp>
        <p:nvSpPr>
          <p:cNvPr id="12" name="shape-9"/>
          <p:cNvSpPr/>
          <p:nvPr/>
        </p:nvSpPr>
        <p:spPr>
          <a:xfrm>
            <a:off x="1115568" y="2267712"/>
            <a:ext cx="9957816" cy="3904488"/>
          </a:xfrm>
          <a:prstGeom prst="roundRect">
            <a:avLst>
              <a:gd name="adj" fmla="val 3044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pic>
        <p:nvPicPr>
          <p:cNvPr id="13" name="shape-10" descr="示意样例：当前三栏工作台，人工 Plan 问答及优化结果，所有业务接口隔离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082" y="2386584"/>
            <a:ext cx="8934788" cy="3666744"/>
          </a:xfrm>
          <a:prstGeom prst="rect">
            <a:avLst/>
          </a:prstGeom>
        </p:spPr>
      </p:pic>
      <p:sp>
        <p:nvSpPr>
          <p:cNvPr id="14" name="shape-11"/>
          <p:cNvSpPr txBox="1"/>
          <p:nvPr/>
        </p:nvSpPr>
        <p:spPr>
          <a:xfrm>
            <a:off x="1709928" y="623620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 带背景</a:t>
            </a:r>
            <a:endParaRPr lang="zh-CN" sz="1200" dirty="0"/>
          </a:p>
        </p:txBody>
      </p:sp>
      <p:sp>
        <p:nvSpPr>
          <p:cNvPr id="15" name="shape-12"/>
          <p:cNvSpPr txBox="1"/>
          <p:nvPr/>
        </p:nvSpPr>
        <p:spPr>
          <a:xfrm>
            <a:off x="4645152" y="623620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 说目标</a:t>
            </a:r>
            <a:endParaRPr lang="zh-CN" sz="1200" dirty="0"/>
          </a:p>
        </p:txBody>
      </p:sp>
      <p:sp>
        <p:nvSpPr>
          <p:cNvPr id="16" name="shape-13"/>
          <p:cNvSpPr txBox="1"/>
          <p:nvPr/>
        </p:nvSpPr>
        <p:spPr>
          <a:xfrm>
            <a:off x="8046720" y="623620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 核对并复制</a:t>
            </a:r>
            <a:endParaRPr lang="zh-CN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DCD0FB">
                  <a:alpha val="55000"/>
                </a:srgbClr>
              </a:gs>
              <a:gs pos="50000">
                <a:srgbClr val="DCD0FB">
                  <a:alpha val="16000"/>
                </a:srgbClr>
              </a:gs>
              <a:gs pos="100000">
                <a:srgbClr val="DCD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907792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724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13 · DEMO SAMPLE</a:t>
            </a:r>
            <a:endParaRPr lang="zh-CN" sz="1100" dirty="0"/>
          </a:p>
        </p:txBody>
      </p:sp>
      <p:sp>
        <p:nvSpPr>
          <p:cNvPr id="7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8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9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zh-CN" sz="1200" dirty="0"/>
          </a:p>
        </p:txBody>
      </p:sp>
      <p:sp>
        <p:nvSpPr>
          <p:cNvPr id="10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从“帮我写”，到一份可核对的要求</a:t>
            </a:r>
            <a:endParaRPr lang="zh-CN" sz="3200" dirty="0"/>
          </a:p>
        </p:txBody>
      </p:sp>
      <p:sp>
        <p:nvSpPr>
          <p:cNvPr id="11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示意样例 · 人工编写的提示词节选，最终文章仍由后续 AI 生成</a:t>
            </a:r>
            <a:endParaRPr lang="zh-CN" sz="1400" dirty="0"/>
          </a:p>
        </p:txBody>
      </p:sp>
      <p:sp>
        <p:nvSpPr>
          <p:cNvPr id="12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07</a:t>
            </a:r>
            <a:endParaRPr lang="zh-CN" sz="1000" dirty="0"/>
          </a:p>
        </p:txBody>
      </p:sp>
      <p:sp>
        <p:nvSpPr>
          <p:cNvPr id="13" name="shape-9"/>
          <p:cNvSpPr/>
          <p:nvPr/>
        </p:nvSpPr>
        <p:spPr>
          <a:xfrm>
            <a:off x="521208" y="2432304"/>
            <a:ext cx="3840480" cy="3648456"/>
          </a:xfrm>
          <a:prstGeom prst="roundRect">
            <a:avLst>
              <a:gd name="adj" fmla="val 325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4" name="shape-10"/>
          <p:cNvSpPr/>
          <p:nvPr/>
        </p:nvSpPr>
        <p:spPr>
          <a:xfrm>
            <a:off x="777240" y="2706624"/>
            <a:ext cx="1426464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15" name="shape-11"/>
          <p:cNvSpPr txBox="1"/>
          <p:nvPr/>
        </p:nvSpPr>
        <p:spPr>
          <a:xfrm>
            <a:off x="868680" y="2738628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整理前</a:t>
            </a:r>
            <a:endParaRPr lang="zh-CN" sz="1100" dirty="0"/>
          </a:p>
        </p:txBody>
      </p:sp>
      <p:sp>
        <p:nvSpPr>
          <p:cNvPr id="16" name="shape-12"/>
          <p:cNvSpPr/>
          <p:nvPr/>
        </p:nvSpPr>
        <p:spPr>
          <a:xfrm>
            <a:off x="777240" y="3227832"/>
            <a:ext cx="3337560" cy="950976"/>
          </a:xfrm>
          <a:prstGeom prst="roundRect">
            <a:avLst>
              <a:gd name="adj" fmla="val 14423"/>
            </a:avLst>
          </a:prstGeom>
          <a:solidFill>
            <a:srgbClr val="4D6BFE">
              <a:alpha val="6000"/>
            </a:srgbClr>
          </a:solidFill>
          <a:ln w="12700">
            <a:solidFill>
              <a:srgbClr val="4D6BFE">
                <a:alpha val="36000"/>
              </a:srgbClr>
            </a:solidFill>
            <a:prstDash val="solid"/>
          </a:ln>
        </p:spPr>
      </p:sp>
      <p:sp>
        <p:nvSpPr>
          <p:cNvPr id="17" name="shape-13"/>
          <p:cNvSpPr/>
          <p:nvPr/>
        </p:nvSpPr>
        <p:spPr>
          <a:xfrm flipH="1">
            <a:off x="932688" y="4178808"/>
            <a:ext cx="73152" cy="109728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</a:ln>
        </p:spPr>
      </p:sp>
      <p:sp>
        <p:nvSpPr>
          <p:cNvPr id="18" name="shape-14"/>
          <p:cNvSpPr txBox="1"/>
          <p:nvPr/>
        </p:nvSpPr>
        <p:spPr>
          <a:xfrm>
            <a:off x="969264" y="3319272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7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“根据活动资料，</a:t>
            </a:r>
            <a:endParaRPr lang="zh-CN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zh-CN" altLang="en-US" sz="17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帮我写一篇预告。”</a:t>
            </a:r>
            <a:endParaRPr lang="zh-CN" sz="1700" dirty="0"/>
          </a:p>
        </p:txBody>
      </p:sp>
      <p:sp>
        <p:nvSpPr>
          <p:cNvPr id="19" name="shape-15"/>
          <p:cNvSpPr txBox="1"/>
          <p:nvPr/>
        </p:nvSpPr>
        <p:spPr>
          <a:xfrm>
            <a:off x="777240" y="4471416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b="1" dirty="0">
                <a:solidFill>
                  <a:srgbClr val="0E9F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材料已知</a:t>
            </a:r>
            <a:endParaRPr lang="zh-CN" sz="1200" dirty="0"/>
          </a:p>
        </p:txBody>
      </p:sp>
      <p:sp>
        <p:nvSpPr>
          <p:cNvPr id="20" name="shape-16"/>
          <p:cNvSpPr txBox="1"/>
          <p:nvPr/>
        </p:nvSpPr>
        <p:spPr>
          <a:xfrm>
            <a:off x="777240" y="4828032"/>
            <a:ext cx="3337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主题、初学者；报名方式未提供</a:t>
            </a:r>
            <a:endParaRPr lang="zh-CN" sz="1200" dirty="0"/>
          </a:p>
        </p:txBody>
      </p:sp>
      <p:sp>
        <p:nvSpPr>
          <p:cNvPr id="21" name="shape-17"/>
          <p:cNvSpPr txBox="1"/>
          <p:nvPr/>
        </p:nvSpPr>
        <p:spPr>
          <a:xfrm>
            <a:off x="777240" y="5294376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b="1" dirty="0">
                <a:solidFill>
                  <a:srgbClr val="4D6B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用户确认</a:t>
            </a:r>
            <a:endParaRPr lang="zh-CN" sz="1200" dirty="0"/>
          </a:p>
        </p:txBody>
      </p:sp>
      <p:sp>
        <p:nvSpPr>
          <p:cNvPr id="22" name="shape-18"/>
          <p:cNvSpPr txBox="1"/>
          <p:nvPr/>
        </p:nvSpPr>
        <p:spPr>
          <a:xfrm>
            <a:off x="777240" y="56509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公众号 · 约 300 字 · 亲切语气</a:t>
            </a:r>
            <a:endParaRPr lang="zh-CN" sz="1200" dirty="0"/>
          </a:p>
        </p:txBody>
      </p:sp>
      <p:sp>
        <p:nvSpPr>
          <p:cNvPr id="23" name="shape-19"/>
          <p:cNvSpPr/>
          <p:nvPr/>
        </p:nvSpPr>
        <p:spPr>
          <a:xfrm>
            <a:off x="4517136" y="4233672"/>
            <a:ext cx="402336" cy="0"/>
          </a:xfrm>
          <a:prstGeom prst="line">
            <a:avLst/>
          </a:prstGeom>
          <a:noFill/>
          <a:ln w="2159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24" name="shape-20"/>
          <p:cNvSpPr/>
          <p:nvPr/>
        </p:nvSpPr>
        <p:spPr>
          <a:xfrm>
            <a:off x="5111496" y="2432304"/>
            <a:ext cx="6547104" cy="3648456"/>
          </a:xfrm>
          <a:prstGeom prst="roundRect">
            <a:avLst>
              <a:gd name="adj" fmla="val 325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5" name="shape-21"/>
          <p:cNvSpPr/>
          <p:nvPr/>
        </p:nvSpPr>
        <p:spPr>
          <a:xfrm>
            <a:off x="5367528" y="2706624"/>
            <a:ext cx="3392424" cy="320040"/>
          </a:xfrm>
          <a:prstGeom prst="roundRect">
            <a:avLst>
              <a:gd name="adj" fmla="val 48571"/>
            </a:avLst>
          </a:prstGeom>
          <a:solidFill>
            <a:srgbClr val="0E9F6E">
              <a:alpha val="10000"/>
            </a:srgbClr>
          </a:solidFill>
          <a:ln w="12700">
            <a:solidFill>
              <a:srgbClr val="0E9F6E">
                <a:alpha val="28000"/>
              </a:srgbClr>
            </a:solidFill>
            <a:prstDash val="solid"/>
          </a:ln>
        </p:spPr>
      </p:sp>
      <p:sp>
        <p:nvSpPr>
          <p:cNvPr id="26" name="shape-22"/>
          <p:cNvSpPr txBox="1"/>
          <p:nvPr/>
        </p:nvSpPr>
        <p:spPr>
          <a:xfrm>
            <a:off x="5458968" y="2738628"/>
            <a:ext cx="3209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0E9F6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整理后 · 优化提示词节选</a:t>
            </a:r>
            <a:endParaRPr lang="zh-CN" sz="1100" dirty="0"/>
          </a:p>
        </p:txBody>
      </p:sp>
      <p:sp>
        <p:nvSpPr>
          <p:cNvPr id="27" name="shape-23"/>
          <p:cNvSpPr txBox="1"/>
          <p:nvPr/>
        </p:nvSpPr>
        <p:spPr>
          <a:xfrm>
            <a:off x="5394960" y="3264408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b="1" dirty="0">
                <a:solidFill>
                  <a:srgbClr val="4D6B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</a:t>
            </a:r>
            <a:endParaRPr lang="zh-CN" sz="1300" dirty="0"/>
          </a:p>
        </p:txBody>
      </p:sp>
      <p:sp>
        <p:nvSpPr>
          <p:cNvPr id="28" name="shape-24"/>
          <p:cNvSpPr txBox="1"/>
          <p:nvPr/>
        </p:nvSpPr>
        <p:spPr>
          <a:xfrm>
            <a:off x="6510528" y="3264408"/>
            <a:ext cx="4809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依据活动资料，面向初学者。</a:t>
            </a:r>
            <a:endParaRPr lang="zh-CN" sz="1300" dirty="0"/>
          </a:p>
        </p:txBody>
      </p:sp>
      <p:sp>
        <p:nvSpPr>
          <p:cNvPr id="29" name="shape-25"/>
          <p:cNvSpPr txBox="1"/>
          <p:nvPr/>
        </p:nvSpPr>
        <p:spPr>
          <a:xfrm>
            <a:off x="5394960" y="3776472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b="1" dirty="0">
                <a:solidFill>
                  <a:srgbClr val="4D6B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</a:t>
            </a:r>
            <a:endParaRPr lang="zh-CN" sz="1300" dirty="0"/>
          </a:p>
        </p:txBody>
      </p:sp>
      <p:sp>
        <p:nvSpPr>
          <p:cNvPr id="30" name="shape-26"/>
          <p:cNvSpPr txBox="1"/>
          <p:nvPr/>
        </p:nvSpPr>
        <p:spPr>
          <a:xfrm>
            <a:off x="6510528" y="3776472"/>
            <a:ext cx="4809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提炼主题与参与方式，准备活动预告。</a:t>
            </a:r>
            <a:endParaRPr lang="zh-CN" sz="1300" dirty="0"/>
          </a:p>
        </p:txBody>
      </p:sp>
      <p:sp>
        <p:nvSpPr>
          <p:cNvPr id="31" name="shape-27"/>
          <p:cNvSpPr txBox="1"/>
          <p:nvPr/>
        </p:nvSpPr>
        <p:spPr>
          <a:xfrm>
            <a:off x="5394960" y="4288536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b="1" dirty="0">
                <a:solidFill>
                  <a:srgbClr val="4D6B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</a:t>
            </a:r>
            <a:endParaRPr lang="zh-CN" sz="1300" dirty="0"/>
          </a:p>
        </p:txBody>
      </p:sp>
      <p:sp>
        <p:nvSpPr>
          <p:cNvPr id="32" name="shape-28"/>
          <p:cNvSpPr txBox="1"/>
          <p:nvPr/>
        </p:nvSpPr>
        <p:spPr>
          <a:xfrm>
            <a:off x="6510528" y="4288536"/>
            <a:ext cx="4809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公众号文案，约 300 字，语气亲切。</a:t>
            </a:r>
            <a:endParaRPr lang="zh-CN" sz="1300" dirty="0"/>
          </a:p>
        </p:txBody>
      </p:sp>
      <p:sp>
        <p:nvSpPr>
          <p:cNvPr id="33" name="shape-29"/>
          <p:cNvSpPr txBox="1"/>
          <p:nvPr/>
        </p:nvSpPr>
        <p:spPr>
          <a:xfrm>
            <a:off x="5394960" y="4800600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b="1" dirty="0">
                <a:solidFill>
                  <a:srgbClr val="4D6BF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约束</a:t>
            </a:r>
            <a:endParaRPr lang="zh-CN" sz="1300" dirty="0"/>
          </a:p>
        </p:txBody>
      </p:sp>
      <p:sp>
        <p:nvSpPr>
          <p:cNvPr id="34" name="shape-30"/>
          <p:cNvSpPr txBox="1"/>
          <p:nvPr/>
        </p:nvSpPr>
        <p:spPr>
          <a:xfrm>
            <a:off x="6510528" y="4800600"/>
            <a:ext cx="4809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只用可核实事实，不编造时间、费用或经历。</a:t>
            </a:r>
            <a:endParaRPr lang="zh-CN" sz="1300" dirty="0"/>
          </a:p>
        </p:txBody>
      </p:sp>
      <p:sp>
        <p:nvSpPr>
          <p:cNvPr id="35" name="shape-31"/>
          <p:cNvSpPr/>
          <p:nvPr/>
        </p:nvSpPr>
        <p:spPr>
          <a:xfrm>
            <a:off x="5385816" y="5522976"/>
            <a:ext cx="2542032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36" name="shape-32"/>
          <p:cNvSpPr txBox="1"/>
          <p:nvPr/>
        </p:nvSpPr>
        <p:spPr>
          <a:xfrm>
            <a:off x="5477256" y="5554980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报名方式待确认</a:t>
            </a:r>
            <a:endParaRPr lang="zh-CN" sz="1100" dirty="0"/>
          </a:p>
        </p:txBody>
      </p:sp>
      <p:sp>
        <p:nvSpPr>
          <p:cNvPr id="37" name="shape-33"/>
          <p:cNvSpPr txBox="1"/>
          <p:nvPr/>
        </p:nvSpPr>
        <p:spPr>
          <a:xfrm>
            <a:off x="8129016" y="5568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完整输出还含验收标准与强制约束</a:t>
            </a:r>
            <a:endParaRPr lang="zh-CN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Slide 14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C9E8F6">
                  <a:alpha val="55000"/>
                </a:srgbClr>
              </a:gs>
              <a:gs pos="50000">
                <a:srgbClr val="C9E8F6">
                  <a:alpha val="16000"/>
                </a:srgbClr>
              </a:gs>
              <a:gs pos="100000">
                <a:srgbClr val="C9E8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3035808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14 · ARCHITECTURE</a:t>
            </a:r>
            <a:endParaRPr lang="zh-CN" sz="1100" dirty="0"/>
          </a:p>
        </p:txBody>
      </p:sp>
      <p:sp>
        <p:nvSpPr>
          <p:cNvPr id="7" name="shape-3"/>
          <p:cNvSpPr/>
          <p:nvPr/>
        </p:nvSpPr>
        <p:spPr>
          <a:xfrm>
            <a:off x="9939528" y="393192"/>
            <a:ext cx="1755648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8" name="shape-4"/>
          <p:cNvSpPr txBox="1"/>
          <p:nvPr/>
        </p:nvSpPr>
        <p:spPr>
          <a:xfrm>
            <a:off x="10030968" y="4251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示意样例</a:t>
            </a:r>
            <a:endParaRPr lang="zh-CN" sz="1100" dirty="0"/>
          </a:p>
        </p:txBody>
      </p:sp>
      <p:sp>
        <p:nvSpPr>
          <p:cNvPr id="9" name="shape-5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zh-CN" sz="1200" dirty="0"/>
          </a:p>
        </p:txBody>
      </p:sp>
      <p:sp>
        <p:nvSpPr>
          <p:cNvPr id="10" name="shape-6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技术各司其职，让过程更可控</a:t>
            </a:r>
            <a:endParaRPr lang="zh-CN" sz="3200" dirty="0"/>
          </a:p>
        </p:txBody>
      </p:sp>
      <p:sp>
        <p:nvSpPr>
          <p:cNvPr id="11" name="shape-7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一张架构图：界面便于对照，资料按需处理，结果可以回看。</a:t>
            </a:r>
            <a:endParaRPr lang="zh-CN" sz="1400" dirty="0"/>
          </a:p>
        </p:txBody>
      </p:sp>
      <p:sp>
        <p:nvSpPr>
          <p:cNvPr id="12" name="shape-8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08</a:t>
            </a:r>
            <a:endParaRPr lang="zh-CN" sz="1000" dirty="0"/>
          </a:p>
        </p:txBody>
      </p:sp>
      <p:sp>
        <p:nvSpPr>
          <p:cNvPr id="13" name="shape-9"/>
          <p:cNvSpPr/>
          <p:nvPr/>
        </p:nvSpPr>
        <p:spPr>
          <a:xfrm>
            <a:off x="548640" y="2395728"/>
            <a:ext cx="8147304" cy="768096"/>
          </a:xfrm>
          <a:prstGeom prst="roundRect">
            <a:avLst>
              <a:gd name="adj" fmla="val 15476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4" name="shape-10"/>
          <p:cNvSpPr txBox="1"/>
          <p:nvPr/>
        </p:nvSpPr>
        <p:spPr>
          <a:xfrm>
            <a:off x="804672" y="256032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浏览器工作台</a:t>
            </a:r>
            <a:endParaRPr lang="zh-CN" sz="1500" dirty="0"/>
          </a:p>
        </p:txBody>
      </p:sp>
      <p:sp>
        <p:nvSpPr>
          <p:cNvPr id="15" name="shape-11"/>
          <p:cNvSpPr txBox="1"/>
          <p:nvPr/>
        </p:nvSpPr>
        <p:spPr>
          <a:xfrm>
            <a:off x="6099048" y="2578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输入与结果可对照</a:t>
            </a:r>
            <a:endParaRPr lang="zh-CN" sz="1200" dirty="0"/>
          </a:p>
        </p:txBody>
      </p:sp>
      <p:sp>
        <p:nvSpPr>
          <p:cNvPr id="16" name="shape-12"/>
          <p:cNvSpPr txBox="1"/>
          <p:nvPr/>
        </p:nvSpPr>
        <p:spPr>
          <a:xfrm>
            <a:off x="822960" y="2880360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Vue 3 · TypeScript · Element Plus · Pinia · Worker</a:t>
            </a:r>
            <a:endParaRPr lang="zh-CN" sz="1100" dirty="0"/>
          </a:p>
        </p:txBody>
      </p:sp>
      <p:sp>
        <p:nvSpPr>
          <p:cNvPr id="17" name="shape-13"/>
          <p:cNvSpPr/>
          <p:nvPr/>
        </p:nvSpPr>
        <p:spPr>
          <a:xfrm>
            <a:off x="4590288" y="3264408"/>
            <a:ext cx="0" cy="274320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18" name="shape-14"/>
          <p:cNvSpPr txBox="1"/>
          <p:nvPr/>
        </p:nvSpPr>
        <p:spPr>
          <a:xfrm>
            <a:off x="4828032" y="3264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10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</a:t>
            </a:r>
            <a:endParaRPr lang="zh-CN" sz="1100" dirty="0"/>
          </a:p>
        </p:txBody>
      </p:sp>
      <p:sp>
        <p:nvSpPr>
          <p:cNvPr id="19" name="shape-15"/>
          <p:cNvSpPr/>
          <p:nvPr/>
        </p:nvSpPr>
        <p:spPr>
          <a:xfrm>
            <a:off x="548640" y="3657600"/>
            <a:ext cx="8147304" cy="1399032"/>
          </a:xfrm>
          <a:prstGeom prst="roundRect">
            <a:avLst>
              <a:gd name="adj" fmla="val 849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0" name="shape-16"/>
          <p:cNvSpPr txBox="1"/>
          <p:nvPr/>
        </p:nvSpPr>
        <p:spPr>
          <a:xfrm>
            <a:off x="822960" y="3822192"/>
            <a:ext cx="7543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4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Java 21 + Spring Boot 3  ·  模块化单体</a:t>
            </a:r>
            <a:endParaRPr lang="zh-CN" sz="1400" dirty="0"/>
          </a:p>
        </p:txBody>
      </p:sp>
      <p:sp>
        <p:nvSpPr>
          <p:cNvPr id="21" name="shape-17"/>
          <p:cNvSpPr/>
          <p:nvPr/>
        </p:nvSpPr>
        <p:spPr>
          <a:xfrm>
            <a:off x="804672" y="4279392"/>
            <a:ext cx="1188720" cy="539496"/>
          </a:xfrm>
          <a:prstGeom prst="roundRect">
            <a:avLst>
              <a:gd name="adj" fmla="val 1525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22" name="shape-18"/>
          <p:cNvSpPr txBox="1"/>
          <p:nvPr/>
        </p:nvSpPr>
        <p:spPr>
          <a:xfrm>
            <a:off x="850392" y="4370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enhancement</a:t>
            </a:r>
            <a:endParaRPr lang="zh-CN" sz="1000" dirty="0"/>
          </a:p>
        </p:txBody>
      </p:sp>
      <p:sp>
        <p:nvSpPr>
          <p:cNvPr id="23" name="shape-19"/>
          <p:cNvSpPr txBox="1"/>
          <p:nvPr/>
        </p:nvSpPr>
        <p:spPr>
          <a:xfrm>
            <a:off x="841248" y="45994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增强编排</a:t>
            </a:r>
            <a:endParaRPr lang="zh-CN" sz="1200" dirty="0"/>
          </a:p>
        </p:txBody>
      </p:sp>
      <p:sp>
        <p:nvSpPr>
          <p:cNvPr id="24" name="shape-20"/>
          <p:cNvSpPr/>
          <p:nvPr/>
        </p:nvSpPr>
        <p:spPr>
          <a:xfrm>
            <a:off x="2093976" y="4279392"/>
            <a:ext cx="1188720" cy="539496"/>
          </a:xfrm>
          <a:prstGeom prst="roundRect">
            <a:avLst>
              <a:gd name="adj" fmla="val 1525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25" name="shape-21"/>
          <p:cNvSpPr txBox="1"/>
          <p:nvPr/>
        </p:nvSpPr>
        <p:spPr>
          <a:xfrm>
            <a:off x="2139696" y="4370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zh-CN" sz="1000" dirty="0"/>
          </a:p>
        </p:txBody>
      </p:sp>
      <p:sp>
        <p:nvSpPr>
          <p:cNvPr id="26" name="shape-22"/>
          <p:cNvSpPr txBox="1"/>
          <p:nvPr/>
        </p:nvSpPr>
        <p:spPr>
          <a:xfrm>
            <a:off x="2130552" y="45994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材料范围</a:t>
            </a:r>
            <a:endParaRPr lang="zh-CN" sz="1200" dirty="0"/>
          </a:p>
        </p:txBody>
      </p:sp>
      <p:sp>
        <p:nvSpPr>
          <p:cNvPr id="27" name="shape-23"/>
          <p:cNvSpPr/>
          <p:nvPr/>
        </p:nvSpPr>
        <p:spPr>
          <a:xfrm>
            <a:off x="3383280" y="4279392"/>
            <a:ext cx="1188720" cy="539496"/>
          </a:xfrm>
          <a:prstGeom prst="roundRect">
            <a:avLst>
              <a:gd name="adj" fmla="val 1525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28" name="shape-24"/>
          <p:cNvSpPr txBox="1"/>
          <p:nvPr/>
        </p:nvSpPr>
        <p:spPr>
          <a:xfrm>
            <a:off x="3429000" y="4370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zh-CN" sz="1000" dirty="0"/>
          </a:p>
        </p:txBody>
      </p:sp>
      <p:sp>
        <p:nvSpPr>
          <p:cNvPr id="29" name="shape-25"/>
          <p:cNvSpPr txBox="1"/>
          <p:nvPr/>
        </p:nvSpPr>
        <p:spPr>
          <a:xfrm>
            <a:off x="3419856" y="45994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权限红线</a:t>
            </a:r>
            <a:endParaRPr lang="zh-CN" sz="1200" dirty="0"/>
          </a:p>
        </p:txBody>
      </p:sp>
      <p:sp>
        <p:nvSpPr>
          <p:cNvPr id="30" name="shape-26"/>
          <p:cNvSpPr/>
          <p:nvPr/>
        </p:nvSpPr>
        <p:spPr>
          <a:xfrm>
            <a:off x="4672584" y="4279392"/>
            <a:ext cx="1188720" cy="539496"/>
          </a:xfrm>
          <a:prstGeom prst="roundRect">
            <a:avLst>
              <a:gd name="adj" fmla="val 1525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31" name="shape-27"/>
          <p:cNvSpPr txBox="1"/>
          <p:nvPr/>
        </p:nvSpPr>
        <p:spPr>
          <a:xfrm>
            <a:off x="4718304" y="4370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zh-CN" sz="1000" dirty="0"/>
          </a:p>
        </p:txBody>
      </p:sp>
      <p:sp>
        <p:nvSpPr>
          <p:cNvPr id="32" name="shape-28"/>
          <p:cNvSpPr txBox="1"/>
          <p:nvPr/>
        </p:nvSpPr>
        <p:spPr>
          <a:xfrm>
            <a:off x="4709160" y="45994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模型调用</a:t>
            </a:r>
            <a:endParaRPr lang="zh-CN" sz="1200" dirty="0"/>
          </a:p>
        </p:txBody>
      </p:sp>
      <p:sp>
        <p:nvSpPr>
          <p:cNvPr id="33" name="shape-29"/>
          <p:cNvSpPr/>
          <p:nvPr/>
        </p:nvSpPr>
        <p:spPr>
          <a:xfrm>
            <a:off x="5961888" y="4279392"/>
            <a:ext cx="1188720" cy="539496"/>
          </a:xfrm>
          <a:prstGeom prst="roundRect">
            <a:avLst>
              <a:gd name="adj" fmla="val 1525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34" name="shape-30"/>
          <p:cNvSpPr txBox="1"/>
          <p:nvPr/>
        </p:nvSpPr>
        <p:spPr>
          <a:xfrm>
            <a:off x="6007608" y="4370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zh-CN" sz="1000" dirty="0"/>
          </a:p>
        </p:txBody>
      </p:sp>
      <p:sp>
        <p:nvSpPr>
          <p:cNvPr id="35" name="shape-31"/>
          <p:cNvSpPr txBox="1"/>
          <p:nvPr/>
        </p:nvSpPr>
        <p:spPr>
          <a:xfrm>
            <a:off x="5998464" y="45994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回看结果</a:t>
            </a:r>
            <a:endParaRPr lang="zh-CN" sz="1200" dirty="0"/>
          </a:p>
        </p:txBody>
      </p:sp>
      <p:sp>
        <p:nvSpPr>
          <p:cNvPr id="36" name="shape-32"/>
          <p:cNvSpPr/>
          <p:nvPr/>
        </p:nvSpPr>
        <p:spPr>
          <a:xfrm>
            <a:off x="7251192" y="4279392"/>
            <a:ext cx="1188720" cy="539496"/>
          </a:xfrm>
          <a:prstGeom prst="roundRect">
            <a:avLst>
              <a:gd name="adj" fmla="val 15254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37" name="shape-33"/>
          <p:cNvSpPr txBox="1"/>
          <p:nvPr/>
        </p:nvSpPr>
        <p:spPr>
          <a:xfrm>
            <a:off x="7296912" y="43708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4D6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zh-CN" sz="1000" dirty="0"/>
          </a:p>
        </p:txBody>
      </p:sp>
      <p:sp>
        <p:nvSpPr>
          <p:cNvPr id="38" name="shape-34"/>
          <p:cNvSpPr txBox="1"/>
          <p:nvPr/>
        </p:nvSpPr>
        <p:spPr>
          <a:xfrm>
            <a:off x="7287768" y="45994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身份范围</a:t>
            </a:r>
            <a:endParaRPr lang="zh-CN" sz="1200" dirty="0"/>
          </a:p>
        </p:txBody>
      </p:sp>
      <p:sp>
        <p:nvSpPr>
          <p:cNvPr id="39" name="shape-35"/>
          <p:cNvSpPr/>
          <p:nvPr/>
        </p:nvSpPr>
        <p:spPr>
          <a:xfrm>
            <a:off x="2523744" y="5166360"/>
            <a:ext cx="0" cy="301752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40" name="shape-36"/>
          <p:cNvSpPr/>
          <p:nvPr/>
        </p:nvSpPr>
        <p:spPr>
          <a:xfrm>
            <a:off x="6638544" y="5166360"/>
            <a:ext cx="0" cy="301752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41" name="shape-37"/>
          <p:cNvSpPr/>
          <p:nvPr/>
        </p:nvSpPr>
        <p:spPr>
          <a:xfrm>
            <a:off x="548640" y="5577840"/>
            <a:ext cx="3913632" cy="566928"/>
          </a:xfrm>
          <a:prstGeom prst="roundRect">
            <a:avLst>
              <a:gd name="adj" fmla="val 2096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42" name="shape-38"/>
          <p:cNvSpPr txBox="1"/>
          <p:nvPr/>
        </p:nvSpPr>
        <p:spPr>
          <a:xfrm>
            <a:off x="777240" y="575157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PostgreSQL 16 · 保存业务记录</a:t>
            </a:r>
            <a:endParaRPr lang="zh-CN" sz="1200" dirty="0"/>
          </a:p>
        </p:txBody>
      </p:sp>
      <p:sp>
        <p:nvSpPr>
          <p:cNvPr id="43" name="shape-39"/>
          <p:cNvSpPr/>
          <p:nvPr/>
        </p:nvSpPr>
        <p:spPr>
          <a:xfrm>
            <a:off x="4736592" y="5577840"/>
            <a:ext cx="3959352" cy="566928"/>
          </a:xfrm>
          <a:prstGeom prst="roundRect">
            <a:avLst>
              <a:gd name="adj" fmla="val 2096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44" name="shape-40"/>
          <p:cNvSpPr txBox="1"/>
          <p:nvPr/>
        </p:nvSpPr>
        <p:spPr>
          <a:xfrm>
            <a:off x="4956048" y="57515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Redis 7 · 短时状态 / 并发控制</a:t>
            </a:r>
            <a:endParaRPr lang="zh-CN" sz="1200" dirty="0"/>
          </a:p>
        </p:txBody>
      </p:sp>
      <p:sp>
        <p:nvSpPr>
          <p:cNvPr id="45" name="shape-41"/>
          <p:cNvSpPr/>
          <p:nvPr/>
        </p:nvSpPr>
        <p:spPr>
          <a:xfrm>
            <a:off x="9253728" y="2395728"/>
            <a:ext cx="2368296" cy="3749040"/>
          </a:xfrm>
          <a:prstGeom prst="roundRect">
            <a:avLst>
              <a:gd name="adj" fmla="val 5019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46" name="shape-42"/>
          <p:cNvSpPr/>
          <p:nvPr/>
        </p:nvSpPr>
        <p:spPr>
          <a:xfrm>
            <a:off x="9537192" y="2688336"/>
            <a:ext cx="411480" cy="41148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4D6BFE"/>
              </a:gs>
              <a:gs pos="100000">
                <a:srgbClr val="8A5CF6"/>
              </a:gs>
            </a:gsLst>
            <a:lin ang="2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-43"/>
          <p:cNvSpPr/>
          <p:nvPr/>
        </p:nvSpPr>
        <p:spPr>
          <a:xfrm>
            <a:off x="9644177" y="2754173"/>
            <a:ext cx="197510" cy="279806"/>
          </a:xfrm>
          <a:prstGeom prst="roundRect">
            <a:avLst>
              <a:gd name="adj" fmla="val 92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-44"/>
          <p:cNvSpPr/>
          <p:nvPr/>
        </p:nvSpPr>
        <p:spPr>
          <a:xfrm>
            <a:off x="9689440" y="2836469"/>
            <a:ext cx="10287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9" name="shape-45"/>
          <p:cNvSpPr/>
          <p:nvPr/>
        </p:nvSpPr>
        <p:spPr>
          <a:xfrm>
            <a:off x="9689440" y="2894076"/>
            <a:ext cx="10287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50" name="shape-46"/>
          <p:cNvSpPr/>
          <p:nvPr/>
        </p:nvSpPr>
        <p:spPr>
          <a:xfrm>
            <a:off x="9689440" y="2951683"/>
            <a:ext cx="102870" cy="0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51" name="shape-47"/>
          <p:cNvSpPr txBox="1"/>
          <p:nvPr/>
        </p:nvSpPr>
        <p:spPr>
          <a:xfrm>
            <a:off x="9537192" y="3355848"/>
            <a:ext cx="18105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模型接入</a:t>
            </a:r>
            <a:endParaRPr lang="zh-CN" sz="1800" dirty="0"/>
          </a:p>
        </p:txBody>
      </p:sp>
      <p:sp>
        <p:nvSpPr>
          <p:cNvPr id="52" name="shape-48"/>
          <p:cNvSpPr txBox="1"/>
          <p:nvPr/>
        </p:nvSpPr>
        <p:spPr>
          <a:xfrm>
            <a:off x="9537192" y="397764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Mock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OpenAI 兼容路由</a:t>
            </a:r>
            <a:endParaRPr lang="zh-CN" sz="1200" dirty="0"/>
          </a:p>
        </p:txBody>
      </p:sp>
      <p:sp>
        <p:nvSpPr>
          <p:cNvPr id="53" name="shape-49"/>
          <p:cNvSpPr txBox="1"/>
          <p:nvPr/>
        </p:nvSpPr>
        <p:spPr>
          <a:xfrm>
            <a:off x="9537192" y="5084064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用户选择已发布模型</a:t>
            </a:r>
            <a:endParaRPr lang="zh-CN" sz="12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密钥留在服务端</a:t>
            </a:r>
            <a:endParaRPr lang="zh-CN" sz="1200" dirty="0"/>
          </a:p>
        </p:txBody>
      </p:sp>
      <p:sp>
        <p:nvSpPr>
          <p:cNvPr id="54" name="shape-50"/>
          <p:cNvSpPr/>
          <p:nvPr/>
        </p:nvSpPr>
        <p:spPr>
          <a:xfrm>
            <a:off x="8759952" y="4462272"/>
            <a:ext cx="420624" cy="0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Slide 15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DCD0FB">
                  <a:alpha val="55000"/>
                </a:srgbClr>
              </a:gs>
              <a:gs pos="50000">
                <a:srgbClr val="DCD0FB">
                  <a:alpha val="16000"/>
                </a:srgbClr>
              </a:gs>
              <a:gs pos="100000">
                <a:srgbClr val="DCD0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3035808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852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15 · REQUEST FLOW</a:t>
            </a:r>
            <a:endParaRPr lang="zh-CN" sz="1100" dirty="0"/>
          </a:p>
        </p:txBody>
      </p:sp>
      <p:sp>
        <p:nvSpPr>
          <p:cNvPr id="7" name="shape-3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zh-CN" sz="1200" dirty="0"/>
          </a:p>
        </p:txBody>
      </p:sp>
      <p:sp>
        <p:nvSpPr>
          <p:cNvPr id="8" name="shape-4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一次增强，经过哪些检查</a:t>
            </a:r>
            <a:endParaRPr lang="zh-CN" sz="3200" dirty="0"/>
          </a:p>
        </p:txBody>
      </p:sp>
      <p:sp>
        <p:nvSpPr>
          <p:cNvPr id="9" name="shape-5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一张请求流程图：从点击按钮到拿到可复制结果。</a:t>
            </a:r>
            <a:endParaRPr lang="zh-CN" sz="1400" dirty="0"/>
          </a:p>
        </p:txBody>
      </p:sp>
      <p:sp>
        <p:nvSpPr>
          <p:cNvPr id="10" name="shape-6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08</a:t>
            </a:r>
            <a:endParaRPr lang="zh-CN" sz="1000" dirty="0"/>
          </a:p>
        </p:txBody>
      </p:sp>
      <p:sp>
        <p:nvSpPr>
          <p:cNvPr id="11" name="shape-7"/>
          <p:cNvSpPr/>
          <p:nvPr/>
        </p:nvSpPr>
        <p:spPr>
          <a:xfrm>
            <a:off x="548640" y="2450592"/>
            <a:ext cx="2514600" cy="2395728"/>
          </a:xfrm>
          <a:prstGeom prst="roundRect">
            <a:avLst>
              <a:gd name="adj" fmla="val 49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2" name="shape-8"/>
          <p:cNvSpPr/>
          <p:nvPr/>
        </p:nvSpPr>
        <p:spPr>
          <a:xfrm>
            <a:off x="758952" y="2734056"/>
            <a:ext cx="356616" cy="356616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-9"/>
          <p:cNvSpPr txBox="1"/>
          <p:nvPr/>
        </p:nvSpPr>
        <p:spPr>
          <a:xfrm>
            <a:off x="758952" y="2788920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zh-CN" sz="1200" dirty="0"/>
          </a:p>
        </p:txBody>
      </p:sp>
      <p:sp>
        <p:nvSpPr>
          <p:cNvPr id="14" name="shape-10"/>
          <p:cNvSpPr txBox="1"/>
          <p:nvPr/>
        </p:nvSpPr>
        <p:spPr>
          <a:xfrm>
            <a:off x="758952" y="328269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选择材料</a:t>
            </a:r>
            <a:endParaRPr lang="zh-CN" sz="1500" dirty="0"/>
          </a:p>
        </p:txBody>
      </p:sp>
      <p:sp>
        <p:nvSpPr>
          <p:cNvPr id="15" name="shape-11"/>
          <p:cNvSpPr txBox="1"/>
          <p:nvPr/>
        </p:nvSpPr>
        <p:spPr>
          <a:xfrm>
            <a:off x="758952" y="3831336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检索本次相关片段</a:t>
            </a:r>
            <a:endParaRPr lang="zh-CN" sz="1200" dirty="0"/>
          </a:p>
        </p:txBody>
      </p:sp>
      <p:sp>
        <p:nvSpPr>
          <p:cNvPr id="16" name="shape-12"/>
          <p:cNvSpPr txBox="1"/>
          <p:nvPr/>
        </p:nvSpPr>
        <p:spPr>
          <a:xfrm>
            <a:off x="758952" y="44348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减少无关背景</a:t>
            </a:r>
            <a:endParaRPr lang="zh-CN" sz="1200" dirty="0"/>
          </a:p>
        </p:txBody>
      </p:sp>
      <p:sp>
        <p:nvSpPr>
          <p:cNvPr id="17" name="shape-13"/>
          <p:cNvSpPr/>
          <p:nvPr/>
        </p:nvSpPr>
        <p:spPr>
          <a:xfrm>
            <a:off x="3145536" y="3575304"/>
            <a:ext cx="210312" cy="0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18" name="shape-14"/>
          <p:cNvSpPr/>
          <p:nvPr/>
        </p:nvSpPr>
        <p:spPr>
          <a:xfrm>
            <a:off x="3438144" y="2450592"/>
            <a:ext cx="2514600" cy="2395728"/>
          </a:xfrm>
          <a:prstGeom prst="roundRect">
            <a:avLst>
              <a:gd name="adj" fmla="val 49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9" name="shape-15"/>
          <p:cNvSpPr/>
          <p:nvPr/>
        </p:nvSpPr>
        <p:spPr>
          <a:xfrm>
            <a:off x="3648456" y="2734056"/>
            <a:ext cx="356616" cy="356616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-16"/>
          <p:cNvSpPr txBox="1"/>
          <p:nvPr/>
        </p:nvSpPr>
        <p:spPr>
          <a:xfrm>
            <a:off x="3648456" y="2788920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zh-CN" sz="1200" dirty="0"/>
          </a:p>
        </p:txBody>
      </p:sp>
      <p:sp>
        <p:nvSpPr>
          <p:cNvPr id="21" name="shape-17"/>
          <p:cNvSpPr txBox="1"/>
          <p:nvPr/>
        </p:nvSpPr>
        <p:spPr>
          <a:xfrm>
            <a:off x="3648456" y="328269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校验身份与规则</a:t>
            </a:r>
            <a:endParaRPr lang="zh-CN" sz="1500" dirty="0"/>
          </a:p>
        </p:txBody>
      </p:sp>
      <p:sp>
        <p:nvSpPr>
          <p:cNvPr id="22" name="shape-18"/>
          <p:cNvSpPr txBox="1"/>
          <p:nvPr/>
        </p:nvSpPr>
        <p:spPr>
          <a:xfrm>
            <a:off x="3648456" y="3831336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安全过滤、上下文分析</a:t>
            </a:r>
            <a:endParaRPr lang="zh-CN" sz="1200" dirty="0"/>
          </a:p>
        </p:txBody>
      </p:sp>
      <p:sp>
        <p:nvSpPr>
          <p:cNvPr id="23" name="shape-19"/>
          <p:cNvSpPr txBox="1"/>
          <p:nvPr/>
        </p:nvSpPr>
        <p:spPr>
          <a:xfrm>
            <a:off x="3648456" y="44348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明确本次访问与材料范围</a:t>
            </a:r>
            <a:endParaRPr lang="zh-CN" sz="1200" dirty="0"/>
          </a:p>
        </p:txBody>
      </p:sp>
      <p:sp>
        <p:nvSpPr>
          <p:cNvPr id="24" name="shape-20"/>
          <p:cNvSpPr/>
          <p:nvPr/>
        </p:nvSpPr>
        <p:spPr>
          <a:xfrm>
            <a:off x="6035040" y="3575304"/>
            <a:ext cx="210312" cy="0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25" name="shape-21"/>
          <p:cNvSpPr/>
          <p:nvPr/>
        </p:nvSpPr>
        <p:spPr>
          <a:xfrm>
            <a:off x="6327648" y="2450592"/>
            <a:ext cx="2514600" cy="2395728"/>
          </a:xfrm>
          <a:prstGeom prst="roundRect">
            <a:avLst>
              <a:gd name="adj" fmla="val 49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6" name="shape-22"/>
          <p:cNvSpPr/>
          <p:nvPr/>
        </p:nvSpPr>
        <p:spPr>
          <a:xfrm>
            <a:off x="6537960" y="2734056"/>
            <a:ext cx="356616" cy="356616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-23"/>
          <p:cNvSpPr txBox="1"/>
          <p:nvPr/>
        </p:nvSpPr>
        <p:spPr>
          <a:xfrm>
            <a:off x="6537960" y="2788920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zh-CN" sz="1200" dirty="0"/>
          </a:p>
        </p:txBody>
      </p:sp>
      <p:sp>
        <p:nvSpPr>
          <p:cNvPr id="28" name="shape-24"/>
          <p:cNvSpPr txBox="1"/>
          <p:nvPr/>
        </p:nvSpPr>
        <p:spPr>
          <a:xfrm>
            <a:off x="6537960" y="328269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调用模型</a:t>
            </a:r>
            <a:endParaRPr lang="zh-CN" sz="1500" dirty="0"/>
          </a:p>
        </p:txBody>
      </p:sp>
      <p:sp>
        <p:nvSpPr>
          <p:cNvPr id="29" name="shape-25"/>
          <p:cNvSpPr txBox="1"/>
          <p:nvPr/>
        </p:nvSpPr>
        <p:spPr>
          <a:xfrm>
            <a:off x="6537960" y="3831336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任务策略、并发与超时</a:t>
            </a:r>
            <a:endParaRPr lang="zh-CN" sz="1200" dirty="0"/>
          </a:p>
        </p:txBody>
      </p:sp>
      <p:sp>
        <p:nvSpPr>
          <p:cNvPr id="30" name="shape-26"/>
          <p:cNvSpPr txBox="1"/>
          <p:nvPr/>
        </p:nvSpPr>
        <p:spPr>
          <a:xfrm>
            <a:off x="6537960" y="44348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限制资源占用</a:t>
            </a:r>
            <a:endParaRPr lang="zh-CN" sz="1200" dirty="0"/>
          </a:p>
        </p:txBody>
      </p:sp>
      <p:sp>
        <p:nvSpPr>
          <p:cNvPr id="31" name="shape-27"/>
          <p:cNvSpPr/>
          <p:nvPr/>
        </p:nvSpPr>
        <p:spPr>
          <a:xfrm>
            <a:off x="8924544" y="3575304"/>
            <a:ext cx="210312" cy="0"/>
          </a:xfrm>
          <a:prstGeom prst="line">
            <a:avLst/>
          </a:prstGeom>
          <a:noFill/>
          <a:ln w="15240">
            <a:solidFill>
              <a:srgbClr val="4D6BFE"/>
            </a:solidFill>
            <a:prstDash val="solid"/>
            <a:tailEnd type="triangle"/>
          </a:ln>
        </p:spPr>
      </p:sp>
      <p:sp>
        <p:nvSpPr>
          <p:cNvPr id="32" name="shape-28"/>
          <p:cNvSpPr/>
          <p:nvPr/>
        </p:nvSpPr>
        <p:spPr>
          <a:xfrm>
            <a:off x="9217152" y="2450592"/>
            <a:ext cx="2514600" cy="2395728"/>
          </a:xfrm>
          <a:prstGeom prst="roundRect">
            <a:avLst>
              <a:gd name="adj" fmla="val 496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33" name="shape-29"/>
          <p:cNvSpPr/>
          <p:nvPr/>
        </p:nvSpPr>
        <p:spPr>
          <a:xfrm>
            <a:off x="9427464" y="2734056"/>
            <a:ext cx="356616" cy="356616"/>
          </a:xfrm>
          <a:prstGeom prst="ellipse">
            <a:avLst/>
          </a:prstGeom>
          <a:solidFill>
            <a:srgbClr val="4D6B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shape-30"/>
          <p:cNvSpPr txBox="1"/>
          <p:nvPr/>
        </p:nvSpPr>
        <p:spPr>
          <a:xfrm>
            <a:off x="9427464" y="2788920"/>
            <a:ext cx="356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zh-CN" sz="1200" dirty="0"/>
          </a:p>
        </p:txBody>
      </p:sp>
      <p:sp>
        <p:nvSpPr>
          <p:cNvPr id="35" name="shape-31"/>
          <p:cNvSpPr txBox="1"/>
          <p:nvPr/>
        </p:nvSpPr>
        <p:spPr>
          <a:xfrm>
            <a:off x="9427464" y="3282696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5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校验并保存结果</a:t>
            </a:r>
            <a:endParaRPr lang="zh-CN" sz="1500" dirty="0"/>
          </a:p>
        </p:txBody>
      </p:sp>
      <p:sp>
        <p:nvSpPr>
          <p:cNvPr id="36" name="shape-32"/>
          <p:cNvSpPr txBox="1"/>
          <p:nvPr/>
        </p:nvSpPr>
        <p:spPr>
          <a:xfrm>
            <a:off x="9427464" y="3831336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结构检查、规则检查、历史</a:t>
            </a:r>
            <a:endParaRPr lang="zh-CN" sz="1200" dirty="0"/>
          </a:p>
        </p:txBody>
      </p:sp>
      <p:sp>
        <p:nvSpPr>
          <p:cNvPr id="37" name="shape-33"/>
          <p:cNvSpPr txBox="1"/>
          <p:nvPr/>
        </p:nvSpPr>
        <p:spPr>
          <a:xfrm>
            <a:off x="9427464" y="44348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zh-CN" altLang="en-US" sz="1200" dirty="0">
                <a:solidFill>
                  <a:srgbClr val="1D5FD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结果更容易核对与回看</a:t>
            </a:r>
            <a:endParaRPr lang="zh-CN" sz="1200" dirty="0"/>
          </a:p>
        </p:txBody>
      </p:sp>
      <p:sp>
        <p:nvSpPr>
          <p:cNvPr id="38" name="shape-34"/>
          <p:cNvSpPr/>
          <p:nvPr/>
        </p:nvSpPr>
        <p:spPr>
          <a:xfrm>
            <a:off x="548640" y="5276088"/>
            <a:ext cx="11155680" cy="850392"/>
          </a:xfrm>
          <a:prstGeom prst="roundRect">
            <a:avLst>
              <a:gd name="adj" fmla="val 13978"/>
            </a:avLst>
          </a:prstGeom>
          <a:solidFill>
            <a:srgbClr val="FFFFFF">
              <a:alpha val="5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39" name="shape-35"/>
          <p:cNvSpPr/>
          <p:nvPr/>
        </p:nvSpPr>
        <p:spPr>
          <a:xfrm>
            <a:off x="804672" y="5513832"/>
            <a:ext cx="2075688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40" name="shape-36"/>
          <p:cNvSpPr txBox="1"/>
          <p:nvPr/>
        </p:nvSpPr>
        <p:spPr>
          <a:xfrm>
            <a:off x="896112" y="5545836"/>
            <a:ext cx="1892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Plan 前置分支</a:t>
            </a:r>
            <a:endParaRPr lang="zh-CN" sz="1100" dirty="0"/>
          </a:p>
        </p:txBody>
      </p:sp>
      <p:sp>
        <p:nvSpPr>
          <p:cNvPr id="41" name="shape-37"/>
          <p:cNvSpPr txBox="1"/>
          <p:nvPr/>
        </p:nvSpPr>
        <p:spPr>
          <a:xfrm>
            <a:off x="3145536" y="5522976"/>
            <a:ext cx="8238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4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准备摘要 → 提问 → 用户确认 → 再检索 → 最终生成</a:t>
            </a:r>
            <a:endParaRPr lang="zh-CN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Slide 16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7772400" y="-1234440"/>
            <a:ext cx="5120640" cy="4389120"/>
          </a:xfrm>
          <a:prstGeom prst="ellipse">
            <a:avLst/>
          </a:prstGeom>
          <a:gradFill rotWithShape="1">
            <a:gsLst>
              <a:gs pos="0">
                <a:srgbClr val="C3D6FB">
                  <a:alpha val="55000"/>
                </a:srgbClr>
              </a:gs>
              <a:gs pos="50000">
                <a:srgbClr val="C3D6FB">
                  <a:alpha val="16000"/>
                </a:srgbClr>
              </a:gs>
              <a:gs pos="100000">
                <a:srgbClr val="C3D6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blob-bottom"/>
          <p:cNvSpPr/>
          <p:nvPr/>
        </p:nvSpPr>
        <p:spPr>
          <a:xfrm>
            <a:off x="-1188720" y="4251960"/>
            <a:ext cx="4389120" cy="4023360"/>
          </a:xfrm>
          <a:prstGeom prst="ellipse">
            <a:avLst/>
          </a:prstGeom>
          <a:gradFill rotWithShape="1">
            <a:gsLst>
              <a:gs pos="0">
                <a:srgbClr val="C9E8F6">
                  <a:alpha val="55000"/>
                </a:srgbClr>
              </a:gs>
              <a:gs pos="50000">
                <a:srgbClr val="C9E8F6">
                  <a:alpha val="16000"/>
                </a:srgbClr>
              </a:gs>
              <a:gs pos="100000">
                <a:srgbClr val="C9E8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5" name="shape-1"/>
          <p:cNvSpPr/>
          <p:nvPr/>
        </p:nvSpPr>
        <p:spPr>
          <a:xfrm>
            <a:off x="457200" y="393192"/>
            <a:ext cx="2779776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6" name="shape-2"/>
          <p:cNvSpPr txBox="1"/>
          <p:nvPr/>
        </p:nvSpPr>
        <p:spPr>
          <a:xfrm>
            <a:off x="548640" y="425196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16 · BOUNDARIES</a:t>
            </a:r>
            <a:endParaRPr lang="zh-CN" sz="1100" dirty="0"/>
          </a:p>
        </p:txBody>
      </p:sp>
      <p:sp>
        <p:nvSpPr>
          <p:cNvPr id="7" name="shape-3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zh-CN" sz="1200" dirty="0"/>
          </a:p>
        </p:txBody>
      </p:sp>
      <p:sp>
        <p:nvSpPr>
          <p:cNvPr id="8" name="shape-4"/>
          <p:cNvSpPr txBox="1"/>
          <p:nvPr/>
        </p:nvSpPr>
        <p:spPr>
          <a:xfrm>
            <a:off x="457200" y="978408"/>
            <a:ext cx="11173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3200" b="1" dirty="0">
                <a:solidFill>
                  <a:srgbClr val="1C2541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知道能做什么，也知道边界在哪里</a:t>
            </a:r>
            <a:endParaRPr lang="zh-CN" sz="3200" dirty="0"/>
          </a:p>
        </p:txBody>
      </p:sp>
      <p:sp>
        <p:nvSpPr>
          <p:cNvPr id="9" name="shape-5"/>
          <p:cNvSpPr txBox="1"/>
          <p:nvPr/>
        </p:nvSpPr>
        <p:spPr>
          <a:xfrm>
            <a:off x="484632" y="1746504"/>
            <a:ext cx="11000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安全规则贯穿生成过程；最终事实和执行仍需用户确认。</a:t>
            </a:r>
            <a:endParaRPr lang="zh-CN" sz="1400" dirty="0"/>
          </a:p>
        </p:txBody>
      </p:sp>
      <p:sp>
        <p:nvSpPr>
          <p:cNvPr id="10" name="shape-6"/>
          <p:cNvSpPr txBox="1"/>
          <p:nvPr/>
        </p:nvSpPr>
        <p:spPr>
          <a:xfrm>
            <a:off x="475488" y="641908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09</a:t>
            </a:r>
            <a:endParaRPr lang="zh-CN" sz="1000" dirty="0"/>
          </a:p>
        </p:txBody>
      </p:sp>
      <p:sp>
        <p:nvSpPr>
          <p:cNvPr id="11" name="shape-7"/>
          <p:cNvSpPr/>
          <p:nvPr/>
        </p:nvSpPr>
        <p:spPr>
          <a:xfrm>
            <a:off x="512064" y="2468880"/>
            <a:ext cx="3447288" cy="2944368"/>
          </a:xfrm>
          <a:prstGeom prst="roundRect">
            <a:avLst>
              <a:gd name="adj" fmla="val 403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2" name="shape-8"/>
          <p:cNvSpPr/>
          <p:nvPr/>
        </p:nvSpPr>
        <p:spPr>
          <a:xfrm>
            <a:off x="758952" y="2761488"/>
            <a:ext cx="2139696" cy="320040"/>
          </a:xfrm>
          <a:prstGeom prst="roundRect">
            <a:avLst>
              <a:gd name="adj" fmla="val 48571"/>
            </a:avLst>
          </a:prstGeom>
          <a:solidFill>
            <a:srgbClr val="0E9F6E">
              <a:alpha val="10000"/>
            </a:srgbClr>
          </a:solidFill>
          <a:ln w="12700">
            <a:solidFill>
              <a:srgbClr val="0E9F6E">
                <a:alpha val="28000"/>
              </a:srgbClr>
            </a:solidFill>
            <a:prstDash val="solid"/>
          </a:ln>
        </p:spPr>
      </p:sp>
      <p:sp>
        <p:nvSpPr>
          <p:cNvPr id="13" name="shape-9"/>
          <p:cNvSpPr txBox="1"/>
          <p:nvPr/>
        </p:nvSpPr>
        <p:spPr>
          <a:xfrm>
            <a:off x="850392" y="279349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0E9F6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已实现的保护</a:t>
            </a:r>
            <a:endParaRPr lang="zh-CN" sz="1100" dirty="0"/>
          </a:p>
        </p:txBody>
      </p:sp>
      <p:sp>
        <p:nvSpPr>
          <p:cNvPr id="14" name="shape-10"/>
          <p:cNvSpPr txBox="1"/>
          <p:nvPr/>
        </p:nvSpPr>
        <p:spPr>
          <a:xfrm>
            <a:off x="758952" y="3511296"/>
            <a:ext cx="29535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默认受保护路径</a:t>
            </a:r>
            <a:endParaRPr lang="zh-CN" sz="13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敏感内容检测或脱敏</a:t>
            </a:r>
            <a:endParaRPr lang="zh-CN" sz="13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服务端身份与范围校验</a:t>
            </a:r>
            <a:endParaRPr lang="zh-CN" sz="1300" dirty="0"/>
          </a:p>
        </p:txBody>
      </p:sp>
      <p:sp>
        <p:nvSpPr>
          <p:cNvPr id="15" name="shape-11"/>
          <p:cNvSpPr/>
          <p:nvPr/>
        </p:nvSpPr>
        <p:spPr>
          <a:xfrm>
            <a:off x="4379976" y="2468880"/>
            <a:ext cx="3447288" cy="2944368"/>
          </a:xfrm>
          <a:prstGeom prst="roundRect">
            <a:avLst>
              <a:gd name="adj" fmla="val 403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6" name="shape-12"/>
          <p:cNvSpPr/>
          <p:nvPr/>
        </p:nvSpPr>
        <p:spPr>
          <a:xfrm>
            <a:off x="4626864" y="2761488"/>
            <a:ext cx="2139696" cy="320040"/>
          </a:xfrm>
          <a:prstGeom prst="roundRect">
            <a:avLst>
              <a:gd name="adj" fmla="val 48571"/>
            </a:avLst>
          </a:prstGeom>
          <a:solidFill>
            <a:srgbClr val="1D5FD6">
              <a:alpha val="10000"/>
            </a:srgbClr>
          </a:solidFill>
          <a:ln w="12700">
            <a:solidFill>
              <a:srgbClr val="1D5FD6">
                <a:alpha val="28000"/>
              </a:srgbClr>
            </a:solidFill>
            <a:prstDash val="solid"/>
          </a:ln>
        </p:spPr>
      </p:sp>
      <p:sp>
        <p:nvSpPr>
          <p:cNvPr id="17" name="shape-13"/>
          <p:cNvSpPr txBox="1"/>
          <p:nvPr/>
        </p:nvSpPr>
        <p:spPr>
          <a:xfrm>
            <a:off x="4718304" y="279349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1D5FD6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使用时的边界</a:t>
            </a:r>
            <a:endParaRPr lang="zh-CN" sz="1100" dirty="0"/>
          </a:p>
        </p:txBody>
      </p:sp>
      <p:sp>
        <p:nvSpPr>
          <p:cNvPr id="18" name="shape-14"/>
          <p:cNvSpPr txBox="1"/>
          <p:nvPr/>
        </p:nvSpPr>
        <p:spPr>
          <a:xfrm>
            <a:off x="4626864" y="3511296"/>
            <a:ext cx="29535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材料由用户主动提供</a:t>
            </a:r>
            <a:endParaRPr lang="zh-CN" sz="13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相关内容经后端发送给供应商</a:t>
            </a:r>
            <a:endParaRPr lang="zh-CN" sz="13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平台只生成优化提示词</a:t>
            </a:r>
            <a:endParaRPr lang="zh-CN" sz="1300" dirty="0"/>
          </a:p>
        </p:txBody>
      </p:sp>
      <p:sp>
        <p:nvSpPr>
          <p:cNvPr id="19" name="shape-15"/>
          <p:cNvSpPr/>
          <p:nvPr/>
        </p:nvSpPr>
        <p:spPr>
          <a:xfrm>
            <a:off x="8247888" y="2468880"/>
            <a:ext cx="3447288" cy="2944368"/>
          </a:xfrm>
          <a:prstGeom prst="roundRect">
            <a:avLst>
              <a:gd name="adj" fmla="val 403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20" name="shape-16"/>
          <p:cNvSpPr/>
          <p:nvPr/>
        </p:nvSpPr>
        <p:spPr>
          <a:xfrm>
            <a:off x="8494776" y="2761488"/>
            <a:ext cx="2606040" cy="320040"/>
          </a:xfrm>
          <a:prstGeom prst="roundRect">
            <a:avLst>
              <a:gd name="adj" fmla="val 48571"/>
            </a:avLst>
          </a:prstGeom>
          <a:solidFill>
            <a:srgbClr val="C2690A">
              <a:alpha val="10000"/>
            </a:srgbClr>
          </a:solidFill>
          <a:ln w="12700">
            <a:solidFill>
              <a:srgbClr val="C2690A">
                <a:alpha val="28000"/>
              </a:srgbClr>
            </a:solidFill>
            <a:prstDash val="solid"/>
          </a:ln>
        </p:spPr>
      </p:sp>
      <p:sp>
        <p:nvSpPr>
          <p:cNvPr id="21" name="shape-17"/>
          <p:cNvSpPr txBox="1"/>
          <p:nvPr/>
        </p:nvSpPr>
        <p:spPr>
          <a:xfrm>
            <a:off x="8586216" y="2793492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dirty="0">
                <a:solidFill>
                  <a:srgbClr val="C2690A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尚未开放 / 规划</a:t>
            </a:r>
            <a:endParaRPr lang="zh-CN" sz="1100" dirty="0"/>
          </a:p>
        </p:txBody>
      </p:sp>
      <p:sp>
        <p:nvSpPr>
          <p:cNvPr id="22" name="shape-18"/>
          <p:cNvSpPr txBox="1"/>
          <p:nvPr/>
        </p:nvSpPr>
        <p:spPr>
          <a:xfrm>
            <a:off x="8494776" y="3511296"/>
            <a:ext cx="295351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扫描 PDF OCR、图片语义</a:t>
            </a:r>
            <a:endParaRPr lang="zh-CN" sz="13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 / IDE 插件</a:t>
            </a:r>
            <a:endParaRPr lang="zh-CN" sz="1300" dirty="0"/>
          </a:p>
          <a:p>
            <a:pPr algn="l" indent="0" marL="0">
              <a:lnSpc>
                <a:spcPct val="180000"/>
              </a:lnSpc>
              <a:buNone/>
            </a:pPr>
            <a:r>
              <a:rPr lang="zh-CN" altLang="en-US" sz="13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团队协作、额度计费</a:t>
            </a:r>
            <a:endParaRPr lang="zh-CN" sz="1300" dirty="0"/>
          </a:p>
        </p:txBody>
      </p:sp>
      <p:sp>
        <p:nvSpPr>
          <p:cNvPr id="23" name="shape-19"/>
          <p:cNvSpPr txBox="1"/>
          <p:nvPr/>
        </p:nvSpPr>
        <p:spPr>
          <a:xfrm>
            <a:off x="603504" y="5696712"/>
            <a:ext cx="10963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400" b="1" dirty="0">
                <a:solidFill>
                  <a:srgbClr val="1C254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当前阶段：MVP 本地联调与内部试用</a:t>
            </a:r>
            <a:endParaRPr lang="zh-CN" sz="1400" dirty="0"/>
          </a:p>
        </p:txBody>
      </p:sp>
      <p:sp>
        <p:nvSpPr>
          <p:cNvPr id="24" name="shape-20"/>
          <p:cNvSpPr txBox="1"/>
          <p:nvPr/>
        </p:nvSpPr>
        <p:spPr>
          <a:xfrm>
            <a:off x="603504" y="614476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正式上线仍需拟开放模型真实业务验收、双人评审和目标部署验收。</a:t>
            </a:r>
            <a:endParaRPr lang="zh-CN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3="http://schemas.microsoft.com/office/drawing/2018/hyperlinkcolor" xmlns:p="http://schemas.openxmlformats.org/presentationml/2006/main" xmlns:r="http://schemas.openxmlformats.org/officeDocument/2006/relationships">
  <p:cSld name="Slide 17">
    <p:bg>
      <p:bgPr>
        <a:gradFill rotWithShape="1">
          <a:gsLst>
            <a:gs pos="0">
              <a:srgbClr val="E8F0FB"/>
            </a:gs>
            <a:gs pos="50000">
              <a:srgbClr val="F7FAFF"/>
            </a:gs>
            <a:gs pos="100000">
              <a:srgbClr val="EEF3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-top"/>
          <p:cNvSpPr/>
          <p:nvPr/>
        </p:nvSpPr>
        <p:spPr>
          <a:xfrm>
            <a:off x="8321040" y="3931920"/>
            <a:ext cx="4389120" cy="4389120"/>
          </a:xfrm>
          <a:prstGeom prst="ellipse">
            <a:avLst/>
          </a:prstGeom>
          <a:gradFill rotWithShape="1">
            <a:gsLst>
              <a:gs pos="0">
                <a:srgbClr val="C9E8F6">
                  <a:alpha val="55000"/>
                </a:srgbClr>
              </a:gs>
              <a:gs pos="50000">
                <a:srgbClr val="C9E8F6">
                  <a:alpha val="16000"/>
                </a:srgbClr>
              </a:gs>
              <a:gs pos="100000">
                <a:srgbClr val="C9E8F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333333">
                <a:alpha val="0"/>
              </a:srgbClr>
            </a:solidFill>
            <a:prstDash val="solid"/>
          </a:ln>
          <a:effectLst>
            <a:softEdge rad="825500"/>
          </a:effectLst>
        </p:spPr>
      </p:sp>
      <p:sp>
        <p:nvSpPr>
          <p:cNvPr id="4" name="shape-1"/>
          <p:cNvSpPr/>
          <p:nvPr/>
        </p:nvSpPr>
        <p:spPr>
          <a:xfrm>
            <a:off x="457200" y="393192"/>
            <a:ext cx="3291840" cy="320040"/>
          </a:xfrm>
          <a:prstGeom prst="roundRect">
            <a:avLst>
              <a:gd name="adj" fmla="val 48571"/>
            </a:avLst>
          </a:prstGeom>
          <a:solidFill>
            <a:srgbClr val="4D6BFE">
              <a:alpha val="10000"/>
            </a:srgbClr>
          </a:solidFill>
          <a:ln w="12700">
            <a:solidFill>
              <a:srgbClr val="4D6BFE">
                <a:alpha val="28000"/>
              </a:srgbClr>
            </a:solidFill>
            <a:prstDash val="solid"/>
          </a:ln>
        </p:spPr>
      </p:sp>
      <p:sp>
        <p:nvSpPr>
          <p:cNvPr id="5" name="shape-2"/>
          <p:cNvSpPr txBox="1"/>
          <p:nvPr/>
        </p:nvSpPr>
        <p:spPr>
          <a:xfrm>
            <a:off x="548640" y="42519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zh-CN" altLang="en-US" sz="1100" spc="200" kern="0" dirty="0">
                <a:solidFill>
                  <a:srgbClr val="4D6BFE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SLIDE 17 · TRY &amp; FEEDBACK</a:t>
            </a:r>
            <a:endParaRPr lang="zh-CN" sz="1100" dirty="0"/>
          </a:p>
        </p:txBody>
      </p:sp>
      <p:sp>
        <p:nvSpPr>
          <p:cNvPr id="6" name="shape-3"/>
          <p:cNvSpPr txBox="1"/>
          <p:nvPr/>
        </p:nvSpPr>
        <p:spPr>
          <a:xfrm>
            <a:off x="10771632" y="6391656"/>
            <a:ext cx="941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zh-CN" altLang="en-US" sz="12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17</a:t>
            </a:r>
            <a:endParaRPr lang="zh-CN" sz="1200" dirty="0"/>
          </a:p>
        </p:txBody>
      </p:sp>
      <p:sp>
        <p:nvSpPr>
          <p:cNvPr id="7" name="shape-4"/>
          <p:cNvSpPr txBox="1"/>
          <p:nvPr/>
        </p:nvSpPr>
        <p:spPr>
          <a:xfrm>
            <a:off x="1042416" y="1618488"/>
            <a:ext cx="10104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4400" b="1" dirty="0">
                <a:gradFill rotWithShape="1">
                  <a:gsLst>
                    <a:gs pos="0">
                      <a:srgbClr val="4D6BFE"/>
                    </a:gs>
                    <a:gs pos="100000">
                      <a:srgbClr val="8A5CF6"/>
                    </a:gs>
                  </a:gsLst>
                  <a:lin ang="0" scaled="1"/>
                </a:gra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带一个真实需求</a:t>
            </a:r>
            <a:endParaRPr lang="zh-CN" sz="440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zh-CN" altLang="en-US" sz="4400" b="1" dirty="0">
                <a:gradFill rotWithShape="1">
                  <a:gsLst>
                    <a:gs pos="0">
                      <a:srgbClr val="4D6BFE"/>
                    </a:gs>
                    <a:gs pos="100000">
                      <a:srgbClr val="8A5CF6"/>
                    </a:gs>
                  </a:gsLst>
                  <a:lin ang="0" scaled="1"/>
                </a:gra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试一次更清晰的表达</a:t>
            </a:r>
            <a:endParaRPr lang="zh-CN" sz="4400" dirty="0"/>
          </a:p>
        </p:txBody>
      </p:sp>
      <p:sp>
        <p:nvSpPr>
          <p:cNvPr id="8" name="shape-5"/>
          <p:cNvSpPr txBox="1"/>
          <p:nvPr/>
        </p:nvSpPr>
        <p:spPr>
          <a:xfrm>
            <a:off x="1005840" y="3593592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zh-CN" altLang="en-US" sz="1800" dirty="0">
                <a:solidFill>
                  <a:srgbClr val="5B6B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从一个脱敏的小任务开始。</a:t>
            </a:r>
            <a:endParaRPr lang="zh-CN" sz="1800" dirty="0"/>
          </a:p>
        </p:txBody>
      </p:sp>
      <p:sp>
        <p:nvSpPr>
          <p:cNvPr id="9" name="shape-6"/>
          <p:cNvSpPr/>
          <p:nvPr/>
        </p:nvSpPr>
        <p:spPr>
          <a:xfrm>
            <a:off x="4215384" y="4361688"/>
            <a:ext cx="3749040" cy="594360"/>
          </a:xfrm>
          <a:prstGeom prst="roundRect">
            <a:avLst>
              <a:gd name="adj" fmla="val 49231"/>
            </a:avLst>
          </a:prstGeom>
          <a:solidFill>
            <a:srgbClr val="4D6BF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508000" dist="203200" dir="5400000">
              <a:srgbClr val="465aa0">
                <a:alpha val="16000"/>
              </a:srgbClr>
            </a:outerShdw>
          </a:effectLst>
        </p:spPr>
      </p:sp>
      <p:sp>
        <p:nvSpPr>
          <p:cNvPr id="10" name="shape-7">
            <a:hlinkClick r:id="rId1" tooltip="" action="ppaction://hlinksldjump"/>
          </p:cNvPr>
          <p:cNvSpPr txBox="1"/>
          <p:nvPr/>
        </p:nvSpPr>
        <p:spPr>
          <a:xfrm>
            <a:off x="4398264" y="45262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600" u="sng" dirty="0">
                <a:solidFill>
                  <a:srgbClr val="FFFF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  <a:hlinkClick r:id="rId1" action="ppaction://hlinksldjump" tooltip="">
                  <a:extLst>
                    <a:ext uri="{A12FA001-AC4F-418D-AE19-62706E023703}">
                      <ns3:hlinkClr val="tx"/>
                    </a:ext>
                  </a:extLst>
                </a:hlinkClick>
              </a:rPr>
              <a:t>回看示意案例</a:t>
            </a:r>
            <a:endParaRPr lang="zh-CN" sz="1600" dirty="0"/>
          </a:p>
        </p:txBody>
      </p:sp>
      <p:sp>
        <p:nvSpPr>
          <p:cNvPr id="11" name="shape-8"/>
          <p:cNvSpPr txBox="1"/>
          <p:nvPr/>
        </p:nvSpPr>
        <p:spPr>
          <a:xfrm>
            <a:off x="1097280" y="5385816"/>
            <a:ext cx="10003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zh-CN" altLang="en-US" sz="1400" dirty="0">
                <a:solidFill>
                  <a:srgbClr val="3A476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反馈：哪里更清楚，哪里仍需要解释？</a:t>
            </a:r>
            <a:endParaRPr lang="zh-CN" sz="1400" dirty="0"/>
          </a:p>
        </p:txBody>
      </p:sp>
      <p:sp>
        <p:nvSpPr>
          <p:cNvPr id="12" name="shape-9"/>
          <p:cNvSpPr txBox="1"/>
          <p:nvPr/>
        </p:nvSpPr>
        <p:spPr>
          <a:xfrm>
            <a:off x="1097280" y="5907024"/>
            <a:ext cx="100035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6B7A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个人开发者项目 · MVP 本地联调与内部试用</a:t>
            </a:r>
            <a:endParaRPr lang="zh-CN" sz="1200" dirty="0"/>
          </a:p>
        </p:txBody>
      </p:sp>
      <p:sp>
        <p:nvSpPr>
          <p:cNvPr id="13" name="shape-10"/>
          <p:cNvSpPr txBox="1"/>
          <p:nvPr/>
        </p:nvSpPr>
        <p:spPr>
          <a:xfrm>
            <a:off x="484632" y="6400800"/>
            <a:ext cx="9902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10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Copyright © 2026 QingNiao0x  ·  PolyForm Noncommercial 1.0.0</a:t>
            </a:r>
            <a:endParaRPr lang="zh-C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Optimizer Platform｜用户介绍</dc:title>
  <dc:subject>个人开发者项目 · MVP 本地联调与内部试用</dc:subject>
  <dc:creator>QingNiao0x</dc:creator>
  <cp:lastModifiedBy>QingNiao0x</cp:lastModifiedBy>
  <cp:revision>1</cp:revision>
  <dcterms:created xsi:type="dcterms:W3CDTF">2026-10-04T19:23:25Z</dcterms:created>
  <dcterms:modified xsi:type="dcterms:W3CDTF">2026-10-04T19:23:25Z</dcterms:modified>
</cp:coreProperties>
</file>